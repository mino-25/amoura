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475" autoAdjust="0"/>
    <p:restoredTop sz="94610"/>
  </p:normalViewPr>
  <p:slideViewPr>
    <p:cSldViewPr snapToGrid="0" snapToObjects="1">
      <p:cViewPr>
        <p:scale>
          <a:sx n="66" d="100"/>
          <a:sy n="66" d="100"/>
        </p:scale>
        <p:origin x="132" y="1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75439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a toutes et tous. Je vais vous présenter Amoura, l'application de réservation et de fidélisation que j'ai conçue et développée pendant les six mois de ce projet fil rouge. Présentation d'environ 40 minutes suivie des questions.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plan : je vais suivre la même structure que le dossier de synthèse technique remis, du cahier des charges jusqu'au déploiement, avec une démonstration live avant le bilan final.</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Première partie : pourquoi ce projet, pour qui, et avec quels choix techniques.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point de départ est très concret : un restaurant qui gère ses réservations au téléphone, avec les problèmes classiques que ca engendre — erreurs, double réservations, pas de visibilité, pas de fidélisation. C'est le cahier des charges fonctionnel du Jalon 1 qui a formalisé ce constat.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périmètre se découpe en cinq blocs. J'ai volontairement exclu la commande en ligne, le paiement et la livraison — hors périmètre assume dès le Jalon 1 pour rester réaliste sur six mois en solo.</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découplée : une API REST Symfony qui ne fait que de la donnée, une SPA React qui gère tout l'affichage. Ce choix plutôt qu'un Symfony full-stack Twig est justifié dans le dossier par une analyse comparative — je peux le détailler si vous le souhaitez.</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Deuxième partie : comment j'ai piloté ce projet sur six mois, seul, avec une méthode agile adaptée.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Scrum solo : je cumule tous les rôles. Le point important est la Définition of Done explicite, adoptée dès le Jalon 2 — c'est elle qui a permis de détecter tôt certains problèmes d'intégration, comme je le montrerai dans la partie tests.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jalons mensuels, tous livres dans les temps. Le Jalon 5 a été le plus dense : développement complet plus une campagne de tests end-to-end que je détaillerai plus loin.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jobs CI indépendants : backend, frontend, puis docker-build qui ne se déclenche qu'après succès des deux premiers. Aucune image n'est jamais publiée si un test échoué.</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Troisième partie : la conception visuelle, celle que vous voyez d'ailleurs directement dans cette présentation.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charte graphique noir/crème/or évoque un établissement gastronomique raffine. Je l'ai reprise dans cette présentation elle-même pour rester cohérent avec le produit final.</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Approche Mobile First appliquée de façon systématique et non comme un slogan : chaque page à une déclinaison mobile pensée spécifiquement, pas juste une réduction proportionnelle du desktop.</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Quatrième partie : comment les données sont structurées, en suivant la méthode MERISE.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Huit entités, en troisième forme normale. Point notable : aucune table n'a été ajoutée ou supprimée entre cette conception du Jalon 3 et l'implémentation finale.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point le plus intéressant à défendre ici, c'est le modèle grand livre pour la fidélité — je peux détailler le mécanisme si vous le souhaitez : c'est FideliteService qui recalcule le solde a partir de la dernière ligne d'historique plutôt que de maintenir un compteur.</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Cinquième partie, la plus technique : comment le code est organise et comment une requête traverse le système.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diagramme garantit qu'aucune fonctionnalité du cahier des charges n'a été oubliée entre le Jalon 1 et la conception détaillée du Jalon 4.</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en couches stricte : le contrôleur ne contient jamais de règle métier, il délègue toujours à un service. C'est ce principe qui a rendu le code testable et facile a corriger.</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MVC adaptée à une API REST : le back ne génère aucun HTML, la vue est entièrement déportée dans React. Trois conteneurs principaux plus deux services d'appoint pour le développement.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parcours traverse cinq couches sans jamais que la logique métier ne fuite dans une couche qui ne devrait pas la porter. Je peux le rejouer en direct lors de la démonstration.</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Sixième partie : la sécurité, avec une approche volontairement transparente sur ce qui est fait et ce qui reste a faire.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jeton JWT n'est pas chiffre, seulement signe — je ne mets donc jamais de donnée sensible dans son contenu, seulement l'identité. C'est un point que le jury peut approfondir facilement.</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J'assume explicitement deux limites : pas de rate limiting sur la connexion, et pas de validation formelle sur les endpoints d'administration. Le dossier documente une matrice de risques et un plan d'action pour chacune — je préfère être transparent plutôt que de présenter une sécurité artificiellement parfaite.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Septième partie : comment j'ai vérifié que tout ce code fonctionne réellement, y compris en conditions proches de la production.</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tests automatises au total, tous verts, cibles sur les flux les plus critiques plutôt qu'une couverture exhaustive. J'assume aussi une limite ici : aucun test automatise côté frontend à ce stade.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la partie que je trouve la plus formatrice a présenter : aucune de ces cinq anomalies n'était visible en développement local. Elles ne sont apparues qu'en testant sur la vraie stack Docker — ca justifie a soi seul la démarche de tester en conditions réelles avant la mise en production.</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Huitième partie : la préparation à la mise en production, dernier jalon du projet.</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second fichier Docker Compose spécifique à la production. Piège découvert en le finalisant : les variables Vite du frontend doivent être fournies au moment du build de l'image, pas au démarrage du conteneur — contrairement au backend.</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référentiel CDA n'exige pas un serveur réel dès lors qu'une procédure claire est fournie — j'ai privilégié la qualité de cette procédure plutôt qu'une mise en ligne précipitée sur un hébergement gratuit.</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 à la démonstration live : inscription, réservation, puis bascule sur le compte administrateur pour valider la réservation et montrer l'attribution des points.</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termine sur un bilan honnête : ce qui a été difficile, comment ca a été résolu, et ce qui reste a améliorer si le projet continuait au-delà du cadre de la formation.</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Merci. Je suis a votre disposition pour répondre a vos questions, sur n'importe quel chapitre du dossier ou n'importe quel choix technique.</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410"/>
        </a:solidFill>
        <a:effectLst/>
      </p:bgPr>
    </p:bg>
    <p:spTree>
      <p:nvGrpSpPr>
        <p:cNvPr id="1" name=""/>
        <p:cNvGrpSpPr/>
        <p:nvPr/>
      </p:nvGrpSpPr>
      <p:grpSpPr>
        <a:xfrm>
          <a:off x="0" y="0"/>
          <a:ext cx="0" cy="0"/>
          <a:chOff x="0" y="0"/>
          <a:chExt cx="0" cy="0"/>
        </a:xfrm>
      </p:grpSpPr>
      <p:sp>
        <p:nvSpPr>
          <p:cNvPr id="2" name="Text 0"/>
          <p:cNvSpPr/>
          <p:nvPr/>
        </p:nvSpPr>
        <p:spPr>
          <a:xfrm>
            <a:off x="0" y="1417320"/>
            <a:ext cx="12191695" cy="365760"/>
          </a:xfrm>
          <a:prstGeom prst="rect">
            <a:avLst/>
          </a:prstGeom>
          <a:noFill/>
          <a:ln/>
        </p:spPr>
        <p:txBody>
          <a:bodyPr wrap="square" rtlCol="0" anchor="ctr"/>
          <a:lstStyle/>
          <a:p>
            <a:pPr marL="0" indent="0" algn="ctr">
              <a:buNone/>
            </a:pPr>
            <a:r>
              <a:rPr lang="en-US" sz="1300" b="1" kern="0" spc="300" dirty="0">
                <a:solidFill>
                  <a:srgbClr val="C9A96E"/>
                </a:solidFill>
                <a:latin typeface="Calibri" pitchFamily="34" charset="0"/>
                <a:ea typeface="Calibri" pitchFamily="34" charset="-122"/>
                <a:cs typeface="Calibri" pitchFamily="34" charset="-120"/>
              </a:rPr>
              <a:t>FORMATION CDA · CONCEPTEUR DÉVELOPPEUR D'APPLICATIONS</a:t>
            </a:r>
            <a:endParaRPr lang="en-US" sz="1300" dirty="0"/>
          </a:p>
        </p:txBody>
      </p:sp>
      <p:sp>
        <p:nvSpPr>
          <p:cNvPr id="3" name="Text 1"/>
          <p:cNvSpPr/>
          <p:nvPr/>
        </p:nvSpPr>
        <p:spPr>
          <a:xfrm>
            <a:off x="0" y="1874520"/>
            <a:ext cx="12191695" cy="1371600"/>
          </a:xfrm>
          <a:prstGeom prst="rect">
            <a:avLst/>
          </a:prstGeom>
          <a:noFill/>
          <a:ln/>
        </p:spPr>
        <p:txBody>
          <a:bodyPr wrap="square" rtlCol="0" anchor="ctr"/>
          <a:lstStyle/>
          <a:p>
            <a:pPr marL="0" indent="0" algn="ctr">
              <a:buNone/>
            </a:pPr>
            <a:r>
              <a:rPr lang="en-US" sz="7200" b="1" dirty="0">
                <a:solidFill>
                  <a:srgbClr val="FAF8F5"/>
                </a:solidFill>
                <a:latin typeface="Cambria" pitchFamily="34" charset="0"/>
                <a:ea typeface="Cambria" pitchFamily="34" charset="-122"/>
                <a:cs typeface="Cambria" pitchFamily="34" charset="-120"/>
              </a:rPr>
              <a:t>Amoura</a:t>
            </a:r>
            <a:endParaRPr lang="en-US" sz="7200" dirty="0"/>
          </a:p>
        </p:txBody>
      </p:sp>
      <p:sp>
        <p:nvSpPr>
          <p:cNvPr id="4" name="Text 2"/>
          <p:cNvSpPr/>
          <p:nvPr/>
        </p:nvSpPr>
        <p:spPr>
          <a:xfrm>
            <a:off x="1371600" y="3246120"/>
            <a:ext cx="9448495" cy="457200"/>
          </a:xfrm>
          <a:prstGeom prst="rect">
            <a:avLst/>
          </a:prstGeom>
          <a:noFill/>
          <a:ln/>
        </p:spPr>
        <p:txBody>
          <a:bodyPr wrap="square" rtlCol="0" anchor="ctr"/>
          <a:lstStyle/>
          <a:p>
            <a:pPr marL="0" indent="0" algn="ctr">
              <a:buNone/>
            </a:pPr>
            <a:r>
              <a:rPr lang="en-US" sz="2200" i="1" dirty="0">
                <a:solidFill>
                  <a:srgbClr val="E8E5E0"/>
                </a:solidFill>
                <a:latin typeface="Cambria" pitchFamily="34" charset="0"/>
                <a:ea typeface="Cambria" pitchFamily="34" charset="-122"/>
                <a:cs typeface="Cambria" pitchFamily="34" charset="-120"/>
              </a:rPr>
              <a:t>Application web de restaurant</a:t>
            </a:r>
            <a:endParaRPr lang="en-US" sz="2200" dirty="0"/>
          </a:p>
        </p:txBody>
      </p:sp>
      <p:sp>
        <p:nvSpPr>
          <p:cNvPr id="5" name="Text 3"/>
          <p:cNvSpPr/>
          <p:nvPr/>
        </p:nvSpPr>
        <p:spPr>
          <a:xfrm>
            <a:off x="1371600" y="3703320"/>
            <a:ext cx="9448495" cy="457200"/>
          </a:xfrm>
          <a:prstGeom prst="rect">
            <a:avLst/>
          </a:prstGeom>
          <a:noFill/>
          <a:ln/>
        </p:spPr>
        <p:txBody>
          <a:bodyPr wrap="square" rtlCol="0" anchor="ctr"/>
          <a:lstStyle/>
          <a:p>
            <a:pPr marL="0" indent="0" algn="ctr">
              <a:buNone/>
            </a:pPr>
            <a:r>
              <a:rPr lang="en-US" sz="2200" i="1" dirty="0">
                <a:solidFill>
                  <a:srgbClr val="E8E5E0"/>
                </a:solidFill>
                <a:latin typeface="Cambria" pitchFamily="34" charset="0"/>
                <a:ea typeface="Cambria" pitchFamily="34" charset="-122"/>
                <a:cs typeface="Cambria" pitchFamily="34" charset="-120"/>
              </a:rPr>
              <a:t>Réservation en ligne &amp; programme de fidélité</a:t>
            </a:r>
            <a:endParaRPr lang="en-US" sz="2200" dirty="0"/>
          </a:p>
        </p:txBody>
      </p:sp>
      <p:sp>
        <p:nvSpPr>
          <p:cNvPr id="6" name="Shape 4"/>
          <p:cNvSpPr/>
          <p:nvPr/>
        </p:nvSpPr>
        <p:spPr>
          <a:xfrm>
            <a:off x="5272888" y="4617720"/>
            <a:ext cx="1645920" cy="0"/>
          </a:xfrm>
          <a:prstGeom prst="line">
            <a:avLst/>
          </a:prstGeom>
          <a:noFill/>
          <a:ln w="19050">
            <a:solidFill>
              <a:srgbClr val="C9A96E"/>
            </a:solidFill>
            <a:prstDash val="solid"/>
          </a:ln>
        </p:spPr>
        <p:txBody>
          <a:bodyPr/>
          <a:lstStyle/>
          <a:p>
            <a:endParaRPr lang="fr-FR"/>
          </a:p>
        </p:txBody>
      </p:sp>
      <p:sp>
        <p:nvSpPr>
          <p:cNvPr id="7" name="Text 5"/>
          <p:cNvSpPr/>
          <p:nvPr/>
        </p:nvSpPr>
        <p:spPr>
          <a:xfrm>
            <a:off x="0" y="4846320"/>
            <a:ext cx="12191695" cy="822960"/>
          </a:xfrm>
          <a:prstGeom prst="rect">
            <a:avLst/>
          </a:prstGeom>
          <a:noFill/>
          <a:ln/>
        </p:spPr>
        <p:txBody>
          <a:bodyPr wrap="square" rtlCol="0" anchor="ctr"/>
          <a:lstStyle/>
          <a:p>
            <a:pPr marL="0" indent="0" algn="ctr">
              <a:lnSpc>
                <a:spcPct val="130000"/>
              </a:lnSpc>
              <a:buNone/>
            </a:pPr>
            <a:r>
              <a:rPr lang="en-US" sz="1300" dirty="0">
                <a:solidFill>
                  <a:srgbClr val="FAF8F5"/>
                </a:solidFill>
                <a:latin typeface="Calibri" pitchFamily="34" charset="0"/>
                <a:ea typeface="Calibri" pitchFamily="34" charset="-122"/>
                <a:cs typeface="Calibri" pitchFamily="34" charset="-120"/>
              </a:rPr>
              <a:t>Soutenance de fin de formation — Projet fil rouge 2026</a:t>
            </a:r>
            <a:endParaRPr lang="en-US" sz="1300" dirty="0"/>
          </a:p>
          <a:p>
            <a:pPr marL="0" indent="0" algn="ctr">
              <a:lnSpc>
                <a:spcPct val="130000"/>
              </a:lnSpc>
              <a:buNone/>
            </a:pPr>
            <a:r>
              <a:rPr lang="en-US" sz="1300" dirty="0">
                <a:solidFill>
                  <a:srgbClr val="FAF8F5"/>
                </a:solidFill>
                <a:latin typeface="Calibri" pitchFamily="34" charset="0"/>
                <a:ea typeface="Calibri" pitchFamily="34" charset="-122"/>
                <a:cs typeface="Calibri" pitchFamily="34" charset="-120"/>
              </a:rPr>
              <a:t>Symfony 7.4 · React 19 · MariaDB 11 · Docker</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8F5"/>
        </a:solidFill>
        <a:effectLst/>
      </p:bgPr>
    </p:bg>
    <p:spTree>
      <p:nvGrpSpPr>
        <p:cNvPr id="1" name=""/>
        <p:cNvGrpSpPr/>
        <p:nvPr/>
      </p:nvGrpSpPr>
      <p:grpSpPr>
        <a:xfrm>
          <a:off x="0" y="0"/>
          <a:ext cx="0" cy="0"/>
          <a:chOff x="0" y="0"/>
          <a:chExt cx="0" cy="0"/>
        </a:xfrm>
      </p:grpSpPr>
      <p:sp>
        <p:nvSpPr>
          <p:cNvPr id="2" name="Text 0"/>
          <p:cNvSpPr/>
          <p:nvPr/>
        </p:nvSpPr>
        <p:spPr>
          <a:xfrm>
            <a:off x="640080" y="502920"/>
            <a:ext cx="7315200" cy="365760"/>
          </a:xfrm>
          <a:prstGeom prst="rect">
            <a:avLst/>
          </a:prstGeom>
          <a:noFill/>
          <a:ln/>
        </p:spPr>
        <p:txBody>
          <a:bodyPr wrap="square" rtlCol="0" anchor="ctr"/>
          <a:lstStyle/>
          <a:p>
            <a:pPr marL="0" indent="0">
              <a:buNone/>
            </a:pPr>
            <a:r>
              <a:rPr lang="en-US" sz="1300" b="1" kern="0" spc="300" dirty="0">
                <a:solidFill>
                  <a:srgbClr val="C9A96E"/>
                </a:solidFill>
                <a:latin typeface="Calibri" pitchFamily="34" charset="0"/>
                <a:ea typeface="Calibri" pitchFamily="34" charset="-122"/>
                <a:cs typeface="Calibri" pitchFamily="34" charset="-120"/>
              </a:rPr>
              <a:t>SOMMAIRE</a:t>
            </a:r>
            <a:endParaRPr lang="en-US" sz="1300" dirty="0"/>
          </a:p>
        </p:txBody>
      </p:sp>
      <p:sp>
        <p:nvSpPr>
          <p:cNvPr id="3" name="Text 1"/>
          <p:cNvSpPr/>
          <p:nvPr/>
        </p:nvSpPr>
        <p:spPr>
          <a:xfrm>
            <a:off x="640080" y="841248"/>
            <a:ext cx="10911535" cy="731520"/>
          </a:xfrm>
          <a:prstGeom prst="rect">
            <a:avLst/>
          </a:prstGeom>
          <a:noFill/>
          <a:ln/>
        </p:spPr>
        <p:txBody>
          <a:bodyPr wrap="square" rtlCol="0" anchor="ctr"/>
          <a:lstStyle/>
          <a:p>
            <a:pPr marL="0" indent="0">
              <a:buNone/>
            </a:pPr>
            <a:r>
              <a:rPr lang="en-US" sz="3400" b="1" dirty="0">
                <a:solidFill>
                  <a:srgbClr val="0A0A0A"/>
                </a:solidFill>
                <a:latin typeface="Cambria" pitchFamily="34" charset="0"/>
                <a:ea typeface="Cambria" pitchFamily="34" charset="-122"/>
                <a:cs typeface="Cambria" pitchFamily="34" charset="-120"/>
              </a:rPr>
              <a:t>Plan de la présentation</a:t>
            </a:r>
            <a:endParaRPr lang="en-US" sz="3400" dirty="0"/>
          </a:p>
        </p:txBody>
      </p:sp>
      <p:sp>
        <p:nvSpPr>
          <p:cNvPr id="4" name="Shape 2"/>
          <p:cNvSpPr/>
          <p:nvPr/>
        </p:nvSpPr>
        <p:spPr>
          <a:xfrm>
            <a:off x="640080" y="1920240"/>
            <a:ext cx="457200" cy="457200"/>
          </a:xfrm>
          <a:prstGeom prst="ellipse">
            <a:avLst/>
          </a:prstGeom>
          <a:solidFill>
            <a:srgbClr val="C9A96E"/>
          </a:solidFill>
          <a:ln/>
        </p:spPr>
        <p:txBody>
          <a:bodyPr/>
          <a:lstStyle/>
          <a:p>
            <a:endParaRPr lang="fr-FR"/>
          </a:p>
        </p:txBody>
      </p:sp>
      <p:sp>
        <p:nvSpPr>
          <p:cNvPr id="5" name="Text 3"/>
          <p:cNvSpPr/>
          <p:nvPr/>
        </p:nvSpPr>
        <p:spPr>
          <a:xfrm>
            <a:off x="640080" y="1920240"/>
            <a:ext cx="457200" cy="457200"/>
          </a:xfrm>
          <a:prstGeom prst="rect">
            <a:avLst/>
          </a:prstGeom>
          <a:noFill/>
          <a:ln/>
        </p:spPr>
        <p:txBody>
          <a:bodyPr wrap="square" lIns="0" tIns="0" rIns="0" bIns="0" rtlCol="0" anchor="ctr"/>
          <a:lstStyle/>
          <a:p>
            <a:pPr marL="0" indent="0" algn="ctr">
              <a:buNone/>
            </a:pPr>
            <a:r>
              <a:rPr lang="en-US" sz="1800" b="1" dirty="0">
                <a:solidFill>
                  <a:srgbClr val="1A1410"/>
                </a:solidFill>
                <a:latin typeface="Cambria" pitchFamily="34" charset="0"/>
                <a:ea typeface="Cambria" pitchFamily="34" charset="-122"/>
                <a:cs typeface="Cambria" pitchFamily="34" charset="-120"/>
              </a:rPr>
              <a:t>1</a:t>
            </a:r>
            <a:endParaRPr lang="en-US" sz="1800" dirty="0"/>
          </a:p>
        </p:txBody>
      </p:sp>
      <p:sp>
        <p:nvSpPr>
          <p:cNvPr id="6" name="Text 4"/>
          <p:cNvSpPr/>
          <p:nvPr/>
        </p:nvSpPr>
        <p:spPr>
          <a:xfrm>
            <a:off x="1280160" y="1847088"/>
            <a:ext cx="4587088" cy="365760"/>
          </a:xfrm>
          <a:prstGeom prst="rect">
            <a:avLst/>
          </a:prstGeom>
          <a:noFill/>
          <a:ln/>
        </p:spPr>
        <p:txBody>
          <a:bodyPr wrap="square" lIns="0" tIns="0" rIns="0" bIns="0" rtlCol="0" anchor="ctr"/>
          <a:lstStyle/>
          <a:p>
            <a:pPr marL="0" indent="0">
              <a:buNone/>
            </a:pPr>
            <a:r>
              <a:rPr lang="en-US" sz="1600" b="1" dirty="0">
                <a:solidFill>
                  <a:srgbClr val="0A0A0A"/>
                </a:solidFill>
                <a:latin typeface="Cambria" pitchFamily="34" charset="0"/>
                <a:ea typeface="Cambria" pitchFamily="34" charset="-122"/>
                <a:cs typeface="Cambria" pitchFamily="34" charset="-120"/>
              </a:rPr>
              <a:t>Contexte &amp; cahier des charges</a:t>
            </a:r>
            <a:endParaRPr lang="en-US" sz="1600" dirty="0"/>
          </a:p>
        </p:txBody>
      </p:sp>
      <p:sp>
        <p:nvSpPr>
          <p:cNvPr id="7" name="Text 5"/>
          <p:cNvSpPr/>
          <p:nvPr/>
        </p:nvSpPr>
        <p:spPr>
          <a:xfrm>
            <a:off x="1280160" y="2194560"/>
            <a:ext cx="4587088" cy="457200"/>
          </a:xfrm>
          <a:prstGeom prst="rect">
            <a:avLst/>
          </a:prstGeom>
          <a:noFill/>
          <a:ln/>
        </p:spPr>
        <p:txBody>
          <a:bodyPr wrap="square" lIns="0" tIns="0" rIns="0" bIns="0" rtlCol="0" anchor="ctr"/>
          <a:lstStyle/>
          <a:p>
            <a:pPr marL="0" indent="0">
              <a:buNone/>
            </a:pPr>
            <a:r>
              <a:rPr lang="en-US" sz="1100" dirty="0">
                <a:solidFill>
                  <a:srgbClr val="5A5550"/>
                </a:solidFill>
                <a:latin typeface="Calibri" pitchFamily="34" charset="0"/>
                <a:ea typeface="Calibri" pitchFamily="34" charset="-122"/>
                <a:cs typeface="Calibri" pitchFamily="34" charset="-120"/>
              </a:rPr>
              <a:t>Le problème, les objectifs, la stack</a:t>
            </a:r>
            <a:endParaRPr lang="en-US" sz="1100" dirty="0"/>
          </a:p>
        </p:txBody>
      </p:sp>
      <p:sp>
        <p:nvSpPr>
          <p:cNvPr id="8" name="Shape 6"/>
          <p:cNvSpPr/>
          <p:nvPr/>
        </p:nvSpPr>
        <p:spPr>
          <a:xfrm>
            <a:off x="6324448" y="1920240"/>
            <a:ext cx="457200" cy="457200"/>
          </a:xfrm>
          <a:prstGeom prst="ellipse">
            <a:avLst/>
          </a:prstGeom>
          <a:solidFill>
            <a:srgbClr val="C9A96E"/>
          </a:solidFill>
          <a:ln/>
        </p:spPr>
        <p:txBody>
          <a:bodyPr/>
          <a:lstStyle/>
          <a:p>
            <a:endParaRPr lang="fr-FR"/>
          </a:p>
        </p:txBody>
      </p:sp>
      <p:sp>
        <p:nvSpPr>
          <p:cNvPr id="9" name="Text 7"/>
          <p:cNvSpPr/>
          <p:nvPr/>
        </p:nvSpPr>
        <p:spPr>
          <a:xfrm>
            <a:off x="6324448" y="1920240"/>
            <a:ext cx="457200" cy="457200"/>
          </a:xfrm>
          <a:prstGeom prst="rect">
            <a:avLst/>
          </a:prstGeom>
          <a:noFill/>
          <a:ln/>
        </p:spPr>
        <p:txBody>
          <a:bodyPr wrap="square" lIns="0" tIns="0" rIns="0" bIns="0" rtlCol="0" anchor="ctr"/>
          <a:lstStyle/>
          <a:p>
            <a:pPr marL="0" indent="0" algn="ctr">
              <a:buNone/>
            </a:pPr>
            <a:r>
              <a:rPr lang="en-US" sz="1800" b="1" dirty="0">
                <a:solidFill>
                  <a:srgbClr val="1A1410"/>
                </a:solidFill>
                <a:latin typeface="Cambria" pitchFamily="34" charset="0"/>
                <a:ea typeface="Cambria" pitchFamily="34" charset="-122"/>
                <a:cs typeface="Cambria" pitchFamily="34" charset="-120"/>
              </a:rPr>
              <a:t>2</a:t>
            </a:r>
            <a:endParaRPr lang="en-US" sz="1800" dirty="0"/>
          </a:p>
        </p:txBody>
      </p:sp>
      <p:sp>
        <p:nvSpPr>
          <p:cNvPr id="10" name="Text 8"/>
          <p:cNvSpPr/>
          <p:nvPr/>
        </p:nvSpPr>
        <p:spPr>
          <a:xfrm>
            <a:off x="6964528" y="1847088"/>
            <a:ext cx="4587088" cy="365760"/>
          </a:xfrm>
          <a:prstGeom prst="rect">
            <a:avLst/>
          </a:prstGeom>
          <a:noFill/>
          <a:ln/>
        </p:spPr>
        <p:txBody>
          <a:bodyPr wrap="square" lIns="0" tIns="0" rIns="0" bIns="0" rtlCol="0" anchor="ctr"/>
          <a:lstStyle/>
          <a:p>
            <a:pPr marL="0" indent="0">
              <a:buNone/>
            </a:pPr>
            <a:r>
              <a:rPr lang="en-US" sz="1600" b="1" dirty="0">
                <a:solidFill>
                  <a:srgbClr val="0A0A0A"/>
                </a:solidFill>
                <a:latin typeface="Cambria" pitchFamily="34" charset="0"/>
                <a:ea typeface="Cambria" pitchFamily="34" charset="-122"/>
                <a:cs typeface="Cambria" pitchFamily="34" charset="-120"/>
              </a:rPr>
              <a:t>Méthodologie</a:t>
            </a:r>
            <a:endParaRPr lang="en-US" sz="1600" dirty="0"/>
          </a:p>
        </p:txBody>
      </p:sp>
      <p:sp>
        <p:nvSpPr>
          <p:cNvPr id="11" name="Text 9"/>
          <p:cNvSpPr/>
          <p:nvPr/>
        </p:nvSpPr>
        <p:spPr>
          <a:xfrm>
            <a:off x="6964528" y="2194560"/>
            <a:ext cx="4587088" cy="457200"/>
          </a:xfrm>
          <a:prstGeom prst="rect">
            <a:avLst/>
          </a:prstGeom>
          <a:noFill/>
          <a:ln/>
        </p:spPr>
        <p:txBody>
          <a:bodyPr wrap="square" lIns="0" tIns="0" rIns="0" bIns="0" rtlCol="0" anchor="ctr"/>
          <a:lstStyle/>
          <a:p>
            <a:pPr marL="0" indent="0">
              <a:buNone/>
            </a:pPr>
            <a:r>
              <a:rPr lang="en-US" sz="1100" dirty="0">
                <a:solidFill>
                  <a:srgbClr val="5A5550"/>
                </a:solidFill>
                <a:latin typeface="Calibri" pitchFamily="34" charset="0"/>
                <a:ea typeface="Calibri" pitchFamily="34" charset="-122"/>
                <a:cs typeface="Calibri" pitchFamily="34" charset="-120"/>
              </a:rPr>
              <a:t>Scrum solo, planning, Git, CI/CD</a:t>
            </a:r>
            <a:endParaRPr lang="en-US" sz="1100" dirty="0"/>
          </a:p>
        </p:txBody>
      </p:sp>
      <p:sp>
        <p:nvSpPr>
          <p:cNvPr id="12" name="Shape 10"/>
          <p:cNvSpPr/>
          <p:nvPr/>
        </p:nvSpPr>
        <p:spPr>
          <a:xfrm>
            <a:off x="640080" y="2880360"/>
            <a:ext cx="457200" cy="457200"/>
          </a:xfrm>
          <a:prstGeom prst="ellipse">
            <a:avLst/>
          </a:prstGeom>
          <a:solidFill>
            <a:srgbClr val="C9A96E"/>
          </a:solidFill>
          <a:ln/>
        </p:spPr>
        <p:txBody>
          <a:bodyPr/>
          <a:lstStyle/>
          <a:p>
            <a:endParaRPr lang="fr-FR"/>
          </a:p>
        </p:txBody>
      </p:sp>
      <p:sp>
        <p:nvSpPr>
          <p:cNvPr id="13" name="Text 11"/>
          <p:cNvSpPr/>
          <p:nvPr/>
        </p:nvSpPr>
        <p:spPr>
          <a:xfrm>
            <a:off x="640080" y="2880360"/>
            <a:ext cx="457200" cy="457200"/>
          </a:xfrm>
          <a:prstGeom prst="rect">
            <a:avLst/>
          </a:prstGeom>
          <a:noFill/>
          <a:ln/>
        </p:spPr>
        <p:txBody>
          <a:bodyPr wrap="square" lIns="0" tIns="0" rIns="0" bIns="0" rtlCol="0" anchor="ctr"/>
          <a:lstStyle/>
          <a:p>
            <a:pPr marL="0" indent="0" algn="ctr">
              <a:buNone/>
            </a:pPr>
            <a:r>
              <a:rPr lang="en-US" sz="1800" b="1" dirty="0">
                <a:solidFill>
                  <a:srgbClr val="1A1410"/>
                </a:solidFill>
                <a:latin typeface="Cambria" pitchFamily="34" charset="0"/>
                <a:ea typeface="Cambria" pitchFamily="34" charset="-122"/>
                <a:cs typeface="Cambria" pitchFamily="34" charset="-120"/>
              </a:rPr>
              <a:t>3</a:t>
            </a:r>
            <a:endParaRPr lang="en-US" sz="1800" dirty="0"/>
          </a:p>
        </p:txBody>
      </p:sp>
      <p:sp>
        <p:nvSpPr>
          <p:cNvPr id="14" name="Text 12"/>
          <p:cNvSpPr/>
          <p:nvPr/>
        </p:nvSpPr>
        <p:spPr>
          <a:xfrm>
            <a:off x="1280160" y="2807208"/>
            <a:ext cx="4587088" cy="365760"/>
          </a:xfrm>
          <a:prstGeom prst="rect">
            <a:avLst/>
          </a:prstGeom>
          <a:noFill/>
          <a:ln/>
        </p:spPr>
        <p:txBody>
          <a:bodyPr wrap="square" lIns="0" tIns="0" rIns="0" bIns="0" rtlCol="0" anchor="ctr"/>
          <a:lstStyle/>
          <a:p>
            <a:pPr marL="0" indent="0">
              <a:buNone/>
            </a:pPr>
            <a:r>
              <a:rPr lang="en-US" sz="1600" b="1" dirty="0">
                <a:solidFill>
                  <a:srgbClr val="0A0A0A"/>
                </a:solidFill>
                <a:latin typeface="Cambria" pitchFamily="34" charset="0"/>
                <a:ea typeface="Cambria" pitchFamily="34" charset="-122"/>
                <a:cs typeface="Cambria" pitchFamily="34" charset="-120"/>
              </a:rPr>
              <a:t>Conception UI/UX</a:t>
            </a:r>
            <a:endParaRPr lang="en-US" sz="1600" dirty="0"/>
          </a:p>
        </p:txBody>
      </p:sp>
      <p:sp>
        <p:nvSpPr>
          <p:cNvPr id="15" name="Text 13"/>
          <p:cNvSpPr/>
          <p:nvPr/>
        </p:nvSpPr>
        <p:spPr>
          <a:xfrm>
            <a:off x="1280160" y="3154680"/>
            <a:ext cx="4587088" cy="457200"/>
          </a:xfrm>
          <a:prstGeom prst="rect">
            <a:avLst/>
          </a:prstGeom>
          <a:noFill/>
          <a:ln/>
        </p:spPr>
        <p:txBody>
          <a:bodyPr wrap="square" lIns="0" tIns="0" rIns="0" bIns="0" rtlCol="0" anchor="ctr"/>
          <a:lstStyle/>
          <a:p>
            <a:pPr marL="0" indent="0">
              <a:buNone/>
            </a:pPr>
            <a:r>
              <a:rPr lang="en-US" sz="1100" dirty="0">
                <a:solidFill>
                  <a:srgbClr val="5A5550"/>
                </a:solidFill>
                <a:latin typeface="Calibri" pitchFamily="34" charset="0"/>
                <a:ea typeface="Calibri" pitchFamily="34" charset="-122"/>
                <a:cs typeface="Calibri" pitchFamily="34" charset="-120"/>
              </a:rPr>
              <a:t>Charte graphique, expérience utilisateur</a:t>
            </a:r>
            <a:endParaRPr lang="en-US" sz="1100" dirty="0"/>
          </a:p>
        </p:txBody>
      </p:sp>
      <p:sp>
        <p:nvSpPr>
          <p:cNvPr id="16" name="Shape 14"/>
          <p:cNvSpPr/>
          <p:nvPr/>
        </p:nvSpPr>
        <p:spPr>
          <a:xfrm>
            <a:off x="6324448" y="2880360"/>
            <a:ext cx="457200" cy="457200"/>
          </a:xfrm>
          <a:prstGeom prst="ellipse">
            <a:avLst/>
          </a:prstGeom>
          <a:solidFill>
            <a:srgbClr val="C9A96E"/>
          </a:solidFill>
          <a:ln/>
        </p:spPr>
        <p:txBody>
          <a:bodyPr/>
          <a:lstStyle/>
          <a:p>
            <a:endParaRPr lang="fr-FR"/>
          </a:p>
        </p:txBody>
      </p:sp>
      <p:sp>
        <p:nvSpPr>
          <p:cNvPr id="17" name="Text 15"/>
          <p:cNvSpPr/>
          <p:nvPr/>
        </p:nvSpPr>
        <p:spPr>
          <a:xfrm>
            <a:off x="6324448" y="2880360"/>
            <a:ext cx="457200" cy="457200"/>
          </a:xfrm>
          <a:prstGeom prst="rect">
            <a:avLst/>
          </a:prstGeom>
          <a:noFill/>
          <a:ln/>
        </p:spPr>
        <p:txBody>
          <a:bodyPr wrap="square" lIns="0" tIns="0" rIns="0" bIns="0" rtlCol="0" anchor="ctr"/>
          <a:lstStyle/>
          <a:p>
            <a:pPr marL="0" indent="0" algn="ctr">
              <a:buNone/>
            </a:pPr>
            <a:r>
              <a:rPr lang="en-US" sz="1800" b="1" dirty="0">
                <a:solidFill>
                  <a:srgbClr val="1A1410"/>
                </a:solidFill>
                <a:latin typeface="Cambria" pitchFamily="34" charset="0"/>
                <a:ea typeface="Cambria" pitchFamily="34" charset="-122"/>
                <a:cs typeface="Cambria" pitchFamily="34" charset="-120"/>
              </a:rPr>
              <a:t>4</a:t>
            </a:r>
            <a:endParaRPr lang="en-US" sz="1800" dirty="0"/>
          </a:p>
        </p:txBody>
      </p:sp>
      <p:sp>
        <p:nvSpPr>
          <p:cNvPr id="18" name="Text 16"/>
          <p:cNvSpPr/>
          <p:nvPr/>
        </p:nvSpPr>
        <p:spPr>
          <a:xfrm>
            <a:off x="6964528" y="2807208"/>
            <a:ext cx="4587088" cy="365760"/>
          </a:xfrm>
          <a:prstGeom prst="rect">
            <a:avLst/>
          </a:prstGeom>
          <a:noFill/>
          <a:ln/>
        </p:spPr>
        <p:txBody>
          <a:bodyPr wrap="square" lIns="0" tIns="0" rIns="0" bIns="0" rtlCol="0" anchor="ctr"/>
          <a:lstStyle/>
          <a:p>
            <a:pPr marL="0" indent="0">
              <a:buNone/>
            </a:pPr>
            <a:r>
              <a:rPr lang="en-US" sz="1600" b="1" dirty="0">
                <a:solidFill>
                  <a:srgbClr val="0A0A0A"/>
                </a:solidFill>
                <a:latin typeface="Cambria" pitchFamily="34" charset="0"/>
                <a:ea typeface="Cambria" pitchFamily="34" charset="-122"/>
                <a:cs typeface="Cambria" pitchFamily="34" charset="-120"/>
              </a:rPr>
              <a:t>Modélisation des données</a:t>
            </a:r>
            <a:endParaRPr lang="en-US" sz="1600" dirty="0"/>
          </a:p>
        </p:txBody>
      </p:sp>
      <p:sp>
        <p:nvSpPr>
          <p:cNvPr id="19" name="Text 17"/>
          <p:cNvSpPr/>
          <p:nvPr/>
        </p:nvSpPr>
        <p:spPr>
          <a:xfrm>
            <a:off x="6964528" y="3154680"/>
            <a:ext cx="4587088" cy="457200"/>
          </a:xfrm>
          <a:prstGeom prst="rect">
            <a:avLst/>
          </a:prstGeom>
          <a:noFill/>
          <a:ln/>
        </p:spPr>
        <p:txBody>
          <a:bodyPr wrap="square" lIns="0" tIns="0" rIns="0" bIns="0" rtlCol="0" anchor="ctr"/>
          <a:lstStyle/>
          <a:p>
            <a:pPr marL="0" indent="0">
              <a:buNone/>
            </a:pPr>
            <a:r>
              <a:rPr lang="en-US" sz="1100" dirty="0">
                <a:solidFill>
                  <a:srgbClr val="5A5550"/>
                </a:solidFill>
                <a:latin typeface="Calibri" pitchFamily="34" charset="0"/>
                <a:ea typeface="Calibri" pitchFamily="34" charset="-122"/>
                <a:cs typeface="Calibri" pitchFamily="34" charset="-120"/>
              </a:rPr>
              <a:t>MCD, choix de modélisation</a:t>
            </a:r>
            <a:endParaRPr lang="en-US" sz="1100" dirty="0"/>
          </a:p>
        </p:txBody>
      </p:sp>
      <p:sp>
        <p:nvSpPr>
          <p:cNvPr id="20" name="Shape 18"/>
          <p:cNvSpPr/>
          <p:nvPr/>
        </p:nvSpPr>
        <p:spPr>
          <a:xfrm>
            <a:off x="640080" y="3840480"/>
            <a:ext cx="457200" cy="457200"/>
          </a:xfrm>
          <a:prstGeom prst="ellipse">
            <a:avLst/>
          </a:prstGeom>
          <a:solidFill>
            <a:srgbClr val="C9A96E"/>
          </a:solidFill>
          <a:ln/>
        </p:spPr>
        <p:txBody>
          <a:bodyPr/>
          <a:lstStyle/>
          <a:p>
            <a:endParaRPr lang="fr-FR"/>
          </a:p>
        </p:txBody>
      </p:sp>
      <p:sp>
        <p:nvSpPr>
          <p:cNvPr id="21" name="Text 19"/>
          <p:cNvSpPr/>
          <p:nvPr/>
        </p:nvSpPr>
        <p:spPr>
          <a:xfrm>
            <a:off x="640080" y="3840480"/>
            <a:ext cx="457200" cy="457200"/>
          </a:xfrm>
          <a:prstGeom prst="rect">
            <a:avLst/>
          </a:prstGeom>
          <a:noFill/>
          <a:ln/>
        </p:spPr>
        <p:txBody>
          <a:bodyPr wrap="square" lIns="0" tIns="0" rIns="0" bIns="0" rtlCol="0" anchor="ctr"/>
          <a:lstStyle/>
          <a:p>
            <a:pPr marL="0" indent="0" algn="ctr">
              <a:buNone/>
            </a:pPr>
            <a:r>
              <a:rPr lang="en-US" sz="1800" b="1" dirty="0">
                <a:solidFill>
                  <a:srgbClr val="1A1410"/>
                </a:solidFill>
                <a:latin typeface="Cambria" pitchFamily="34" charset="0"/>
                <a:ea typeface="Cambria" pitchFamily="34" charset="-122"/>
                <a:cs typeface="Cambria" pitchFamily="34" charset="-120"/>
              </a:rPr>
              <a:t>5</a:t>
            </a:r>
            <a:endParaRPr lang="en-US" sz="1800" dirty="0"/>
          </a:p>
        </p:txBody>
      </p:sp>
      <p:sp>
        <p:nvSpPr>
          <p:cNvPr id="22" name="Text 20"/>
          <p:cNvSpPr/>
          <p:nvPr/>
        </p:nvSpPr>
        <p:spPr>
          <a:xfrm>
            <a:off x="1280160" y="3767328"/>
            <a:ext cx="4587088" cy="365760"/>
          </a:xfrm>
          <a:prstGeom prst="rect">
            <a:avLst/>
          </a:prstGeom>
          <a:noFill/>
          <a:ln/>
        </p:spPr>
        <p:txBody>
          <a:bodyPr wrap="square" lIns="0" tIns="0" rIns="0" bIns="0" rtlCol="0" anchor="ctr"/>
          <a:lstStyle/>
          <a:p>
            <a:pPr marL="0" indent="0">
              <a:buNone/>
            </a:pPr>
            <a:r>
              <a:rPr lang="en-US" sz="1600" b="1" dirty="0">
                <a:solidFill>
                  <a:srgbClr val="0A0A0A"/>
                </a:solidFill>
                <a:latin typeface="Cambria" pitchFamily="34" charset="0"/>
                <a:ea typeface="Cambria" pitchFamily="34" charset="-122"/>
                <a:cs typeface="Cambria" pitchFamily="34" charset="-120"/>
              </a:rPr>
              <a:t>Conception &amp; architecture</a:t>
            </a:r>
            <a:endParaRPr lang="en-US" sz="1600" dirty="0"/>
          </a:p>
        </p:txBody>
      </p:sp>
      <p:sp>
        <p:nvSpPr>
          <p:cNvPr id="23" name="Text 21"/>
          <p:cNvSpPr/>
          <p:nvPr/>
        </p:nvSpPr>
        <p:spPr>
          <a:xfrm>
            <a:off x="1280160" y="4114800"/>
            <a:ext cx="4587088" cy="457200"/>
          </a:xfrm>
          <a:prstGeom prst="rect">
            <a:avLst/>
          </a:prstGeom>
          <a:noFill/>
          <a:ln/>
        </p:spPr>
        <p:txBody>
          <a:bodyPr wrap="square" lIns="0" tIns="0" rIns="0" bIns="0" rtlCol="0" anchor="ctr"/>
          <a:lstStyle/>
          <a:p>
            <a:pPr marL="0" indent="0">
              <a:buNone/>
            </a:pPr>
            <a:r>
              <a:rPr lang="en-US" sz="1100" dirty="0">
                <a:solidFill>
                  <a:srgbClr val="5A5550"/>
                </a:solidFill>
                <a:latin typeface="Calibri" pitchFamily="34" charset="0"/>
                <a:ea typeface="Calibri" pitchFamily="34" charset="-122"/>
                <a:cs typeface="Calibri" pitchFamily="34" charset="-120"/>
              </a:rPr>
              <a:t>UML, Docker, cycle de vie d'une requête</a:t>
            </a:r>
            <a:endParaRPr lang="en-US" sz="1100" dirty="0"/>
          </a:p>
        </p:txBody>
      </p:sp>
      <p:sp>
        <p:nvSpPr>
          <p:cNvPr id="24" name="Shape 22"/>
          <p:cNvSpPr/>
          <p:nvPr/>
        </p:nvSpPr>
        <p:spPr>
          <a:xfrm>
            <a:off x="6324448" y="3840480"/>
            <a:ext cx="457200" cy="457200"/>
          </a:xfrm>
          <a:prstGeom prst="ellipse">
            <a:avLst/>
          </a:prstGeom>
          <a:solidFill>
            <a:srgbClr val="C9A96E"/>
          </a:solidFill>
          <a:ln/>
        </p:spPr>
        <p:txBody>
          <a:bodyPr/>
          <a:lstStyle/>
          <a:p>
            <a:endParaRPr lang="fr-FR"/>
          </a:p>
        </p:txBody>
      </p:sp>
      <p:sp>
        <p:nvSpPr>
          <p:cNvPr id="25" name="Text 23"/>
          <p:cNvSpPr/>
          <p:nvPr/>
        </p:nvSpPr>
        <p:spPr>
          <a:xfrm>
            <a:off x="6324448" y="3840480"/>
            <a:ext cx="457200" cy="457200"/>
          </a:xfrm>
          <a:prstGeom prst="rect">
            <a:avLst/>
          </a:prstGeom>
          <a:noFill/>
          <a:ln/>
        </p:spPr>
        <p:txBody>
          <a:bodyPr wrap="square" lIns="0" tIns="0" rIns="0" bIns="0" rtlCol="0" anchor="ctr"/>
          <a:lstStyle/>
          <a:p>
            <a:pPr marL="0" indent="0" algn="ctr">
              <a:buNone/>
            </a:pPr>
            <a:r>
              <a:rPr lang="en-US" sz="1800" b="1" dirty="0">
                <a:solidFill>
                  <a:srgbClr val="1A1410"/>
                </a:solidFill>
                <a:latin typeface="Cambria" pitchFamily="34" charset="0"/>
                <a:ea typeface="Cambria" pitchFamily="34" charset="-122"/>
                <a:cs typeface="Cambria" pitchFamily="34" charset="-120"/>
              </a:rPr>
              <a:t>6</a:t>
            </a:r>
            <a:endParaRPr lang="en-US" sz="1800" dirty="0"/>
          </a:p>
        </p:txBody>
      </p:sp>
      <p:sp>
        <p:nvSpPr>
          <p:cNvPr id="26" name="Text 24"/>
          <p:cNvSpPr/>
          <p:nvPr/>
        </p:nvSpPr>
        <p:spPr>
          <a:xfrm>
            <a:off x="6964528" y="3767328"/>
            <a:ext cx="4587088" cy="365760"/>
          </a:xfrm>
          <a:prstGeom prst="rect">
            <a:avLst/>
          </a:prstGeom>
          <a:noFill/>
          <a:ln/>
        </p:spPr>
        <p:txBody>
          <a:bodyPr wrap="square" lIns="0" tIns="0" rIns="0" bIns="0" rtlCol="0" anchor="ctr"/>
          <a:lstStyle/>
          <a:p>
            <a:pPr marL="0" indent="0">
              <a:buNone/>
            </a:pPr>
            <a:r>
              <a:rPr lang="en-US" sz="1600" b="1" dirty="0">
                <a:solidFill>
                  <a:srgbClr val="0A0A0A"/>
                </a:solidFill>
                <a:latin typeface="Cambria" pitchFamily="34" charset="0"/>
                <a:ea typeface="Cambria" pitchFamily="34" charset="-122"/>
                <a:cs typeface="Cambria" pitchFamily="34" charset="-120"/>
              </a:rPr>
              <a:t>Sécurité</a:t>
            </a:r>
            <a:endParaRPr lang="en-US" sz="1600" dirty="0"/>
          </a:p>
        </p:txBody>
      </p:sp>
      <p:sp>
        <p:nvSpPr>
          <p:cNvPr id="27" name="Text 25"/>
          <p:cNvSpPr/>
          <p:nvPr/>
        </p:nvSpPr>
        <p:spPr>
          <a:xfrm>
            <a:off x="6964528" y="4114800"/>
            <a:ext cx="4587088" cy="457200"/>
          </a:xfrm>
          <a:prstGeom prst="rect">
            <a:avLst/>
          </a:prstGeom>
          <a:noFill/>
          <a:ln/>
        </p:spPr>
        <p:txBody>
          <a:bodyPr wrap="square" lIns="0" tIns="0" rIns="0" bIns="0" rtlCol="0" anchor="ctr"/>
          <a:lstStyle/>
          <a:p>
            <a:pPr marL="0" indent="0">
              <a:buNone/>
            </a:pPr>
            <a:r>
              <a:rPr lang="en-US" sz="1100" dirty="0">
                <a:solidFill>
                  <a:srgbClr val="5A5550"/>
                </a:solidFill>
                <a:latin typeface="Calibri" pitchFamily="34" charset="0"/>
                <a:ea typeface="Calibri" pitchFamily="34" charset="-122"/>
                <a:cs typeface="Calibri" pitchFamily="34" charset="-120"/>
              </a:rPr>
              <a:t>JWT, OWASP, limites assumées</a:t>
            </a:r>
            <a:endParaRPr lang="en-US" sz="1100" dirty="0"/>
          </a:p>
        </p:txBody>
      </p:sp>
      <p:sp>
        <p:nvSpPr>
          <p:cNvPr id="28" name="Shape 26"/>
          <p:cNvSpPr/>
          <p:nvPr/>
        </p:nvSpPr>
        <p:spPr>
          <a:xfrm>
            <a:off x="640080" y="4800600"/>
            <a:ext cx="457200" cy="457200"/>
          </a:xfrm>
          <a:prstGeom prst="ellipse">
            <a:avLst/>
          </a:prstGeom>
          <a:solidFill>
            <a:srgbClr val="C9A96E"/>
          </a:solidFill>
          <a:ln/>
        </p:spPr>
        <p:txBody>
          <a:bodyPr/>
          <a:lstStyle/>
          <a:p>
            <a:endParaRPr lang="fr-FR"/>
          </a:p>
        </p:txBody>
      </p:sp>
      <p:sp>
        <p:nvSpPr>
          <p:cNvPr id="29" name="Text 27"/>
          <p:cNvSpPr/>
          <p:nvPr/>
        </p:nvSpPr>
        <p:spPr>
          <a:xfrm>
            <a:off x="640080" y="4800600"/>
            <a:ext cx="457200" cy="457200"/>
          </a:xfrm>
          <a:prstGeom prst="rect">
            <a:avLst/>
          </a:prstGeom>
          <a:noFill/>
          <a:ln/>
        </p:spPr>
        <p:txBody>
          <a:bodyPr wrap="square" lIns="0" tIns="0" rIns="0" bIns="0" rtlCol="0" anchor="ctr"/>
          <a:lstStyle/>
          <a:p>
            <a:pPr marL="0" indent="0" algn="ctr">
              <a:buNone/>
            </a:pPr>
            <a:r>
              <a:rPr lang="en-US" sz="1800" b="1" dirty="0">
                <a:solidFill>
                  <a:srgbClr val="1A1410"/>
                </a:solidFill>
                <a:latin typeface="Cambria" pitchFamily="34" charset="0"/>
                <a:ea typeface="Cambria" pitchFamily="34" charset="-122"/>
                <a:cs typeface="Cambria" pitchFamily="34" charset="-120"/>
              </a:rPr>
              <a:t>7</a:t>
            </a:r>
            <a:endParaRPr lang="en-US" sz="1800" dirty="0"/>
          </a:p>
        </p:txBody>
      </p:sp>
      <p:sp>
        <p:nvSpPr>
          <p:cNvPr id="30" name="Text 28"/>
          <p:cNvSpPr/>
          <p:nvPr/>
        </p:nvSpPr>
        <p:spPr>
          <a:xfrm>
            <a:off x="1280160" y="4727448"/>
            <a:ext cx="4587088" cy="365760"/>
          </a:xfrm>
          <a:prstGeom prst="rect">
            <a:avLst/>
          </a:prstGeom>
          <a:noFill/>
          <a:ln/>
        </p:spPr>
        <p:txBody>
          <a:bodyPr wrap="square" lIns="0" tIns="0" rIns="0" bIns="0" rtlCol="0" anchor="ctr"/>
          <a:lstStyle/>
          <a:p>
            <a:pPr marL="0" indent="0">
              <a:buNone/>
            </a:pPr>
            <a:r>
              <a:rPr lang="en-US" sz="1600" b="1" dirty="0">
                <a:solidFill>
                  <a:srgbClr val="0A0A0A"/>
                </a:solidFill>
                <a:latin typeface="Cambria" pitchFamily="34" charset="0"/>
                <a:ea typeface="Cambria" pitchFamily="34" charset="-122"/>
                <a:cs typeface="Cambria" pitchFamily="34" charset="-120"/>
              </a:rPr>
              <a:t>Tests &amp; qualité</a:t>
            </a:r>
            <a:endParaRPr lang="en-US" sz="1600" dirty="0"/>
          </a:p>
        </p:txBody>
      </p:sp>
      <p:sp>
        <p:nvSpPr>
          <p:cNvPr id="31" name="Text 29"/>
          <p:cNvSpPr/>
          <p:nvPr/>
        </p:nvSpPr>
        <p:spPr>
          <a:xfrm>
            <a:off x="1280160" y="5074920"/>
            <a:ext cx="4587088" cy="457200"/>
          </a:xfrm>
          <a:prstGeom prst="rect">
            <a:avLst/>
          </a:prstGeom>
          <a:noFill/>
          <a:ln/>
        </p:spPr>
        <p:txBody>
          <a:bodyPr wrap="square" lIns="0" tIns="0" rIns="0" bIns="0" rtlCol="0" anchor="ctr"/>
          <a:lstStyle/>
          <a:p>
            <a:pPr marL="0" indent="0">
              <a:buNone/>
            </a:pPr>
            <a:r>
              <a:rPr lang="en-US" sz="1100" dirty="0">
                <a:solidFill>
                  <a:srgbClr val="5A5550"/>
                </a:solidFill>
                <a:latin typeface="Calibri" pitchFamily="34" charset="0"/>
                <a:ea typeface="Calibri" pitchFamily="34" charset="-122"/>
                <a:cs typeface="Calibri" pitchFamily="34" charset="-120"/>
              </a:rPr>
              <a:t>Stratégie, campagne end-to-end</a:t>
            </a:r>
            <a:endParaRPr lang="en-US" sz="1100" dirty="0"/>
          </a:p>
        </p:txBody>
      </p:sp>
      <p:sp>
        <p:nvSpPr>
          <p:cNvPr id="32" name="Shape 30"/>
          <p:cNvSpPr/>
          <p:nvPr/>
        </p:nvSpPr>
        <p:spPr>
          <a:xfrm>
            <a:off x="6324448" y="4800600"/>
            <a:ext cx="457200" cy="457200"/>
          </a:xfrm>
          <a:prstGeom prst="ellipse">
            <a:avLst/>
          </a:prstGeom>
          <a:solidFill>
            <a:srgbClr val="C9A96E"/>
          </a:solidFill>
          <a:ln/>
        </p:spPr>
        <p:txBody>
          <a:bodyPr/>
          <a:lstStyle/>
          <a:p>
            <a:endParaRPr lang="fr-FR"/>
          </a:p>
        </p:txBody>
      </p:sp>
      <p:sp>
        <p:nvSpPr>
          <p:cNvPr id="33" name="Text 31"/>
          <p:cNvSpPr/>
          <p:nvPr/>
        </p:nvSpPr>
        <p:spPr>
          <a:xfrm>
            <a:off x="6324448" y="4800600"/>
            <a:ext cx="457200" cy="457200"/>
          </a:xfrm>
          <a:prstGeom prst="rect">
            <a:avLst/>
          </a:prstGeom>
          <a:noFill/>
          <a:ln/>
        </p:spPr>
        <p:txBody>
          <a:bodyPr wrap="square" lIns="0" tIns="0" rIns="0" bIns="0" rtlCol="0" anchor="ctr"/>
          <a:lstStyle/>
          <a:p>
            <a:pPr marL="0" indent="0" algn="ctr">
              <a:buNone/>
            </a:pPr>
            <a:r>
              <a:rPr lang="en-US" sz="1800" b="1" dirty="0">
                <a:solidFill>
                  <a:srgbClr val="1A1410"/>
                </a:solidFill>
                <a:latin typeface="Cambria" pitchFamily="34" charset="0"/>
                <a:ea typeface="Cambria" pitchFamily="34" charset="-122"/>
                <a:cs typeface="Cambria" pitchFamily="34" charset="-120"/>
              </a:rPr>
              <a:t>8</a:t>
            </a:r>
            <a:endParaRPr lang="en-US" sz="1800" dirty="0"/>
          </a:p>
        </p:txBody>
      </p:sp>
      <p:sp>
        <p:nvSpPr>
          <p:cNvPr id="34" name="Text 32"/>
          <p:cNvSpPr/>
          <p:nvPr/>
        </p:nvSpPr>
        <p:spPr>
          <a:xfrm>
            <a:off x="6964528" y="4727448"/>
            <a:ext cx="4587088" cy="365760"/>
          </a:xfrm>
          <a:prstGeom prst="rect">
            <a:avLst/>
          </a:prstGeom>
          <a:noFill/>
          <a:ln/>
        </p:spPr>
        <p:txBody>
          <a:bodyPr wrap="square" lIns="0" tIns="0" rIns="0" bIns="0" rtlCol="0" anchor="ctr"/>
          <a:lstStyle/>
          <a:p>
            <a:pPr marL="0" indent="0">
              <a:buNone/>
            </a:pPr>
            <a:r>
              <a:rPr lang="en-US" sz="1600" b="1" dirty="0">
                <a:solidFill>
                  <a:srgbClr val="0A0A0A"/>
                </a:solidFill>
                <a:latin typeface="Cambria" pitchFamily="34" charset="0"/>
                <a:ea typeface="Cambria" pitchFamily="34" charset="-122"/>
                <a:cs typeface="Cambria" pitchFamily="34" charset="-120"/>
              </a:rPr>
              <a:t>Déploiement &amp; bilan</a:t>
            </a:r>
            <a:endParaRPr lang="en-US" sz="1600" dirty="0"/>
          </a:p>
        </p:txBody>
      </p:sp>
      <p:sp>
        <p:nvSpPr>
          <p:cNvPr id="35" name="Text 33"/>
          <p:cNvSpPr/>
          <p:nvPr/>
        </p:nvSpPr>
        <p:spPr>
          <a:xfrm>
            <a:off x="6964528" y="5074920"/>
            <a:ext cx="4587088" cy="457200"/>
          </a:xfrm>
          <a:prstGeom prst="rect">
            <a:avLst/>
          </a:prstGeom>
          <a:noFill/>
          <a:ln/>
        </p:spPr>
        <p:txBody>
          <a:bodyPr wrap="square" lIns="0" tIns="0" rIns="0" bIns="0" rtlCol="0" anchor="ctr"/>
          <a:lstStyle/>
          <a:p>
            <a:pPr marL="0" indent="0">
              <a:buNone/>
            </a:pPr>
            <a:r>
              <a:rPr lang="en-US" sz="1100" dirty="0">
                <a:solidFill>
                  <a:srgbClr val="5A5550"/>
                </a:solidFill>
                <a:latin typeface="Calibri" pitchFamily="34" charset="0"/>
                <a:ea typeface="Calibri" pitchFamily="34" charset="-122"/>
                <a:cs typeface="Calibri" pitchFamily="34" charset="-120"/>
              </a:rPr>
              <a:t>Mise en production, démonstration, perspectives</a:t>
            </a:r>
            <a:endParaRPr lang="en-US" sz="1100" dirty="0"/>
          </a:p>
        </p:txBody>
      </p:sp>
      <p:sp>
        <p:nvSpPr>
          <p:cNvPr id="36" name="Text 34"/>
          <p:cNvSpPr/>
          <p:nvPr/>
        </p:nvSpPr>
        <p:spPr>
          <a:xfrm>
            <a:off x="640080" y="6473952"/>
            <a:ext cx="7315200" cy="274320"/>
          </a:xfrm>
          <a:prstGeom prst="rect">
            <a:avLst/>
          </a:prstGeom>
          <a:noFill/>
          <a:ln/>
        </p:spPr>
        <p:txBody>
          <a:bodyPr wrap="square" rtlCol="0" anchor="ctr"/>
          <a:lstStyle/>
          <a:p>
            <a:pPr marL="0" indent="0" algn="l">
              <a:buNone/>
            </a:pPr>
            <a:r>
              <a:rPr lang="en-US" sz="900" dirty="0">
                <a:solidFill>
                  <a:srgbClr val="5A5550"/>
                </a:solidFill>
                <a:latin typeface="Calibri" pitchFamily="34" charset="0"/>
                <a:ea typeface="Calibri" pitchFamily="34" charset="-122"/>
                <a:cs typeface="Calibri" pitchFamily="34" charset="-120"/>
              </a:rPr>
              <a:t>Amoura — Soutenance CDA</a:t>
            </a:r>
            <a:endParaRPr lang="en-US" sz="900" dirty="0"/>
          </a:p>
        </p:txBody>
      </p:sp>
      <p:sp>
        <p:nvSpPr>
          <p:cNvPr id="37" name="Text 35"/>
          <p:cNvSpPr/>
          <p:nvPr/>
        </p:nvSpPr>
        <p:spPr>
          <a:xfrm>
            <a:off x="11002975" y="6473952"/>
            <a:ext cx="548640" cy="274320"/>
          </a:xfrm>
          <a:prstGeom prst="rect">
            <a:avLst/>
          </a:prstGeom>
          <a:noFill/>
          <a:ln/>
        </p:spPr>
        <p:txBody>
          <a:bodyPr wrap="square" rtlCol="0" anchor="ctr"/>
          <a:lstStyle/>
          <a:p>
            <a:pPr marL="0" indent="0" algn="r">
              <a:buNone/>
            </a:pPr>
            <a:r>
              <a:rPr lang="en-US" sz="900" dirty="0">
                <a:solidFill>
                  <a:srgbClr val="5A555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1410"/>
        </a:solidFill>
        <a:effectLst/>
      </p:bgPr>
    </p:bg>
    <p:spTree>
      <p:nvGrpSpPr>
        <p:cNvPr id="1" name=""/>
        <p:cNvGrpSpPr/>
        <p:nvPr/>
      </p:nvGrpSpPr>
      <p:grpSpPr>
        <a:xfrm>
          <a:off x="0" y="0"/>
          <a:ext cx="0" cy="0"/>
          <a:chOff x="0" y="0"/>
          <a:chExt cx="0" cy="0"/>
        </a:xfrm>
      </p:grpSpPr>
      <p:sp>
        <p:nvSpPr>
          <p:cNvPr id="2" name="Shape 0"/>
          <p:cNvSpPr/>
          <p:nvPr/>
        </p:nvSpPr>
        <p:spPr>
          <a:xfrm>
            <a:off x="5638648" y="1965960"/>
            <a:ext cx="914400" cy="914400"/>
          </a:xfrm>
          <a:prstGeom prst="ellipse">
            <a:avLst/>
          </a:prstGeom>
          <a:solidFill>
            <a:srgbClr val="C9A96E"/>
          </a:solidFill>
          <a:ln/>
        </p:spPr>
        <p:txBody>
          <a:bodyPr/>
          <a:lstStyle/>
          <a:p>
            <a:endParaRPr lang="fr-FR"/>
          </a:p>
        </p:txBody>
      </p:sp>
      <p:sp>
        <p:nvSpPr>
          <p:cNvPr id="3" name="Text 1"/>
          <p:cNvSpPr/>
          <p:nvPr/>
        </p:nvSpPr>
        <p:spPr>
          <a:xfrm>
            <a:off x="5638648" y="1965960"/>
            <a:ext cx="914400" cy="914400"/>
          </a:xfrm>
          <a:prstGeom prst="rect">
            <a:avLst/>
          </a:prstGeom>
          <a:noFill/>
          <a:ln/>
        </p:spPr>
        <p:txBody>
          <a:bodyPr wrap="square" lIns="0" tIns="0" rIns="0" bIns="0" rtlCol="0" anchor="ctr"/>
          <a:lstStyle/>
          <a:p>
            <a:pPr marL="0" indent="0" algn="ctr">
              <a:buNone/>
            </a:pPr>
            <a:r>
              <a:rPr lang="en-US" sz="3000" b="1" dirty="0">
                <a:solidFill>
                  <a:srgbClr val="1A1410"/>
                </a:solidFill>
                <a:latin typeface="Cambria" pitchFamily="34" charset="0"/>
                <a:ea typeface="Cambria" pitchFamily="34" charset="-122"/>
                <a:cs typeface="Cambria" pitchFamily="34" charset="-120"/>
              </a:rPr>
              <a:t>1</a:t>
            </a:r>
            <a:endParaRPr lang="en-US" sz="3000" dirty="0"/>
          </a:p>
        </p:txBody>
      </p:sp>
      <p:sp>
        <p:nvSpPr>
          <p:cNvPr id="4" name="Text 2"/>
          <p:cNvSpPr/>
          <p:nvPr/>
        </p:nvSpPr>
        <p:spPr>
          <a:xfrm>
            <a:off x="914400" y="3063240"/>
            <a:ext cx="10362895" cy="1005840"/>
          </a:xfrm>
          <a:prstGeom prst="rect">
            <a:avLst/>
          </a:prstGeom>
          <a:noFill/>
          <a:ln/>
        </p:spPr>
        <p:txBody>
          <a:bodyPr wrap="square" rtlCol="0" anchor="ctr"/>
          <a:lstStyle/>
          <a:p>
            <a:pPr marL="0" indent="0" algn="ctr">
              <a:buNone/>
            </a:pPr>
            <a:r>
              <a:rPr lang="en-US" sz="4000" b="1" dirty="0">
                <a:solidFill>
                  <a:srgbClr val="FAF8F5"/>
                </a:solidFill>
                <a:latin typeface="Cambria" pitchFamily="34" charset="0"/>
                <a:ea typeface="Cambria" pitchFamily="34" charset="-122"/>
                <a:cs typeface="Cambria" pitchFamily="34" charset="-120"/>
              </a:rPr>
              <a:t>Contexte &amp; cahier des charges</a:t>
            </a:r>
            <a:endParaRPr lang="en-US" sz="4000" dirty="0"/>
          </a:p>
        </p:txBody>
      </p:sp>
      <p:sp>
        <p:nvSpPr>
          <p:cNvPr id="5" name="Text 3"/>
          <p:cNvSpPr/>
          <p:nvPr/>
        </p:nvSpPr>
        <p:spPr>
          <a:xfrm>
            <a:off x="1371600" y="4069080"/>
            <a:ext cx="9448495" cy="548640"/>
          </a:xfrm>
          <a:prstGeom prst="rect">
            <a:avLst/>
          </a:prstGeom>
          <a:noFill/>
          <a:ln/>
        </p:spPr>
        <p:txBody>
          <a:bodyPr wrap="square" rtlCol="0" anchor="ctr"/>
          <a:lstStyle/>
          <a:p>
            <a:pPr marL="0" indent="0" algn="ctr">
              <a:buNone/>
            </a:pPr>
            <a:r>
              <a:rPr lang="en-US" sz="1500" i="1" dirty="0">
                <a:solidFill>
                  <a:srgbClr val="E8E5E0"/>
                </a:solidFill>
                <a:latin typeface="Calibri" pitchFamily="34" charset="0"/>
                <a:ea typeface="Calibri" pitchFamily="34" charset="-122"/>
                <a:cs typeface="Calibri" pitchFamily="34" charset="-120"/>
              </a:rPr>
              <a:t>Le problème, les objectifs, la stack technique</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8F5"/>
        </a:solidFill>
        <a:effectLst/>
      </p:bgPr>
    </p:bg>
    <p:spTree>
      <p:nvGrpSpPr>
        <p:cNvPr id="1" name=""/>
        <p:cNvGrpSpPr/>
        <p:nvPr/>
      </p:nvGrpSpPr>
      <p:grpSpPr>
        <a:xfrm>
          <a:off x="0" y="0"/>
          <a:ext cx="0" cy="0"/>
          <a:chOff x="0" y="0"/>
          <a:chExt cx="0" cy="0"/>
        </a:xfrm>
      </p:grpSpPr>
      <p:sp>
        <p:nvSpPr>
          <p:cNvPr id="2" name="Text 0"/>
          <p:cNvSpPr/>
          <p:nvPr/>
        </p:nvSpPr>
        <p:spPr>
          <a:xfrm>
            <a:off x="640080" y="411480"/>
            <a:ext cx="10911535" cy="320040"/>
          </a:xfrm>
          <a:prstGeom prst="rect">
            <a:avLst/>
          </a:prstGeom>
          <a:noFill/>
          <a:ln/>
        </p:spPr>
        <p:txBody>
          <a:bodyPr wrap="square" rtlCol="0" anchor="ctr"/>
          <a:lstStyle/>
          <a:p>
            <a:pPr marL="0" indent="0">
              <a:buNone/>
            </a:pPr>
            <a:r>
              <a:rPr lang="en-US" sz="1200" b="1" kern="0" spc="250" dirty="0">
                <a:solidFill>
                  <a:srgbClr val="C9A96E"/>
                </a:solidFill>
                <a:latin typeface="Calibri" pitchFamily="34" charset="0"/>
                <a:ea typeface="Calibri" pitchFamily="34" charset="-122"/>
                <a:cs typeface="Calibri" pitchFamily="34" charset="-120"/>
              </a:rPr>
              <a:t>CONTEXTE MÉTIER</a:t>
            </a:r>
            <a:endParaRPr lang="en-US" sz="1200" dirty="0"/>
          </a:p>
        </p:txBody>
      </p:sp>
      <p:sp>
        <p:nvSpPr>
          <p:cNvPr id="3" name="Text 1"/>
          <p:cNvSpPr/>
          <p:nvPr/>
        </p:nvSpPr>
        <p:spPr>
          <a:xfrm>
            <a:off x="640080" y="713232"/>
            <a:ext cx="10911535" cy="640080"/>
          </a:xfrm>
          <a:prstGeom prst="rect">
            <a:avLst/>
          </a:prstGeom>
          <a:noFill/>
          <a:ln/>
        </p:spPr>
        <p:txBody>
          <a:bodyPr wrap="square" rtlCol="0" anchor="ctr"/>
          <a:lstStyle/>
          <a:p>
            <a:pPr marL="0" indent="0">
              <a:buNone/>
            </a:pPr>
            <a:r>
              <a:rPr lang="en-US" sz="2800" b="1" dirty="0">
                <a:solidFill>
                  <a:srgbClr val="0A0A0A"/>
                </a:solidFill>
                <a:latin typeface="Cambria" pitchFamily="34" charset="0"/>
                <a:ea typeface="Cambria" pitchFamily="34" charset="-122"/>
                <a:cs typeface="Cambria" pitchFamily="34" charset="-120"/>
              </a:rPr>
              <a:t>Un restaurant, une gestion papier</a:t>
            </a:r>
            <a:endParaRPr lang="en-US" sz="2800" dirty="0"/>
          </a:p>
        </p:txBody>
      </p:sp>
      <p:sp>
        <p:nvSpPr>
          <p:cNvPr id="4" name="Text 2"/>
          <p:cNvSpPr/>
          <p:nvPr/>
        </p:nvSpPr>
        <p:spPr>
          <a:xfrm>
            <a:off x="640080" y="2139696"/>
            <a:ext cx="10911535" cy="4123944"/>
          </a:xfrm>
          <a:prstGeom prst="rect">
            <a:avLst/>
          </a:prstGeom>
          <a:noFill/>
          <a:ln/>
        </p:spPr>
        <p:txBody>
          <a:bodyPr wrap="square" lIns="0" tIns="0" rIns="0" bIns="0" rtlCol="0" anchor="t"/>
          <a:lstStyle/>
          <a:p>
            <a:pPr marL="228600" indent="-228600">
              <a:spcAft>
                <a:spcPts val="1800"/>
              </a:spcAft>
              <a:buSzPct val="100000"/>
              <a:buChar char="●"/>
            </a:pPr>
            <a:r>
              <a:rPr lang="en-US" sz="1600" dirty="0">
                <a:solidFill>
                  <a:srgbClr val="0A0A0A"/>
                </a:solidFill>
                <a:latin typeface="Calibri" pitchFamily="34" charset="0"/>
                <a:ea typeface="Calibri" pitchFamily="34" charset="-122"/>
                <a:cs typeface="Calibri" pitchFamily="34" charset="-120"/>
              </a:rPr>
              <a:t>Amoura : restaurant fictif de cuisine méditerranéenne, ~60 couverts sur 15 tables</a:t>
            </a:r>
            <a:endParaRPr lang="en-US" sz="1600" dirty="0"/>
          </a:p>
          <a:p>
            <a:pPr marL="228600" indent="-228600">
              <a:spcAft>
                <a:spcPts val="1800"/>
              </a:spcAft>
              <a:buSzPct val="100000"/>
              <a:buChar char="●"/>
            </a:pPr>
            <a:r>
              <a:rPr lang="en-US" sz="1600" dirty="0">
                <a:solidFill>
                  <a:srgbClr val="0A0A0A"/>
                </a:solidFill>
                <a:latin typeface="Calibri" pitchFamily="34" charset="0"/>
                <a:ea typeface="Calibri" pitchFamily="34" charset="-122"/>
                <a:cs typeface="Calibri" pitchFamily="34" charset="-120"/>
              </a:rPr>
              <a:t>Avant le projet : réservations gérées par téléphone et carnet papier</a:t>
            </a:r>
            <a:endParaRPr lang="en-US" sz="1600" dirty="0"/>
          </a:p>
          <a:p>
            <a:pPr marL="228600" indent="-228600">
              <a:spcAft>
                <a:spcPts val="1800"/>
              </a:spcAft>
              <a:buSzPct val="100000"/>
              <a:buChar char="●"/>
            </a:pPr>
            <a:r>
              <a:rPr lang="en-US" sz="1600" dirty="0">
                <a:solidFill>
                  <a:srgbClr val="0A0A0A"/>
                </a:solidFill>
                <a:latin typeface="Calibri" pitchFamily="34" charset="0"/>
                <a:ea typeface="Calibri" pitchFamily="34" charset="-122"/>
                <a:cs typeface="Calibri" pitchFamily="34" charset="-120"/>
              </a:rPr>
              <a:t>Conséquences concrètes : erreurs de saisie et doublons, aucune visibilité en temps réel sur le taux d'occupation, temps administratif important, aucun suivi de la clientèle régulière</a:t>
            </a:r>
            <a:endParaRPr lang="en-US" sz="1600" dirty="0"/>
          </a:p>
          <a:p>
            <a:pPr marL="228600" indent="-228600">
              <a:spcAft>
                <a:spcPts val="1800"/>
              </a:spcAft>
              <a:buSzPct val="100000"/>
              <a:buChar char="●"/>
            </a:pPr>
            <a:r>
              <a:rPr lang="en-US" sz="1600" b="1" dirty="0">
                <a:solidFill>
                  <a:srgbClr val="0A0A0A"/>
                </a:solidFill>
                <a:latin typeface="Calibri" pitchFamily="34" charset="0"/>
                <a:ea typeface="Calibri" pitchFamily="34" charset="-122"/>
                <a:cs typeface="Calibri" pitchFamily="34" charset="-120"/>
              </a:rPr>
              <a:t>Objectif du projet : digitaliser la réservation et mettre en place un programme de fidélité simple et efficace</a:t>
            </a:r>
            <a:endParaRPr lang="en-US" sz="1600" dirty="0"/>
          </a:p>
        </p:txBody>
      </p:sp>
      <p:sp>
        <p:nvSpPr>
          <p:cNvPr id="5" name="Text 3"/>
          <p:cNvSpPr/>
          <p:nvPr/>
        </p:nvSpPr>
        <p:spPr>
          <a:xfrm>
            <a:off x="640080" y="6473952"/>
            <a:ext cx="7315200" cy="274320"/>
          </a:xfrm>
          <a:prstGeom prst="rect">
            <a:avLst/>
          </a:prstGeom>
          <a:noFill/>
          <a:ln/>
        </p:spPr>
        <p:txBody>
          <a:bodyPr wrap="square" rtlCol="0" anchor="ctr"/>
          <a:lstStyle/>
          <a:p>
            <a:pPr marL="0" indent="0" algn="l">
              <a:buNone/>
            </a:pPr>
            <a:r>
              <a:rPr lang="en-US" sz="900" dirty="0">
                <a:solidFill>
                  <a:srgbClr val="5A5550"/>
                </a:solidFill>
                <a:latin typeface="Calibri" pitchFamily="34" charset="0"/>
                <a:ea typeface="Calibri" pitchFamily="34" charset="-122"/>
                <a:cs typeface="Calibri" pitchFamily="34" charset="-120"/>
              </a:rPr>
              <a:t>Amoura — Soutenance CDA 2026</a:t>
            </a:r>
            <a:endParaRPr lang="en-US" sz="900" dirty="0"/>
          </a:p>
        </p:txBody>
      </p:sp>
      <p:sp>
        <p:nvSpPr>
          <p:cNvPr id="6" name="Text 4"/>
          <p:cNvSpPr/>
          <p:nvPr/>
        </p:nvSpPr>
        <p:spPr>
          <a:xfrm>
            <a:off x="11002975" y="6473952"/>
            <a:ext cx="548640" cy="274320"/>
          </a:xfrm>
          <a:prstGeom prst="rect">
            <a:avLst/>
          </a:prstGeom>
          <a:noFill/>
          <a:ln/>
        </p:spPr>
        <p:txBody>
          <a:bodyPr wrap="square" rtlCol="0" anchor="ctr"/>
          <a:lstStyle/>
          <a:p>
            <a:pPr marL="0" indent="0" algn="r">
              <a:buNone/>
            </a:pPr>
            <a:r>
              <a:rPr lang="en-US" sz="900" dirty="0">
                <a:solidFill>
                  <a:srgbClr val="5A555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8F5"/>
        </a:solidFill>
        <a:effectLst/>
      </p:bgPr>
    </p:bg>
    <p:spTree>
      <p:nvGrpSpPr>
        <p:cNvPr id="1" name=""/>
        <p:cNvGrpSpPr/>
        <p:nvPr/>
      </p:nvGrpSpPr>
      <p:grpSpPr>
        <a:xfrm>
          <a:off x="0" y="0"/>
          <a:ext cx="0" cy="0"/>
          <a:chOff x="0" y="0"/>
          <a:chExt cx="0" cy="0"/>
        </a:xfrm>
      </p:grpSpPr>
      <p:sp>
        <p:nvSpPr>
          <p:cNvPr id="2" name="Text 0"/>
          <p:cNvSpPr/>
          <p:nvPr/>
        </p:nvSpPr>
        <p:spPr>
          <a:xfrm>
            <a:off x="640080" y="411480"/>
            <a:ext cx="10911535" cy="320040"/>
          </a:xfrm>
          <a:prstGeom prst="rect">
            <a:avLst/>
          </a:prstGeom>
          <a:noFill/>
          <a:ln/>
        </p:spPr>
        <p:txBody>
          <a:bodyPr wrap="square" rtlCol="0" anchor="ctr"/>
          <a:lstStyle/>
          <a:p>
            <a:pPr marL="0" indent="0">
              <a:buNone/>
            </a:pPr>
            <a:r>
              <a:rPr lang="en-US" sz="1200" b="1" kern="0" spc="250" dirty="0">
                <a:solidFill>
                  <a:srgbClr val="C9A96E"/>
                </a:solidFill>
                <a:latin typeface="Calibri" pitchFamily="34" charset="0"/>
                <a:ea typeface="Calibri" pitchFamily="34" charset="-122"/>
                <a:cs typeface="Calibri" pitchFamily="34" charset="-120"/>
              </a:rPr>
              <a:t>PÉRIMÈTRE FONCTIONNEL</a:t>
            </a:r>
            <a:endParaRPr lang="en-US" sz="1200" dirty="0"/>
          </a:p>
        </p:txBody>
      </p:sp>
      <p:sp>
        <p:nvSpPr>
          <p:cNvPr id="3" name="Text 1"/>
          <p:cNvSpPr/>
          <p:nvPr/>
        </p:nvSpPr>
        <p:spPr>
          <a:xfrm>
            <a:off x="640080" y="713232"/>
            <a:ext cx="10911535" cy="640080"/>
          </a:xfrm>
          <a:prstGeom prst="rect">
            <a:avLst/>
          </a:prstGeom>
          <a:noFill/>
          <a:ln/>
        </p:spPr>
        <p:txBody>
          <a:bodyPr wrap="square" rtlCol="0" anchor="ctr"/>
          <a:lstStyle/>
          <a:p>
            <a:pPr marL="0" indent="0">
              <a:buNone/>
            </a:pPr>
            <a:r>
              <a:rPr lang="en-US" sz="2800" b="1" dirty="0">
                <a:solidFill>
                  <a:srgbClr val="0A0A0A"/>
                </a:solidFill>
                <a:latin typeface="Cambria" pitchFamily="34" charset="0"/>
                <a:ea typeface="Cambria" pitchFamily="34" charset="-122"/>
                <a:cs typeface="Cambria" pitchFamily="34" charset="-120"/>
              </a:rPr>
              <a:t>Cinq blocs fonctionnels</a:t>
            </a:r>
            <a:endParaRPr lang="en-US" sz="2800" dirty="0"/>
          </a:p>
        </p:txBody>
      </p:sp>
      <p:sp>
        <p:nvSpPr>
          <p:cNvPr id="4" name="Shape 2"/>
          <p:cNvSpPr/>
          <p:nvPr/>
        </p:nvSpPr>
        <p:spPr>
          <a:xfrm>
            <a:off x="640080" y="2948940"/>
            <a:ext cx="1926275" cy="1965960"/>
          </a:xfrm>
          <a:prstGeom prst="roundRect">
            <a:avLst>
              <a:gd name="adj" fmla="val 3798"/>
            </a:avLst>
          </a:prstGeom>
          <a:solidFill>
            <a:srgbClr val="FFFFFF"/>
          </a:solidFill>
          <a:ln/>
          <a:effectLst>
            <a:outerShdw blurRad="63500" dist="25400" dir="5400000" algn="bl" rotWithShape="0">
              <a:srgbClr val="000000">
                <a:alpha val="12000"/>
              </a:srgbClr>
            </a:outerShdw>
          </a:effectLst>
        </p:spPr>
        <p:txBody>
          <a:bodyPr/>
          <a:lstStyle/>
          <a:p>
            <a:endParaRPr lang="fr-FR"/>
          </a:p>
        </p:txBody>
      </p:sp>
      <p:sp>
        <p:nvSpPr>
          <p:cNvPr id="5" name="Shape 3"/>
          <p:cNvSpPr/>
          <p:nvPr/>
        </p:nvSpPr>
        <p:spPr>
          <a:xfrm>
            <a:off x="841248" y="3150108"/>
            <a:ext cx="384048" cy="384048"/>
          </a:xfrm>
          <a:prstGeom prst="ellipse">
            <a:avLst/>
          </a:prstGeom>
          <a:solidFill>
            <a:srgbClr val="C9A96E"/>
          </a:solidFill>
          <a:ln/>
        </p:spPr>
        <p:txBody>
          <a:bodyPr/>
          <a:lstStyle/>
          <a:p>
            <a:endParaRPr lang="fr-FR"/>
          </a:p>
        </p:txBody>
      </p:sp>
      <p:sp>
        <p:nvSpPr>
          <p:cNvPr id="6" name="Text 4"/>
          <p:cNvSpPr/>
          <p:nvPr/>
        </p:nvSpPr>
        <p:spPr>
          <a:xfrm>
            <a:off x="841248" y="3150108"/>
            <a:ext cx="384048" cy="384048"/>
          </a:xfrm>
          <a:prstGeom prst="rect">
            <a:avLst/>
          </a:prstGeom>
          <a:noFill/>
          <a:ln/>
        </p:spPr>
        <p:txBody>
          <a:bodyPr wrap="square" lIns="0" tIns="0" rIns="0" bIns="0" rtlCol="0" anchor="ctr"/>
          <a:lstStyle/>
          <a:p>
            <a:pPr marL="0" indent="0" algn="ctr">
              <a:buNone/>
            </a:pPr>
            <a:r>
              <a:rPr lang="en-US" sz="1400" b="1" dirty="0">
                <a:solidFill>
                  <a:srgbClr val="1A1410"/>
                </a:solidFill>
                <a:latin typeface="Cambria" pitchFamily="34" charset="0"/>
                <a:ea typeface="Cambria" pitchFamily="34" charset="-122"/>
                <a:cs typeface="Cambria" pitchFamily="34" charset="-120"/>
              </a:rPr>
              <a:t>1</a:t>
            </a:r>
            <a:endParaRPr lang="en-US" sz="1400" dirty="0"/>
          </a:p>
        </p:txBody>
      </p:sp>
      <p:sp>
        <p:nvSpPr>
          <p:cNvPr id="7" name="Text 5"/>
          <p:cNvSpPr/>
          <p:nvPr/>
        </p:nvSpPr>
        <p:spPr>
          <a:xfrm>
            <a:off x="841248" y="3625596"/>
            <a:ext cx="1523939" cy="411480"/>
          </a:xfrm>
          <a:prstGeom prst="rect">
            <a:avLst/>
          </a:prstGeom>
          <a:noFill/>
          <a:ln/>
        </p:spPr>
        <p:txBody>
          <a:bodyPr wrap="square" lIns="0" tIns="0" rIns="0" bIns="0" rtlCol="0" anchor="ctr"/>
          <a:lstStyle/>
          <a:p>
            <a:pPr marL="0" indent="0">
              <a:buNone/>
            </a:pPr>
            <a:r>
              <a:rPr lang="en-US" sz="1400" b="1" dirty="0">
                <a:solidFill>
                  <a:srgbClr val="0A0A0A"/>
                </a:solidFill>
                <a:latin typeface="Cambria" pitchFamily="34" charset="0"/>
                <a:ea typeface="Cambria" pitchFamily="34" charset="-122"/>
                <a:cs typeface="Cambria" pitchFamily="34" charset="-120"/>
              </a:rPr>
              <a:t>Utilisateurs</a:t>
            </a:r>
            <a:endParaRPr lang="en-US" sz="1400" dirty="0"/>
          </a:p>
        </p:txBody>
      </p:sp>
      <p:sp>
        <p:nvSpPr>
          <p:cNvPr id="8" name="Text 6"/>
          <p:cNvSpPr/>
          <p:nvPr/>
        </p:nvSpPr>
        <p:spPr>
          <a:xfrm>
            <a:off x="841248" y="4000500"/>
            <a:ext cx="1523939" cy="777240"/>
          </a:xfrm>
          <a:prstGeom prst="rect">
            <a:avLst/>
          </a:prstGeom>
          <a:noFill/>
          <a:ln/>
        </p:spPr>
        <p:txBody>
          <a:bodyPr wrap="square" lIns="0" tIns="0" rIns="0" bIns="0" rtlCol="0" anchor="t"/>
          <a:lstStyle/>
          <a:p>
            <a:pPr marL="0" indent="0">
              <a:buNone/>
            </a:pPr>
            <a:r>
              <a:rPr lang="en-US" sz="1050" dirty="0">
                <a:solidFill>
                  <a:srgbClr val="5A5550"/>
                </a:solidFill>
                <a:latin typeface="Calibri" pitchFamily="34" charset="0"/>
                <a:ea typeface="Calibri" pitchFamily="34" charset="-122"/>
                <a:cs typeface="Calibri" pitchFamily="34" charset="-120"/>
              </a:rPr>
              <a:t>Inscription, connexion JWT, profil, suppression RGPD</a:t>
            </a:r>
            <a:endParaRPr lang="en-US" sz="1050" dirty="0"/>
          </a:p>
        </p:txBody>
      </p:sp>
      <p:sp>
        <p:nvSpPr>
          <p:cNvPr id="9" name="Shape 7"/>
          <p:cNvSpPr/>
          <p:nvPr/>
        </p:nvSpPr>
        <p:spPr>
          <a:xfrm>
            <a:off x="2886395" y="2948940"/>
            <a:ext cx="1926275" cy="1965960"/>
          </a:xfrm>
          <a:prstGeom prst="roundRect">
            <a:avLst>
              <a:gd name="adj" fmla="val 3798"/>
            </a:avLst>
          </a:prstGeom>
          <a:solidFill>
            <a:srgbClr val="FFFFFF"/>
          </a:solidFill>
          <a:ln/>
          <a:effectLst>
            <a:outerShdw blurRad="63500" dist="25400" dir="5400000" algn="bl" rotWithShape="0">
              <a:srgbClr val="000000">
                <a:alpha val="12000"/>
              </a:srgbClr>
            </a:outerShdw>
          </a:effectLst>
        </p:spPr>
        <p:txBody>
          <a:bodyPr/>
          <a:lstStyle/>
          <a:p>
            <a:endParaRPr lang="fr-FR"/>
          </a:p>
        </p:txBody>
      </p:sp>
      <p:sp>
        <p:nvSpPr>
          <p:cNvPr id="10" name="Shape 8"/>
          <p:cNvSpPr/>
          <p:nvPr/>
        </p:nvSpPr>
        <p:spPr>
          <a:xfrm>
            <a:off x="3087563" y="3150108"/>
            <a:ext cx="384048" cy="384048"/>
          </a:xfrm>
          <a:prstGeom prst="ellipse">
            <a:avLst/>
          </a:prstGeom>
          <a:solidFill>
            <a:srgbClr val="C9A96E"/>
          </a:solidFill>
          <a:ln/>
        </p:spPr>
        <p:txBody>
          <a:bodyPr/>
          <a:lstStyle/>
          <a:p>
            <a:endParaRPr lang="fr-FR"/>
          </a:p>
        </p:txBody>
      </p:sp>
      <p:sp>
        <p:nvSpPr>
          <p:cNvPr id="11" name="Text 9"/>
          <p:cNvSpPr/>
          <p:nvPr/>
        </p:nvSpPr>
        <p:spPr>
          <a:xfrm>
            <a:off x="3087563" y="3150108"/>
            <a:ext cx="384048" cy="384048"/>
          </a:xfrm>
          <a:prstGeom prst="rect">
            <a:avLst/>
          </a:prstGeom>
          <a:noFill/>
          <a:ln/>
        </p:spPr>
        <p:txBody>
          <a:bodyPr wrap="square" lIns="0" tIns="0" rIns="0" bIns="0" rtlCol="0" anchor="ctr"/>
          <a:lstStyle/>
          <a:p>
            <a:pPr marL="0" indent="0" algn="ctr">
              <a:buNone/>
            </a:pPr>
            <a:r>
              <a:rPr lang="en-US" sz="1400" b="1" dirty="0">
                <a:solidFill>
                  <a:srgbClr val="1A1410"/>
                </a:solidFill>
                <a:latin typeface="Cambria" pitchFamily="34" charset="0"/>
                <a:ea typeface="Cambria" pitchFamily="34" charset="-122"/>
                <a:cs typeface="Cambria" pitchFamily="34" charset="-120"/>
              </a:rPr>
              <a:t>2</a:t>
            </a:r>
            <a:endParaRPr lang="en-US" sz="1400" dirty="0"/>
          </a:p>
        </p:txBody>
      </p:sp>
      <p:sp>
        <p:nvSpPr>
          <p:cNvPr id="12" name="Text 10"/>
          <p:cNvSpPr/>
          <p:nvPr/>
        </p:nvSpPr>
        <p:spPr>
          <a:xfrm>
            <a:off x="3087563" y="3625596"/>
            <a:ext cx="1523939" cy="411480"/>
          </a:xfrm>
          <a:prstGeom prst="rect">
            <a:avLst/>
          </a:prstGeom>
          <a:noFill/>
          <a:ln/>
        </p:spPr>
        <p:txBody>
          <a:bodyPr wrap="square" lIns="0" tIns="0" rIns="0" bIns="0" rtlCol="0" anchor="ctr"/>
          <a:lstStyle/>
          <a:p>
            <a:pPr marL="0" indent="0">
              <a:buNone/>
            </a:pPr>
            <a:r>
              <a:rPr lang="en-US" sz="1400" b="1" dirty="0">
                <a:solidFill>
                  <a:srgbClr val="0A0A0A"/>
                </a:solidFill>
                <a:latin typeface="Cambria" pitchFamily="34" charset="0"/>
                <a:ea typeface="Cambria" pitchFamily="34" charset="-122"/>
                <a:cs typeface="Cambria" pitchFamily="34" charset="-120"/>
              </a:rPr>
              <a:t>Présentation</a:t>
            </a:r>
            <a:endParaRPr lang="en-US" sz="1400" dirty="0"/>
          </a:p>
        </p:txBody>
      </p:sp>
      <p:sp>
        <p:nvSpPr>
          <p:cNvPr id="13" name="Text 11"/>
          <p:cNvSpPr/>
          <p:nvPr/>
        </p:nvSpPr>
        <p:spPr>
          <a:xfrm>
            <a:off x="3087563" y="4000500"/>
            <a:ext cx="1523939" cy="777240"/>
          </a:xfrm>
          <a:prstGeom prst="rect">
            <a:avLst/>
          </a:prstGeom>
          <a:noFill/>
          <a:ln/>
        </p:spPr>
        <p:txBody>
          <a:bodyPr wrap="square" lIns="0" tIns="0" rIns="0" bIns="0" rtlCol="0" anchor="t"/>
          <a:lstStyle/>
          <a:p>
            <a:pPr marL="0" indent="0">
              <a:buNone/>
            </a:pPr>
            <a:r>
              <a:rPr lang="en-US" sz="1050" dirty="0">
                <a:solidFill>
                  <a:srgbClr val="5A5550"/>
                </a:solidFill>
                <a:latin typeface="Calibri" pitchFamily="34" charset="0"/>
                <a:ea typeface="Calibri" pitchFamily="34" charset="-122"/>
                <a:cs typeface="Calibri" pitchFamily="34" charset="-120"/>
              </a:rPr>
              <a:t>Menu, horaires, contact, histoire du restaurant</a:t>
            </a:r>
            <a:endParaRPr lang="en-US" sz="1050" dirty="0"/>
          </a:p>
        </p:txBody>
      </p:sp>
      <p:sp>
        <p:nvSpPr>
          <p:cNvPr id="14" name="Shape 12"/>
          <p:cNvSpPr/>
          <p:nvPr/>
        </p:nvSpPr>
        <p:spPr>
          <a:xfrm>
            <a:off x="5132710" y="2948940"/>
            <a:ext cx="1926275" cy="1965960"/>
          </a:xfrm>
          <a:prstGeom prst="roundRect">
            <a:avLst>
              <a:gd name="adj" fmla="val 3798"/>
            </a:avLst>
          </a:prstGeom>
          <a:solidFill>
            <a:srgbClr val="FFFFFF"/>
          </a:solidFill>
          <a:ln/>
          <a:effectLst>
            <a:outerShdw blurRad="63500" dist="25400" dir="5400000" algn="bl" rotWithShape="0">
              <a:srgbClr val="000000">
                <a:alpha val="12000"/>
              </a:srgbClr>
            </a:outerShdw>
          </a:effectLst>
        </p:spPr>
        <p:txBody>
          <a:bodyPr/>
          <a:lstStyle/>
          <a:p>
            <a:endParaRPr lang="fr-FR"/>
          </a:p>
        </p:txBody>
      </p:sp>
      <p:sp>
        <p:nvSpPr>
          <p:cNvPr id="15" name="Shape 13"/>
          <p:cNvSpPr/>
          <p:nvPr/>
        </p:nvSpPr>
        <p:spPr>
          <a:xfrm>
            <a:off x="5333878" y="3150108"/>
            <a:ext cx="384048" cy="384048"/>
          </a:xfrm>
          <a:prstGeom prst="ellipse">
            <a:avLst/>
          </a:prstGeom>
          <a:solidFill>
            <a:srgbClr val="C9A96E"/>
          </a:solidFill>
          <a:ln/>
        </p:spPr>
        <p:txBody>
          <a:bodyPr/>
          <a:lstStyle/>
          <a:p>
            <a:endParaRPr lang="fr-FR"/>
          </a:p>
        </p:txBody>
      </p:sp>
      <p:sp>
        <p:nvSpPr>
          <p:cNvPr id="16" name="Text 14"/>
          <p:cNvSpPr/>
          <p:nvPr/>
        </p:nvSpPr>
        <p:spPr>
          <a:xfrm>
            <a:off x="5333878" y="3150108"/>
            <a:ext cx="384048" cy="384048"/>
          </a:xfrm>
          <a:prstGeom prst="rect">
            <a:avLst/>
          </a:prstGeom>
          <a:noFill/>
          <a:ln/>
        </p:spPr>
        <p:txBody>
          <a:bodyPr wrap="square" lIns="0" tIns="0" rIns="0" bIns="0" rtlCol="0" anchor="ctr"/>
          <a:lstStyle/>
          <a:p>
            <a:pPr marL="0" indent="0" algn="ctr">
              <a:buNone/>
            </a:pPr>
            <a:r>
              <a:rPr lang="en-US" sz="1400" b="1" dirty="0">
                <a:solidFill>
                  <a:srgbClr val="1A1410"/>
                </a:solidFill>
                <a:latin typeface="Cambria" pitchFamily="34" charset="0"/>
                <a:ea typeface="Cambria" pitchFamily="34" charset="-122"/>
                <a:cs typeface="Cambria" pitchFamily="34" charset="-120"/>
              </a:rPr>
              <a:t>3</a:t>
            </a:r>
            <a:endParaRPr lang="en-US" sz="1400" dirty="0"/>
          </a:p>
        </p:txBody>
      </p:sp>
      <p:sp>
        <p:nvSpPr>
          <p:cNvPr id="17" name="Text 15"/>
          <p:cNvSpPr/>
          <p:nvPr/>
        </p:nvSpPr>
        <p:spPr>
          <a:xfrm>
            <a:off x="5333878" y="3625596"/>
            <a:ext cx="1523939" cy="411480"/>
          </a:xfrm>
          <a:prstGeom prst="rect">
            <a:avLst/>
          </a:prstGeom>
          <a:noFill/>
          <a:ln/>
        </p:spPr>
        <p:txBody>
          <a:bodyPr wrap="square" lIns="0" tIns="0" rIns="0" bIns="0" rtlCol="0" anchor="ctr"/>
          <a:lstStyle/>
          <a:p>
            <a:pPr marL="0" indent="0">
              <a:buNone/>
            </a:pPr>
            <a:r>
              <a:rPr lang="en-US" sz="1400" b="1" dirty="0">
                <a:solidFill>
                  <a:srgbClr val="0A0A0A"/>
                </a:solidFill>
                <a:latin typeface="Cambria" pitchFamily="34" charset="0"/>
                <a:ea typeface="Cambria" pitchFamily="34" charset="-122"/>
                <a:cs typeface="Cambria" pitchFamily="34" charset="-120"/>
              </a:rPr>
              <a:t>Réservations</a:t>
            </a:r>
            <a:endParaRPr lang="en-US" sz="1400" dirty="0"/>
          </a:p>
        </p:txBody>
      </p:sp>
      <p:sp>
        <p:nvSpPr>
          <p:cNvPr id="18" name="Text 16"/>
          <p:cNvSpPr/>
          <p:nvPr/>
        </p:nvSpPr>
        <p:spPr>
          <a:xfrm>
            <a:off x="5333878" y="4000500"/>
            <a:ext cx="1523939" cy="777240"/>
          </a:xfrm>
          <a:prstGeom prst="rect">
            <a:avLst/>
          </a:prstGeom>
          <a:noFill/>
          <a:ln/>
        </p:spPr>
        <p:txBody>
          <a:bodyPr wrap="square" lIns="0" tIns="0" rIns="0" bIns="0" rtlCol="0" anchor="t"/>
          <a:lstStyle/>
          <a:p>
            <a:pPr marL="0" indent="0">
              <a:buNone/>
            </a:pPr>
            <a:r>
              <a:rPr lang="en-US" sz="1050" dirty="0">
                <a:solidFill>
                  <a:srgbClr val="5A5550"/>
                </a:solidFill>
                <a:latin typeface="Calibri" pitchFamily="34" charset="0"/>
                <a:ea typeface="Calibri" pitchFamily="34" charset="-122"/>
                <a:cs typeface="Calibri" pitchFamily="34" charset="-120"/>
              </a:rPr>
              <a:t>Disponibilités en temps réel, création, annulation, email</a:t>
            </a:r>
            <a:endParaRPr lang="en-US" sz="1050" dirty="0"/>
          </a:p>
        </p:txBody>
      </p:sp>
      <p:sp>
        <p:nvSpPr>
          <p:cNvPr id="19" name="Shape 17"/>
          <p:cNvSpPr/>
          <p:nvPr/>
        </p:nvSpPr>
        <p:spPr>
          <a:xfrm>
            <a:off x="7379025" y="2948940"/>
            <a:ext cx="1926275" cy="1965960"/>
          </a:xfrm>
          <a:prstGeom prst="roundRect">
            <a:avLst>
              <a:gd name="adj" fmla="val 3798"/>
            </a:avLst>
          </a:prstGeom>
          <a:solidFill>
            <a:srgbClr val="FFFFFF"/>
          </a:solidFill>
          <a:ln/>
          <a:effectLst>
            <a:outerShdw blurRad="63500" dist="25400" dir="5400000" algn="bl" rotWithShape="0">
              <a:srgbClr val="000000">
                <a:alpha val="12000"/>
              </a:srgbClr>
            </a:outerShdw>
          </a:effectLst>
        </p:spPr>
        <p:txBody>
          <a:bodyPr/>
          <a:lstStyle/>
          <a:p>
            <a:endParaRPr lang="fr-FR"/>
          </a:p>
        </p:txBody>
      </p:sp>
      <p:sp>
        <p:nvSpPr>
          <p:cNvPr id="20" name="Shape 18"/>
          <p:cNvSpPr/>
          <p:nvPr/>
        </p:nvSpPr>
        <p:spPr>
          <a:xfrm>
            <a:off x="7580193" y="3150108"/>
            <a:ext cx="384048" cy="384048"/>
          </a:xfrm>
          <a:prstGeom prst="ellipse">
            <a:avLst/>
          </a:prstGeom>
          <a:solidFill>
            <a:srgbClr val="C9A96E"/>
          </a:solidFill>
          <a:ln/>
        </p:spPr>
        <p:txBody>
          <a:bodyPr/>
          <a:lstStyle/>
          <a:p>
            <a:endParaRPr lang="fr-FR"/>
          </a:p>
        </p:txBody>
      </p:sp>
      <p:sp>
        <p:nvSpPr>
          <p:cNvPr id="21" name="Text 19"/>
          <p:cNvSpPr/>
          <p:nvPr/>
        </p:nvSpPr>
        <p:spPr>
          <a:xfrm>
            <a:off x="7580193" y="3150108"/>
            <a:ext cx="384048" cy="384048"/>
          </a:xfrm>
          <a:prstGeom prst="rect">
            <a:avLst/>
          </a:prstGeom>
          <a:noFill/>
          <a:ln/>
        </p:spPr>
        <p:txBody>
          <a:bodyPr wrap="square" lIns="0" tIns="0" rIns="0" bIns="0" rtlCol="0" anchor="ctr"/>
          <a:lstStyle/>
          <a:p>
            <a:pPr marL="0" indent="0" algn="ctr">
              <a:buNone/>
            </a:pPr>
            <a:r>
              <a:rPr lang="en-US" sz="1400" b="1" dirty="0">
                <a:solidFill>
                  <a:srgbClr val="1A1410"/>
                </a:solidFill>
                <a:latin typeface="Cambria" pitchFamily="34" charset="0"/>
                <a:ea typeface="Cambria" pitchFamily="34" charset="-122"/>
                <a:cs typeface="Cambria" pitchFamily="34" charset="-120"/>
              </a:rPr>
              <a:t>4</a:t>
            </a:r>
            <a:endParaRPr lang="en-US" sz="1400" dirty="0"/>
          </a:p>
        </p:txBody>
      </p:sp>
      <p:sp>
        <p:nvSpPr>
          <p:cNvPr id="22" name="Text 20"/>
          <p:cNvSpPr/>
          <p:nvPr/>
        </p:nvSpPr>
        <p:spPr>
          <a:xfrm>
            <a:off x="7580193" y="3625596"/>
            <a:ext cx="1523939" cy="411480"/>
          </a:xfrm>
          <a:prstGeom prst="rect">
            <a:avLst/>
          </a:prstGeom>
          <a:noFill/>
          <a:ln/>
        </p:spPr>
        <p:txBody>
          <a:bodyPr wrap="square" lIns="0" tIns="0" rIns="0" bIns="0" rtlCol="0" anchor="ctr"/>
          <a:lstStyle/>
          <a:p>
            <a:pPr marL="0" indent="0">
              <a:buNone/>
            </a:pPr>
            <a:r>
              <a:rPr lang="en-US" sz="1400" b="1" dirty="0">
                <a:solidFill>
                  <a:srgbClr val="0A0A0A"/>
                </a:solidFill>
                <a:latin typeface="Cambria" pitchFamily="34" charset="0"/>
                <a:ea typeface="Cambria" pitchFamily="34" charset="-122"/>
                <a:cs typeface="Cambria" pitchFamily="34" charset="-120"/>
              </a:rPr>
              <a:t>Fidélité</a:t>
            </a:r>
            <a:endParaRPr lang="en-US" sz="1400" dirty="0"/>
          </a:p>
        </p:txBody>
      </p:sp>
      <p:sp>
        <p:nvSpPr>
          <p:cNvPr id="23" name="Text 21"/>
          <p:cNvSpPr/>
          <p:nvPr/>
        </p:nvSpPr>
        <p:spPr>
          <a:xfrm>
            <a:off x="7580193" y="4000500"/>
            <a:ext cx="1523939" cy="777240"/>
          </a:xfrm>
          <a:prstGeom prst="rect">
            <a:avLst/>
          </a:prstGeom>
          <a:noFill/>
          <a:ln/>
        </p:spPr>
        <p:txBody>
          <a:bodyPr wrap="square" lIns="0" tIns="0" rIns="0" bIns="0" rtlCol="0" anchor="t"/>
          <a:lstStyle/>
          <a:p>
            <a:pPr marL="0" indent="0">
              <a:buNone/>
            </a:pPr>
            <a:r>
              <a:rPr lang="en-US" sz="1050" dirty="0">
                <a:solidFill>
                  <a:srgbClr val="5A5550"/>
                </a:solidFill>
                <a:latin typeface="Calibri" pitchFamily="34" charset="0"/>
                <a:ea typeface="Calibri" pitchFamily="34" charset="-122"/>
                <a:cs typeface="Calibri" pitchFamily="34" charset="-120"/>
              </a:rPr>
              <a:t>Points automatiques, niveaux, échange de récompenses</a:t>
            </a:r>
            <a:endParaRPr lang="en-US" sz="1050" dirty="0"/>
          </a:p>
        </p:txBody>
      </p:sp>
      <p:sp>
        <p:nvSpPr>
          <p:cNvPr id="24" name="Shape 22"/>
          <p:cNvSpPr/>
          <p:nvPr/>
        </p:nvSpPr>
        <p:spPr>
          <a:xfrm>
            <a:off x="9625340" y="2948940"/>
            <a:ext cx="1926275" cy="1965960"/>
          </a:xfrm>
          <a:prstGeom prst="roundRect">
            <a:avLst>
              <a:gd name="adj" fmla="val 3798"/>
            </a:avLst>
          </a:prstGeom>
          <a:solidFill>
            <a:srgbClr val="FFFFFF"/>
          </a:solidFill>
          <a:ln/>
          <a:effectLst>
            <a:outerShdw blurRad="63500" dist="25400" dir="5400000" algn="bl" rotWithShape="0">
              <a:srgbClr val="000000">
                <a:alpha val="12000"/>
              </a:srgbClr>
            </a:outerShdw>
          </a:effectLst>
        </p:spPr>
        <p:txBody>
          <a:bodyPr/>
          <a:lstStyle/>
          <a:p>
            <a:endParaRPr lang="fr-FR"/>
          </a:p>
        </p:txBody>
      </p:sp>
      <p:sp>
        <p:nvSpPr>
          <p:cNvPr id="25" name="Shape 23"/>
          <p:cNvSpPr/>
          <p:nvPr/>
        </p:nvSpPr>
        <p:spPr>
          <a:xfrm>
            <a:off x="9826508" y="3150108"/>
            <a:ext cx="384048" cy="384048"/>
          </a:xfrm>
          <a:prstGeom prst="ellipse">
            <a:avLst/>
          </a:prstGeom>
          <a:solidFill>
            <a:srgbClr val="C9A96E"/>
          </a:solidFill>
          <a:ln/>
        </p:spPr>
        <p:txBody>
          <a:bodyPr/>
          <a:lstStyle/>
          <a:p>
            <a:endParaRPr lang="fr-FR"/>
          </a:p>
        </p:txBody>
      </p:sp>
      <p:sp>
        <p:nvSpPr>
          <p:cNvPr id="26" name="Text 24"/>
          <p:cNvSpPr/>
          <p:nvPr/>
        </p:nvSpPr>
        <p:spPr>
          <a:xfrm>
            <a:off x="9826508" y="3150108"/>
            <a:ext cx="384048" cy="384048"/>
          </a:xfrm>
          <a:prstGeom prst="rect">
            <a:avLst/>
          </a:prstGeom>
          <a:noFill/>
          <a:ln/>
        </p:spPr>
        <p:txBody>
          <a:bodyPr wrap="square" lIns="0" tIns="0" rIns="0" bIns="0" rtlCol="0" anchor="ctr"/>
          <a:lstStyle/>
          <a:p>
            <a:pPr marL="0" indent="0" algn="ctr">
              <a:buNone/>
            </a:pPr>
            <a:r>
              <a:rPr lang="en-US" sz="1400" b="1" dirty="0">
                <a:solidFill>
                  <a:srgbClr val="1A1410"/>
                </a:solidFill>
                <a:latin typeface="Cambria" pitchFamily="34" charset="0"/>
                <a:ea typeface="Cambria" pitchFamily="34" charset="-122"/>
                <a:cs typeface="Cambria" pitchFamily="34" charset="-120"/>
              </a:rPr>
              <a:t>5</a:t>
            </a:r>
            <a:endParaRPr lang="en-US" sz="1400" dirty="0"/>
          </a:p>
        </p:txBody>
      </p:sp>
      <p:sp>
        <p:nvSpPr>
          <p:cNvPr id="27" name="Text 25"/>
          <p:cNvSpPr/>
          <p:nvPr/>
        </p:nvSpPr>
        <p:spPr>
          <a:xfrm>
            <a:off x="9826508" y="3625596"/>
            <a:ext cx="1523939" cy="411480"/>
          </a:xfrm>
          <a:prstGeom prst="rect">
            <a:avLst/>
          </a:prstGeom>
          <a:noFill/>
          <a:ln/>
        </p:spPr>
        <p:txBody>
          <a:bodyPr wrap="square" lIns="0" tIns="0" rIns="0" bIns="0" rtlCol="0" anchor="ctr"/>
          <a:lstStyle/>
          <a:p>
            <a:pPr marL="0" indent="0">
              <a:buNone/>
            </a:pPr>
            <a:r>
              <a:rPr lang="en-US" sz="1400" b="1" dirty="0">
                <a:solidFill>
                  <a:srgbClr val="0A0A0A"/>
                </a:solidFill>
                <a:latin typeface="Cambria" pitchFamily="34" charset="0"/>
                <a:ea typeface="Cambria" pitchFamily="34" charset="-122"/>
                <a:cs typeface="Cambria" pitchFamily="34" charset="-120"/>
              </a:rPr>
              <a:t>Administration</a:t>
            </a:r>
            <a:endParaRPr lang="en-US" sz="1400" dirty="0"/>
          </a:p>
        </p:txBody>
      </p:sp>
      <p:sp>
        <p:nvSpPr>
          <p:cNvPr id="28" name="Text 26"/>
          <p:cNvSpPr/>
          <p:nvPr/>
        </p:nvSpPr>
        <p:spPr>
          <a:xfrm>
            <a:off x="9826508" y="4000500"/>
            <a:ext cx="1523939" cy="777240"/>
          </a:xfrm>
          <a:prstGeom prst="rect">
            <a:avLst/>
          </a:prstGeom>
          <a:noFill/>
          <a:ln/>
        </p:spPr>
        <p:txBody>
          <a:bodyPr wrap="square" lIns="0" tIns="0" rIns="0" bIns="0" rtlCol="0" anchor="t"/>
          <a:lstStyle/>
          <a:p>
            <a:pPr marL="0" indent="0">
              <a:buNone/>
            </a:pPr>
            <a:r>
              <a:rPr lang="en-US" sz="1050" dirty="0">
                <a:solidFill>
                  <a:srgbClr val="5A5550"/>
                </a:solidFill>
                <a:latin typeface="Calibri" pitchFamily="34" charset="0"/>
                <a:ea typeface="Calibri" pitchFamily="34" charset="-122"/>
                <a:cs typeface="Calibri" pitchFamily="34" charset="-120"/>
              </a:rPr>
              <a:t>Tableau de bord, gestion tables/créneaux/clients</a:t>
            </a:r>
            <a:endParaRPr lang="en-US" sz="1050" dirty="0"/>
          </a:p>
        </p:txBody>
      </p:sp>
      <p:sp>
        <p:nvSpPr>
          <p:cNvPr id="29" name="Text 27"/>
          <p:cNvSpPr/>
          <p:nvPr/>
        </p:nvSpPr>
        <p:spPr>
          <a:xfrm>
            <a:off x="640080" y="6473952"/>
            <a:ext cx="7315200" cy="274320"/>
          </a:xfrm>
          <a:prstGeom prst="rect">
            <a:avLst/>
          </a:prstGeom>
          <a:noFill/>
          <a:ln/>
        </p:spPr>
        <p:txBody>
          <a:bodyPr wrap="square" rtlCol="0" anchor="ctr"/>
          <a:lstStyle/>
          <a:p>
            <a:pPr marL="0" indent="0" algn="l">
              <a:buNone/>
            </a:pPr>
            <a:r>
              <a:rPr lang="en-US" sz="900" dirty="0">
                <a:solidFill>
                  <a:srgbClr val="5A5550"/>
                </a:solidFill>
                <a:latin typeface="Calibri" pitchFamily="34" charset="0"/>
                <a:ea typeface="Calibri" pitchFamily="34" charset="-122"/>
                <a:cs typeface="Calibri" pitchFamily="34" charset="-120"/>
              </a:rPr>
              <a:t>Amoura — Soutenance CDA 2026</a:t>
            </a:r>
            <a:endParaRPr lang="en-US" sz="900" dirty="0"/>
          </a:p>
        </p:txBody>
      </p:sp>
      <p:sp>
        <p:nvSpPr>
          <p:cNvPr id="30" name="Text 28"/>
          <p:cNvSpPr/>
          <p:nvPr/>
        </p:nvSpPr>
        <p:spPr>
          <a:xfrm>
            <a:off x="11002975" y="6473952"/>
            <a:ext cx="548640" cy="274320"/>
          </a:xfrm>
          <a:prstGeom prst="rect">
            <a:avLst/>
          </a:prstGeom>
          <a:noFill/>
          <a:ln/>
        </p:spPr>
        <p:txBody>
          <a:bodyPr wrap="square" rtlCol="0" anchor="ctr"/>
          <a:lstStyle/>
          <a:p>
            <a:pPr marL="0" indent="0" algn="r">
              <a:buNone/>
            </a:pPr>
            <a:r>
              <a:rPr lang="en-US" sz="900" dirty="0">
                <a:solidFill>
                  <a:srgbClr val="5A555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8F5"/>
        </a:solidFill>
        <a:effectLst/>
      </p:bgPr>
    </p:bg>
    <p:spTree>
      <p:nvGrpSpPr>
        <p:cNvPr id="1" name=""/>
        <p:cNvGrpSpPr/>
        <p:nvPr/>
      </p:nvGrpSpPr>
      <p:grpSpPr>
        <a:xfrm>
          <a:off x="0" y="0"/>
          <a:ext cx="0" cy="0"/>
          <a:chOff x="0" y="0"/>
          <a:chExt cx="0" cy="0"/>
        </a:xfrm>
      </p:grpSpPr>
      <p:sp>
        <p:nvSpPr>
          <p:cNvPr id="2" name="Text 0"/>
          <p:cNvSpPr/>
          <p:nvPr/>
        </p:nvSpPr>
        <p:spPr>
          <a:xfrm>
            <a:off x="640080" y="411480"/>
            <a:ext cx="10911535" cy="320040"/>
          </a:xfrm>
          <a:prstGeom prst="rect">
            <a:avLst/>
          </a:prstGeom>
          <a:noFill/>
          <a:ln/>
        </p:spPr>
        <p:txBody>
          <a:bodyPr wrap="square" rtlCol="0" anchor="ctr"/>
          <a:lstStyle/>
          <a:p>
            <a:pPr marL="0" indent="0">
              <a:buNone/>
            </a:pPr>
            <a:r>
              <a:rPr lang="en-US" sz="1200" b="1" kern="0" spc="250" dirty="0">
                <a:solidFill>
                  <a:srgbClr val="C9A96E"/>
                </a:solidFill>
                <a:latin typeface="Calibri" pitchFamily="34" charset="0"/>
                <a:ea typeface="Calibri" pitchFamily="34" charset="-122"/>
                <a:cs typeface="Calibri" pitchFamily="34" charset="-120"/>
              </a:rPr>
              <a:t>EXIGENCES TECHNIQUES</a:t>
            </a:r>
            <a:endParaRPr lang="en-US" sz="1200" dirty="0"/>
          </a:p>
        </p:txBody>
      </p:sp>
      <p:sp>
        <p:nvSpPr>
          <p:cNvPr id="3" name="Text 1"/>
          <p:cNvSpPr/>
          <p:nvPr/>
        </p:nvSpPr>
        <p:spPr>
          <a:xfrm>
            <a:off x="640080" y="713232"/>
            <a:ext cx="10911535" cy="640080"/>
          </a:xfrm>
          <a:prstGeom prst="rect">
            <a:avLst/>
          </a:prstGeom>
          <a:noFill/>
          <a:ln/>
        </p:spPr>
        <p:txBody>
          <a:bodyPr wrap="square" rtlCol="0" anchor="ctr"/>
          <a:lstStyle/>
          <a:p>
            <a:pPr marL="0" indent="0">
              <a:buNone/>
            </a:pPr>
            <a:r>
              <a:rPr lang="en-US" sz="2800" b="1" dirty="0">
                <a:solidFill>
                  <a:srgbClr val="0A0A0A"/>
                </a:solidFill>
                <a:latin typeface="Cambria" pitchFamily="34" charset="0"/>
                <a:ea typeface="Cambria" pitchFamily="34" charset="-122"/>
                <a:cs typeface="Cambria" pitchFamily="34" charset="-120"/>
              </a:rPr>
              <a:t>La stack retenue, et pourquoi</a:t>
            </a:r>
            <a:endParaRPr lang="en-US" sz="2800" dirty="0"/>
          </a:p>
        </p:txBody>
      </p:sp>
      <p:sp>
        <p:nvSpPr>
          <p:cNvPr id="4" name="Shape 2"/>
          <p:cNvSpPr/>
          <p:nvPr/>
        </p:nvSpPr>
        <p:spPr>
          <a:xfrm>
            <a:off x="640080" y="1988820"/>
            <a:ext cx="5181448" cy="3886200"/>
          </a:xfrm>
          <a:prstGeom prst="roundRect">
            <a:avLst>
              <a:gd name="adj" fmla="val 1882"/>
            </a:avLst>
          </a:prstGeom>
          <a:solidFill>
            <a:srgbClr val="FFFFFF"/>
          </a:solidFill>
          <a:ln/>
          <a:effectLst>
            <a:outerShdw blurRad="63500" dist="25400" dir="5400000" algn="bl" rotWithShape="0">
              <a:srgbClr val="000000">
                <a:alpha val="10000"/>
              </a:srgbClr>
            </a:outerShdw>
          </a:effectLst>
        </p:spPr>
        <p:txBody>
          <a:bodyPr/>
          <a:lstStyle/>
          <a:p>
            <a:endParaRPr lang="fr-FR"/>
          </a:p>
        </p:txBody>
      </p:sp>
      <p:sp>
        <p:nvSpPr>
          <p:cNvPr id="5" name="Text 3"/>
          <p:cNvSpPr/>
          <p:nvPr/>
        </p:nvSpPr>
        <p:spPr>
          <a:xfrm>
            <a:off x="932688" y="2244852"/>
            <a:ext cx="4596232" cy="411480"/>
          </a:xfrm>
          <a:prstGeom prst="rect">
            <a:avLst/>
          </a:prstGeom>
          <a:noFill/>
          <a:ln/>
        </p:spPr>
        <p:txBody>
          <a:bodyPr wrap="square" lIns="0" tIns="0" rIns="0" bIns="0" rtlCol="0" anchor="ctr"/>
          <a:lstStyle/>
          <a:p>
            <a:pPr marL="0" indent="0">
              <a:buNone/>
            </a:pPr>
            <a:r>
              <a:rPr lang="en-US" sz="1600" b="1" dirty="0">
                <a:solidFill>
                  <a:srgbClr val="C9A96E"/>
                </a:solidFill>
                <a:latin typeface="Cambria" pitchFamily="34" charset="0"/>
                <a:ea typeface="Cambria" pitchFamily="34" charset="-122"/>
                <a:cs typeface="Cambria" pitchFamily="34" charset="-120"/>
              </a:rPr>
              <a:t>La stack</a:t>
            </a:r>
            <a:endParaRPr lang="en-US" sz="1600" dirty="0"/>
          </a:p>
        </p:txBody>
      </p:sp>
      <p:sp>
        <p:nvSpPr>
          <p:cNvPr id="6" name="Text 4"/>
          <p:cNvSpPr/>
          <p:nvPr/>
        </p:nvSpPr>
        <p:spPr>
          <a:xfrm>
            <a:off x="932688" y="2766060"/>
            <a:ext cx="4596232" cy="2926080"/>
          </a:xfrm>
          <a:prstGeom prst="rect">
            <a:avLst/>
          </a:prstGeom>
          <a:noFill/>
          <a:ln/>
        </p:spPr>
        <p:txBody>
          <a:bodyPr wrap="square" lIns="0" tIns="0" rIns="0" bIns="0" rtlCol="0" anchor="t"/>
          <a:lstStyle/>
          <a:p>
            <a:pPr marL="203200" indent="-203200">
              <a:spcAft>
                <a:spcPts val="1200"/>
              </a:spcAft>
              <a:buSzPct val="100000"/>
              <a:buChar char="●"/>
            </a:pPr>
            <a:r>
              <a:rPr lang="en-US" sz="1250" dirty="0">
                <a:solidFill>
                  <a:srgbClr val="0A0A0A"/>
                </a:solidFill>
                <a:latin typeface="Calibri" pitchFamily="34" charset="0"/>
                <a:ea typeface="Calibri" pitchFamily="34" charset="-122"/>
                <a:cs typeface="Calibri" pitchFamily="34" charset="-120"/>
              </a:rPr>
              <a:t>PHP 8.3 + Symfony 7.4 — API REST</a:t>
            </a:r>
            <a:endParaRPr lang="en-US" sz="1250" dirty="0"/>
          </a:p>
          <a:p>
            <a:pPr marL="203200" indent="-203200">
              <a:spcAft>
                <a:spcPts val="1200"/>
              </a:spcAft>
              <a:buSzPct val="100000"/>
              <a:buChar char="●"/>
            </a:pPr>
            <a:r>
              <a:rPr lang="en-US" sz="1250" dirty="0">
                <a:solidFill>
                  <a:srgbClr val="0A0A0A"/>
                </a:solidFill>
                <a:latin typeface="Calibri" pitchFamily="34" charset="0"/>
                <a:ea typeface="Calibri" pitchFamily="34" charset="-122"/>
                <a:cs typeface="Calibri" pitchFamily="34" charset="-120"/>
              </a:rPr>
              <a:t>React 19 + Vite — SPA frontend</a:t>
            </a:r>
            <a:endParaRPr lang="en-US" sz="1250" dirty="0"/>
          </a:p>
          <a:p>
            <a:pPr marL="203200" indent="-203200">
              <a:spcAft>
                <a:spcPts val="1200"/>
              </a:spcAft>
              <a:buSzPct val="100000"/>
              <a:buChar char="●"/>
            </a:pPr>
            <a:r>
              <a:rPr lang="en-US" sz="1250" dirty="0">
                <a:solidFill>
                  <a:srgbClr val="0A0A0A"/>
                </a:solidFill>
                <a:latin typeface="Calibri" pitchFamily="34" charset="0"/>
                <a:ea typeface="Calibri" pitchFamily="34" charset="-122"/>
                <a:cs typeface="Calibri" pitchFamily="34" charset="-120"/>
              </a:rPr>
              <a:t>MariaDB 11 + Doctrine ORM</a:t>
            </a:r>
            <a:endParaRPr lang="en-US" sz="1250" dirty="0"/>
          </a:p>
          <a:p>
            <a:pPr marL="203200" indent="-203200">
              <a:spcAft>
                <a:spcPts val="1200"/>
              </a:spcAft>
              <a:buSzPct val="100000"/>
              <a:buChar char="●"/>
            </a:pPr>
            <a:r>
              <a:rPr lang="en-US" sz="1250" dirty="0">
                <a:solidFill>
                  <a:srgbClr val="0A0A0A"/>
                </a:solidFill>
                <a:latin typeface="Calibri" pitchFamily="34" charset="0"/>
                <a:ea typeface="Calibri" pitchFamily="34" charset="-122"/>
                <a:cs typeface="Calibri" pitchFamily="34" charset="-120"/>
              </a:rPr>
              <a:t>JWT (LexikJWTAuthenticationBundle)</a:t>
            </a:r>
            <a:endParaRPr lang="en-US" sz="1250" dirty="0"/>
          </a:p>
          <a:p>
            <a:pPr marL="203200" indent="-203200">
              <a:spcAft>
                <a:spcPts val="1200"/>
              </a:spcAft>
              <a:buSzPct val="100000"/>
              <a:buChar char="●"/>
            </a:pPr>
            <a:r>
              <a:rPr lang="en-US" sz="1250" dirty="0">
                <a:solidFill>
                  <a:srgbClr val="0A0A0A"/>
                </a:solidFill>
                <a:latin typeface="Calibri" pitchFamily="34" charset="0"/>
                <a:ea typeface="Calibri" pitchFamily="34" charset="-122"/>
                <a:cs typeface="Calibri" pitchFamily="34" charset="-120"/>
              </a:rPr>
              <a:t>Docker &amp; Docker Compose</a:t>
            </a:r>
            <a:endParaRPr lang="en-US" sz="1250" dirty="0"/>
          </a:p>
        </p:txBody>
      </p:sp>
      <p:sp>
        <p:nvSpPr>
          <p:cNvPr id="7" name="Shape 5"/>
          <p:cNvSpPr/>
          <p:nvPr/>
        </p:nvSpPr>
        <p:spPr>
          <a:xfrm>
            <a:off x="6370168" y="1988820"/>
            <a:ext cx="5181448" cy="3886200"/>
          </a:xfrm>
          <a:prstGeom prst="roundRect">
            <a:avLst>
              <a:gd name="adj" fmla="val 1882"/>
            </a:avLst>
          </a:prstGeom>
          <a:solidFill>
            <a:srgbClr val="FFFFFF"/>
          </a:solidFill>
          <a:ln/>
          <a:effectLst>
            <a:outerShdw blurRad="63500" dist="25400" dir="5400000" algn="bl" rotWithShape="0">
              <a:srgbClr val="000000">
                <a:alpha val="10000"/>
              </a:srgbClr>
            </a:outerShdw>
          </a:effectLst>
        </p:spPr>
        <p:txBody>
          <a:bodyPr/>
          <a:lstStyle/>
          <a:p>
            <a:endParaRPr lang="fr-FR"/>
          </a:p>
        </p:txBody>
      </p:sp>
      <p:sp>
        <p:nvSpPr>
          <p:cNvPr id="8" name="Text 6"/>
          <p:cNvSpPr/>
          <p:nvPr/>
        </p:nvSpPr>
        <p:spPr>
          <a:xfrm>
            <a:off x="6662776" y="2244852"/>
            <a:ext cx="4596232" cy="411480"/>
          </a:xfrm>
          <a:prstGeom prst="rect">
            <a:avLst/>
          </a:prstGeom>
          <a:noFill/>
          <a:ln/>
        </p:spPr>
        <p:txBody>
          <a:bodyPr wrap="square" lIns="0" tIns="0" rIns="0" bIns="0" rtlCol="0" anchor="ctr"/>
          <a:lstStyle/>
          <a:p>
            <a:pPr marL="0" indent="0">
              <a:buNone/>
            </a:pPr>
            <a:r>
              <a:rPr lang="en-US" sz="1600" b="1" dirty="0">
                <a:solidFill>
                  <a:srgbClr val="C9A96E"/>
                </a:solidFill>
                <a:latin typeface="Cambria" pitchFamily="34" charset="0"/>
                <a:ea typeface="Cambria" pitchFamily="34" charset="-122"/>
                <a:cs typeface="Cambria" pitchFamily="34" charset="-120"/>
              </a:rPr>
              <a:t>Pourquoi ces choix</a:t>
            </a:r>
            <a:endParaRPr lang="en-US" sz="1600" dirty="0"/>
          </a:p>
        </p:txBody>
      </p:sp>
      <p:sp>
        <p:nvSpPr>
          <p:cNvPr id="9" name="Text 7"/>
          <p:cNvSpPr/>
          <p:nvPr/>
        </p:nvSpPr>
        <p:spPr>
          <a:xfrm>
            <a:off x="6662776" y="2766060"/>
            <a:ext cx="4596232" cy="2926080"/>
          </a:xfrm>
          <a:prstGeom prst="rect">
            <a:avLst/>
          </a:prstGeom>
          <a:noFill/>
          <a:ln/>
        </p:spPr>
        <p:txBody>
          <a:bodyPr wrap="square" lIns="0" tIns="0" rIns="0" bIns="0" rtlCol="0" anchor="t"/>
          <a:lstStyle/>
          <a:p>
            <a:pPr marL="203200" indent="-203200">
              <a:spcAft>
                <a:spcPts val="1200"/>
              </a:spcAft>
              <a:buSzPct val="100000"/>
              <a:buChar char="●"/>
            </a:pPr>
            <a:r>
              <a:rPr lang="en-US" sz="1250" dirty="0">
                <a:solidFill>
                  <a:srgbClr val="0A0A0A"/>
                </a:solidFill>
                <a:latin typeface="Calibri" pitchFamily="34" charset="0"/>
                <a:ea typeface="Calibri" pitchFamily="34" charset="-122"/>
                <a:cs typeface="Calibri" pitchFamily="34" charset="-120"/>
              </a:rPr>
              <a:t>API + SPA séparée : disponibilités réactives sans rechargement de page</a:t>
            </a:r>
            <a:endParaRPr lang="en-US" sz="1250" dirty="0"/>
          </a:p>
          <a:p>
            <a:pPr marL="203200" indent="-203200">
              <a:spcAft>
                <a:spcPts val="1200"/>
              </a:spcAft>
              <a:buSzPct val="100000"/>
              <a:buChar char="●"/>
            </a:pPr>
            <a:r>
              <a:rPr lang="en-US" sz="1250" dirty="0">
                <a:solidFill>
                  <a:srgbClr val="0A0A0A"/>
                </a:solidFill>
                <a:latin typeface="Calibri" pitchFamily="34" charset="0"/>
                <a:ea typeface="Calibri" pitchFamily="34" charset="-122"/>
                <a:cs typeface="Calibri" pitchFamily="34" charset="-120"/>
              </a:rPr>
              <a:t>Symfony imposé par le référentiel CDA</a:t>
            </a:r>
            <a:endParaRPr lang="en-US" sz="1250" dirty="0"/>
          </a:p>
          <a:p>
            <a:pPr marL="203200" indent="-203200">
              <a:spcAft>
                <a:spcPts val="1200"/>
              </a:spcAft>
              <a:buSzPct val="100000"/>
              <a:buChar char="●"/>
            </a:pPr>
            <a:r>
              <a:rPr lang="en-US" sz="1250" dirty="0">
                <a:solidFill>
                  <a:srgbClr val="0A0A0A"/>
                </a:solidFill>
                <a:latin typeface="Calibri" pitchFamily="34" charset="0"/>
                <a:ea typeface="Calibri" pitchFamily="34" charset="-122"/>
                <a:cs typeface="Calibri" pitchFamily="34" charset="-120"/>
              </a:rPr>
              <a:t>React : courbe d'apprentissage adaptée à un projet solo</a:t>
            </a:r>
            <a:endParaRPr lang="en-US" sz="1250" dirty="0"/>
          </a:p>
          <a:p>
            <a:pPr marL="203200" indent="-203200">
              <a:spcAft>
                <a:spcPts val="1200"/>
              </a:spcAft>
              <a:buSzPct val="100000"/>
              <a:buChar char="●"/>
            </a:pPr>
            <a:r>
              <a:rPr lang="en-US" sz="1250" dirty="0">
                <a:solidFill>
                  <a:srgbClr val="0A0A0A"/>
                </a:solidFill>
                <a:latin typeface="Calibri" pitchFamily="34" charset="0"/>
                <a:ea typeface="Calibri" pitchFamily="34" charset="-122"/>
                <a:cs typeface="Calibri" pitchFamily="34" charset="-120"/>
              </a:rPr>
              <a:t>JWT : cohérent avec une architecture API stateless</a:t>
            </a:r>
            <a:endParaRPr lang="en-US" sz="1250" dirty="0"/>
          </a:p>
          <a:p>
            <a:pPr marL="203200" indent="-203200">
              <a:spcAft>
                <a:spcPts val="1200"/>
              </a:spcAft>
              <a:buSzPct val="100000"/>
              <a:buChar char="●"/>
            </a:pPr>
            <a:r>
              <a:rPr lang="en-US" sz="1250" dirty="0">
                <a:solidFill>
                  <a:srgbClr val="0A0A0A"/>
                </a:solidFill>
                <a:latin typeface="Calibri" pitchFamily="34" charset="0"/>
                <a:ea typeface="Calibri" pitchFamily="34" charset="-122"/>
                <a:cs typeface="Calibri" pitchFamily="34" charset="-120"/>
              </a:rPr>
              <a:t>Docker : reproductibilité, exigence du CDA</a:t>
            </a:r>
            <a:endParaRPr lang="en-US" sz="1250" dirty="0"/>
          </a:p>
        </p:txBody>
      </p:sp>
      <p:sp>
        <p:nvSpPr>
          <p:cNvPr id="10" name="Text 8"/>
          <p:cNvSpPr/>
          <p:nvPr/>
        </p:nvSpPr>
        <p:spPr>
          <a:xfrm>
            <a:off x="640080" y="6473952"/>
            <a:ext cx="7315200" cy="274320"/>
          </a:xfrm>
          <a:prstGeom prst="rect">
            <a:avLst/>
          </a:prstGeom>
          <a:noFill/>
          <a:ln/>
        </p:spPr>
        <p:txBody>
          <a:bodyPr wrap="square" rtlCol="0" anchor="ctr"/>
          <a:lstStyle/>
          <a:p>
            <a:pPr marL="0" indent="0" algn="l">
              <a:buNone/>
            </a:pPr>
            <a:r>
              <a:rPr lang="en-US" sz="900" dirty="0">
                <a:solidFill>
                  <a:srgbClr val="5A5550"/>
                </a:solidFill>
                <a:latin typeface="Calibri" pitchFamily="34" charset="0"/>
                <a:ea typeface="Calibri" pitchFamily="34" charset="-122"/>
                <a:cs typeface="Calibri" pitchFamily="34" charset="-120"/>
              </a:rPr>
              <a:t>Amoura — Soutenance CDA 2026</a:t>
            </a:r>
            <a:endParaRPr lang="en-US" sz="900" dirty="0"/>
          </a:p>
        </p:txBody>
      </p:sp>
      <p:sp>
        <p:nvSpPr>
          <p:cNvPr id="11" name="Text 9"/>
          <p:cNvSpPr/>
          <p:nvPr/>
        </p:nvSpPr>
        <p:spPr>
          <a:xfrm>
            <a:off x="11002975" y="6473952"/>
            <a:ext cx="548640" cy="274320"/>
          </a:xfrm>
          <a:prstGeom prst="rect">
            <a:avLst/>
          </a:prstGeom>
          <a:noFill/>
          <a:ln/>
        </p:spPr>
        <p:txBody>
          <a:bodyPr wrap="square" rtlCol="0" anchor="ctr"/>
          <a:lstStyle/>
          <a:p>
            <a:pPr marL="0" indent="0" algn="r">
              <a:buNone/>
            </a:pPr>
            <a:r>
              <a:rPr lang="en-US" sz="900" dirty="0">
                <a:solidFill>
                  <a:srgbClr val="5A555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1410"/>
        </a:solidFill>
        <a:effectLst/>
      </p:bgPr>
    </p:bg>
    <p:spTree>
      <p:nvGrpSpPr>
        <p:cNvPr id="1" name=""/>
        <p:cNvGrpSpPr/>
        <p:nvPr/>
      </p:nvGrpSpPr>
      <p:grpSpPr>
        <a:xfrm>
          <a:off x="0" y="0"/>
          <a:ext cx="0" cy="0"/>
          <a:chOff x="0" y="0"/>
          <a:chExt cx="0" cy="0"/>
        </a:xfrm>
      </p:grpSpPr>
      <p:sp>
        <p:nvSpPr>
          <p:cNvPr id="2" name="Shape 0"/>
          <p:cNvSpPr/>
          <p:nvPr/>
        </p:nvSpPr>
        <p:spPr>
          <a:xfrm>
            <a:off x="5638648" y="1965960"/>
            <a:ext cx="914400" cy="914400"/>
          </a:xfrm>
          <a:prstGeom prst="ellipse">
            <a:avLst/>
          </a:prstGeom>
          <a:solidFill>
            <a:srgbClr val="C9A96E"/>
          </a:solidFill>
          <a:ln/>
        </p:spPr>
        <p:txBody>
          <a:bodyPr/>
          <a:lstStyle/>
          <a:p>
            <a:endParaRPr lang="fr-FR"/>
          </a:p>
        </p:txBody>
      </p:sp>
      <p:sp>
        <p:nvSpPr>
          <p:cNvPr id="3" name="Text 1"/>
          <p:cNvSpPr/>
          <p:nvPr/>
        </p:nvSpPr>
        <p:spPr>
          <a:xfrm>
            <a:off x="5638648" y="1965960"/>
            <a:ext cx="914400" cy="914400"/>
          </a:xfrm>
          <a:prstGeom prst="rect">
            <a:avLst/>
          </a:prstGeom>
          <a:noFill/>
          <a:ln/>
        </p:spPr>
        <p:txBody>
          <a:bodyPr wrap="square" lIns="0" tIns="0" rIns="0" bIns="0" rtlCol="0" anchor="ctr"/>
          <a:lstStyle/>
          <a:p>
            <a:pPr marL="0" indent="0" algn="ctr">
              <a:buNone/>
            </a:pPr>
            <a:r>
              <a:rPr lang="en-US" sz="3000" b="1" dirty="0">
                <a:solidFill>
                  <a:srgbClr val="1A1410"/>
                </a:solidFill>
                <a:latin typeface="Cambria" pitchFamily="34" charset="0"/>
                <a:ea typeface="Cambria" pitchFamily="34" charset="-122"/>
                <a:cs typeface="Cambria" pitchFamily="34" charset="-120"/>
              </a:rPr>
              <a:t>2</a:t>
            </a:r>
            <a:endParaRPr lang="en-US" sz="3000" dirty="0"/>
          </a:p>
        </p:txBody>
      </p:sp>
      <p:sp>
        <p:nvSpPr>
          <p:cNvPr id="4" name="Text 2"/>
          <p:cNvSpPr/>
          <p:nvPr/>
        </p:nvSpPr>
        <p:spPr>
          <a:xfrm>
            <a:off x="914400" y="3063240"/>
            <a:ext cx="10362895" cy="1005840"/>
          </a:xfrm>
          <a:prstGeom prst="rect">
            <a:avLst/>
          </a:prstGeom>
          <a:noFill/>
          <a:ln/>
        </p:spPr>
        <p:txBody>
          <a:bodyPr wrap="square" rtlCol="0" anchor="ctr"/>
          <a:lstStyle/>
          <a:p>
            <a:pPr marL="0" indent="0" algn="ctr">
              <a:buNone/>
            </a:pPr>
            <a:r>
              <a:rPr lang="en-US" sz="4000" b="1" dirty="0">
                <a:solidFill>
                  <a:srgbClr val="FAF8F5"/>
                </a:solidFill>
                <a:latin typeface="Cambria" pitchFamily="34" charset="0"/>
                <a:ea typeface="Cambria" pitchFamily="34" charset="-122"/>
                <a:cs typeface="Cambria" pitchFamily="34" charset="-120"/>
              </a:rPr>
              <a:t>Méthodologie</a:t>
            </a:r>
            <a:endParaRPr lang="en-US" sz="4000" dirty="0"/>
          </a:p>
        </p:txBody>
      </p:sp>
      <p:sp>
        <p:nvSpPr>
          <p:cNvPr id="5" name="Text 3"/>
          <p:cNvSpPr/>
          <p:nvPr/>
        </p:nvSpPr>
        <p:spPr>
          <a:xfrm>
            <a:off x="1371600" y="4069080"/>
            <a:ext cx="9448495" cy="548640"/>
          </a:xfrm>
          <a:prstGeom prst="rect">
            <a:avLst/>
          </a:prstGeom>
          <a:noFill/>
          <a:ln/>
        </p:spPr>
        <p:txBody>
          <a:bodyPr wrap="square" rtlCol="0" anchor="ctr"/>
          <a:lstStyle/>
          <a:p>
            <a:pPr marL="0" indent="0" algn="ctr">
              <a:buNone/>
            </a:pPr>
            <a:r>
              <a:rPr lang="en-US" sz="1500" i="1" dirty="0">
                <a:solidFill>
                  <a:srgbClr val="E8E5E0"/>
                </a:solidFill>
                <a:latin typeface="Calibri" pitchFamily="34" charset="0"/>
                <a:ea typeface="Calibri" pitchFamily="34" charset="-122"/>
                <a:cs typeface="Calibri" pitchFamily="34" charset="-120"/>
              </a:rPr>
              <a:t>Scrum solo, planning, Git, intégration continue</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8F5"/>
        </a:solidFill>
        <a:effectLst/>
      </p:bgPr>
    </p:bg>
    <p:spTree>
      <p:nvGrpSpPr>
        <p:cNvPr id="1" name=""/>
        <p:cNvGrpSpPr/>
        <p:nvPr/>
      </p:nvGrpSpPr>
      <p:grpSpPr>
        <a:xfrm>
          <a:off x="0" y="0"/>
          <a:ext cx="0" cy="0"/>
          <a:chOff x="0" y="0"/>
          <a:chExt cx="0" cy="0"/>
        </a:xfrm>
      </p:grpSpPr>
      <p:sp>
        <p:nvSpPr>
          <p:cNvPr id="2" name="Text 0"/>
          <p:cNvSpPr/>
          <p:nvPr/>
        </p:nvSpPr>
        <p:spPr>
          <a:xfrm>
            <a:off x="640080" y="411480"/>
            <a:ext cx="10911535" cy="320040"/>
          </a:xfrm>
          <a:prstGeom prst="rect">
            <a:avLst/>
          </a:prstGeom>
          <a:noFill/>
          <a:ln/>
        </p:spPr>
        <p:txBody>
          <a:bodyPr wrap="square" rtlCol="0" anchor="ctr"/>
          <a:lstStyle/>
          <a:p>
            <a:pPr marL="0" indent="0">
              <a:buNone/>
            </a:pPr>
            <a:r>
              <a:rPr lang="en-US" sz="1200" b="1" kern="0" spc="250" dirty="0">
                <a:solidFill>
                  <a:srgbClr val="C9A96E"/>
                </a:solidFill>
                <a:latin typeface="Calibri" pitchFamily="34" charset="0"/>
                <a:ea typeface="Calibri" pitchFamily="34" charset="-122"/>
                <a:cs typeface="Calibri" pitchFamily="34" charset="-120"/>
              </a:rPr>
              <a:t>GESTION DE PROJET</a:t>
            </a:r>
            <a:endParaRPr lang="en-US" sz="1200" dirty="0"/>
          </a:p>
        </p:txBody>
      </p:sp>
      <p:sp>
        <p:nvSpPr>
          <p:cNvPr id="3" name="Text 1"/>
          <p:cNvSpPr/>
          <p:nvPr/>
        </p:nvSpPr>
        <p:spPr>
          <a:xfrm>
            <a:off x="640080" y="713232"/>
            <a:ext cx="10911535" cy="640080"/>
          </a:xfrm>
          <a:prstGeom prst="rect">
            <a:avLst/>
          </a:prstGeom>
          <a:noFill/>
          <a:ln/>
        </p:spPr>
        <p:txBody>
          <a:bodyPr wrap="square" rtlCol="0" anchor="ctr"/>
          <a:lstStyle/>
          <a:p>
            <a:pPr marL="0" indent="0">
              <a:buNone/>
            </a:pPr>
            <a:r>
              <a:rPr lang="en-US" sz="2800" b="1" dirty="0">
                <a:solidFill>
                  <a:srgbClr val="0A0A0A"/>
                </a:solidFill>
                <a:latin typeface="Cambria" pitchFamily="34" charset="0"/>
                <a:ea typeface="Cambria" pitchFamily="34" charset="-122"/>
                <a:cs typeface="Cambria" pitchFamily="34" charset="-120"/>
              </a:rPr>
              <a:t>Scrum solo &amp; Définition of Done</a:t>
            </a:r>
            <a:endParaRPr lang="en-US" sz="2800" dirty="0"/>
          </a:p>
        </p:txBody>
      </p:sp>
      <p:sp>
        <p:nvSpPr>
          <p:cNvPr id="4" name="Shape 2"/>
          <p:cNvSpPr/>
          <p:nvPr/>
        </p:nvSpPr>
        <p:spPr>
          <a:xfrm>
            <a:off x="640080" y="1988820"/>
            <a:ext cx="5181448" cy="3886200"/>
          </a:xfrm>
          <a:prstGeom prst="roundRect">
            <a:avLst>
              <a:gd name="adj" fmla="val 1882"/>
            </a:avLst>
          </a:prstGeom>
          <a:solidFill>
            <a:srgbClr val="FFFFFF"/>
          </a:solidFill>
          <a:ln/>
          <a:effectLst>
            <a:outerShdw blurRad="63500" dist="25400" dir="5400000" algn="bl" rotWithShape="0">
              <a:srgbClr val="000000">
                <a:alpha val="10000"/>
              </a:srgbClr>
            </a:outerShdw>
          </a:effectLst>
        </p:spPr>
        <p:txBody>
          <a:bodyPr/>
          <a:lstStyle/>
          <a:p>
            <a:endParaRPr lang="fr-FR"/>
          </a:p>
        </p:txBody>
      </p:sp>
      <p:sp>
        <p:nvSpPr>
          <p:cNvPr id="5" name="Text 3"/>
          <p:cNvSpPr/>
          <p:nvPr/>
        </p:nvSpPr>
        <p:spPr>
          <a:xfrm>
            <a:off x="932688" y="2244852"/>
            <a:ext cx="4596232" cy="411480"/>
          </a:xfrm>
          <a:prstGeom prst="rect">
            <a:avLst/>
          </a:prstGeom>
          <a:noFill/>
          <a:ln/>
        </p:spPr>
        <p:txBody>
          <a:bodyPr wrap="square" lIns="0" tIns="0" rIns="0" bIns="0" rtlCol="0" anchor="ctr"/>
          <a:lstStyle/>
          <a:p>
            <a:pPr marL="0" indent="0">
              <a:buNone/>
            </a:pPr>
            <a:r>
              <a:rPr lang="en-US" sz="1600" b="1" dirty="0">
                <a:solidFill>
                  <a:srgbClr val="C9A96E"/>
                </a:solidFill>
                <a:latin typeface="Cambria" pitchFamily="34" charset="0"/>
                <a:ea typeface="Cambria" pitchFamily="34" charset="-122"/>
                <a:cs typeface="Cambria" pitchFamily="34" charset="-120"/>
              </a:rPr>
              <a:t>Scrum adapte au solo</a:t>
            </a:r>
            <a:endParaRPr lang="en-US" sz="1600" dirty="0"/>
          </a:p>
        </p:txBody>
      </p:sp>
      <p:sp>
        <p:nvSpPr>
          <p:cNvPr id="6" name="Text 4"/>
          <p:cNvSpPr/>
          <p:nvPr/>
        </p:nvSpPr>
        <p:spPr>
          <a:xfrm>
            <a:off x="932688" y="2766060"/>
            <a:ext cx="4596232" cy="2926080"/>
          </a:xfrm>
          <a:prstGeom prst="rect">
            <a:avLst/>
          </a:prstGeom>
          <a:noFill/>
          <a:ln/>
        </p:spPr>
        <p:txBody>
          <a:bodyPr wrap="square" lIns="0" tIns="0" rIns="0" bIns="0" rtlCol="0" anchor="t"/>
          <a:lstStyle/>
          <a:p>
            <a:pPr marL="203200" indent="-203200">
              <a:spcAft>
                <a:spcPts val="1200"/>
              </a:spcAft>
              <a:buSzPct val="100000"/>
              <a:buChar char="●"/>
            </a:pPr>
            <a:r>
              <a:rPr lang="en-US" sz="1250" dirty="0">
                <a:solidFill>
                  <a:srgbClr val="0A0A0A"/>
                </a:solidFill>
                <a:latin typeface="Calibri" pitchFamily="34" charset="0"/>
                <a:ea typeface="Calibri" pitchFamily="34" charset="-122"/>
                <a:cs typeface="Calibri" pitchFamily="34" charset="-120"/>
              </a:rPr>
              <a:t>6 jalons mensuels = 6 sprints</a:t>
            </a:r>
            <a:endParaRPr lang="en-US" sz="1250" dirty="0"/>
          </a:p>
          <a:p>
            <a:pPr marL="203200" indent="-203200">
              <a:spcAft>
                <a:spcPts val="1200"/>
              </a:spcAft>
              <a:buSzPct val="100000"/>
              <a:buChar char="●"/>
            </a:pPr>
            <a:r>
              <a:rPr lang="en-US" sz="1250" dirty="0">
                <a:solidFill>
                  <a:srgbClr val="0A0A0A"/>
                </a:solidFill>
                <a:latin typeface="Calibri" pitchFamily="34" charset="0"/>
                <a:ea typeface="Calibri" pitchFamily="34" charset="-122"/>
                <a:cs typeface="Calibri" pitchFamily="34" charset="-120"/>
              </a:rPr>
              <a:t>Product Owner / Scrum Master / Developer : tous endosses par l'étudiant</a:t>
            </a:r>
            <a:endParaRPr lang="en-US" sz="1250" dirty="0"/>
          </a:p>
          <a:p>
            <a:pPr marL="203200" indent="-203200">
              <a:spcAft>
                <a:spcPts val="1200"/>
              </a:spcAft>
              <a:buSzPct val="100000"/>
              <a:buChar char="●"/>
            </a:pPr>
            <a:r>
              <a:rPr lang="en-US" sz="1250" dirty="0">
                <a:solidFill>
                  <a:srgbClr val="0A0A0A"/>
                </a:solidFill>
                <a:latin typeface="Calibri" pitchFamily="34" charset="0"/>
                <a:ea typeface="Calibri" pitchFamily="34" charset="-122"/>
                <a:cs typeface="Calibri" pitchFamily="34" charset="-120"/>
              </a:rPr>
              <a:t>Stakeholder : le formateur</a:t>
            </a:r>
            <a:endParaRPr lang="en-US" sz="1250" dirty="0"/>
          </a:p>
          <a:p>
            <a:pPr marL="203200" indent="-203200">
              <a:spcAft>
                <a:spcPts val="1200"/>
              </a:spcAft>
              <a:buSzPct val="100000"/>
              <a:buChar char="●"/>
            </a:pPr>
            <a:r>
              <a:rPr lang="en-US" sz="1250" dirty="0">
                <a:solidFill>
                  <a:srgbClr val="0A0A0A"/>
                </a:solidFill>
                <a:latin typeface="Calibri" pitchFamily="34" charset="0"/>
                <a:ea typeface="Calibri" pitchFamily="34" charset="-122"/>
                <a:cs typeface="Calibri" pitchFamily="34" charset="-120"/>
              </a:rPr>
              <a:t>Journal d'avancement hebdomadaire remplace les cérémonies collectives</a:t>
            </a:r>
            <a:endParaRPr lang="en-US" sz="1250" dirty="0"/>
          </a:p>
        </p:txBody>
      </p:sp>
      <p:sp>
        <p:nvSpPr>
          <p:cNvPr id="7" name="Shape 5"/>
          <p:cNvSpPr/>
          <p:nvPr/>
        </p:nvSpPr>
        <p:spPr>
          <a:xfrm>
            <a:off x="6370168" y="1988820"/>
            <a:ext cx="5181448" cy="3886200"/>
          </a:xfrm>
          <a:prstGeom prst="roundRect">
            <a:avLst>
              <a:gd name="adj" fmla="val 1882"/>
            </a:avLst>
          </a:prstGeom>
          <a:solidFill>
            <a:srgbClr val="FFFFFF"/>
          </a:solidFill>
          <a:ln/>
          <a:effectLst>
            <a:outerShdw blurRad="63500" dist="25400" dir="5400000" algn="bl" rotWithShape="0">
              <a:srgbClr val="000000">
                <a:alpha val="10000"/>
              </a:srgbClr>
            </a:outerShdw>
          </a:effectLst>
        </p:spPr>
        <p:txBody>
          <a:bodyPr/>
          <a:lstStyle/>
          <a:p>
            <a:endParaRPr lang="fr-FR"/>
          </a:p>
        </p:txBody>
      </p:sp>
      <p:sp>
        <p:nvSpPr>
          <p:cNvPr id="8" name="Text 6"/>
          <p:cNvSpPr/>
          <p:nvPr/>
        </p:nvSpPr>
        <p:spPr>
          <a:xfrm>
            <a:off x="6662776" y="2244852"/>
            <a:ext cx="4596232" cy="411480"/>
          </a:xfrm>
          <a:prstGeom prst="rect">
            <a:avLst/>
          </a:prstGeom>
          <a:noFill/>
          <a:ln/>
        </p:spPr>
        <p:txBody>
          <a:bodyPr wrap="square" lIns="0" tIns="0" rIns="0" bIns="0" rtlCol="0" anchor="ctr"/>
          <a:lstStyle/>
          <a:p>
            <a:pPr marL="0" indent="0">
              <a:buNone/>
            </a:pPr>
            <a:r>
              <a:rPr lang="en-US" sz="1600" b="1" dirty="0">
                <a:solidFill>
                  <a:srgbClr val="C9A96E"/>
                </a:solidFill>
                <a:latin typeface="Cambria" pitchFamily="34" charset="0"/>
                <a:ea typeface="Cambria" pitchFamily="34" charset="-122"/>
                <a:cs typeface="Cambria" pitchFamily="34" charset="-120"/>
              </a:rPr>
              <a:t>Définition of Done</a:t>
            </a:r>
            <a:endParaRPr lang="en-US" sz="1600" dirty="0"/>
          </a:p>
        </p:txBody>
      </p:sp>
      <p:sp>
        <p:nvSpPr>
          <p:cNvPr id="9" name="Text 7"/>
          <p:cNvSpPr/>
          <p:nvPr/>
        </p:nvSpPr>
        <p:spPr>
          <a:xfrm>
            <a:off x="6662776" y="2766060"/>
            <a:ext cx="4596232" cy="2926080"/>
          </a:xfrm>
          <a:prstGeom prst="rect">
            <a:avLst/>
          </a:prstGeom>
          <a:noFill/>
          <a:ln/>
        </p:spPr>
        <p:txBody>
          <a:bodyPr wrap="square" lIns="0" tIns="0" rIns="0" bIns="0" rtlCol="0" anchor="t"/>
          <a:lstStyle/>
          <a:p>
            <a:pPr marL="203200" indent="-203200">
              <a:spcAft>
                <a:spcPts val="1200"/>
              </a:spcAft>
              <a:buSzPct val="100000"/>
              <a:buChar char="●"/>
            </a:pPr>
            <a:r>
              <a:rPr lang="en-US" sz="1250" dirty="0">
                <a:solidFill>
                  <a:srgbClr val="0A0A0A"/>
                </a:solidFill>
                <a:latin typeface="Calibri" pitchFamily="34" charset="0"/>
                <a:ea typeface="Calibri" pitchFamily="34" charset="-122"/>
                <a:cs typeface="Calibri" pitchFamily="34" charset="-120"/>
              </a:rPr>
              <a:t>Code conforme PSR-12 (PHP CS Fixer / oxlint)</a:t>
            </a:r>
            <a:endParaRPr lang="en-US" sz="1250" dirty="0"/>
          </a:p>
          <a:p>
            <a:pPr marL="203200" indent="-203200">
              <a:spcAft>
                <a:spcPts val="1200"/>
              </a:spcAft>
              <a:buSzPct val="100000"/>
              <a:buChar char="●"/>
            </a:pPr>
            <a:r>
              <a:rPr lang="en-US" sz="1250" dirty="0">
                <a:solidFill>
                  <a:srgbClr val="0A0A0A"/>
                </a:solidFill>
                <a:latin typeface="Calibri" pitchFamily="34" charset="0"/>
                <a:ea typeface="Calibri" pitchFamily="34" charset="-122"/>
                <a:cs typeface="Calibri" pitchFamily="34" charset="-120"/>
              </a:rPr>
              <a:t>PHPStan niveau 5 sans erreur</a:t>
            </a:r>
            <a:endParaRPr lang="en-US" sz="1250" dirty="0"/>
          </a:p>
          <a:p>
            <a:pPr marL="203200" indent="-203200">
              <a:spcAft>
                <a:spcPts val="1200"/>
              </a:spcAft>
              <a:buSzPct val="100000"/>
              <a:buChar char="●"/>
            </a:pPr>
            <a:r>
              <a:rPr lang="en-US" sz="1250" dirty="0">
                <a:solidFill>
                  <a:srgbClr val="0A0A0A"/>
                </a:solidFill>
                <a:latin typeface="Calibri" pitchFamily="34" charset="0"/>
                <a:ea typeface="Calibri" pitchFamily="34" charset="-122"/>
                <a:cs typeface="Calibri" pitchFamily="34" charset="-120"/>
              </a:rPr>
              <a:t>Au moins un test automatise si pertinent</a:t>
            </a:r>
            <a:endParaRPr lang="en-US" sz="1250" dirty="0"/>
          </a:p>
          <a:p>
            <a:pPr marL="203200" indent="-203200">
              <a:spcAft>
                <a:spcPts val="1200"/>
              </a:spcAft>
              <a:buSzPct val="100000"/>
              <a:buChar char="●"/>
            </a:pPr>
            <a:r>
              <a:rPr lang="en-US" sz="1250" dirty="0">
                <a:solidFill>
                  <a:srgbClr val="0A0A0A"/>
                </a:solidFill>
                <a:latin typeface="Calibri" pitchFamily="34" charset="0"/>
                <a:ea typeface="Calibri" pitchFamily="34" charset="-122"/>
                <a:cs typeface="Calibri" pitchFamily="34" charset="-120"/>
              </a:rPr>
              <a:t>Pipeline CI verte avant fusion</a:t>
            </a:r>
            <a:endParaRPr lang="en-US" sz="1250" dirty="0"/>
          </a:p>
          <a:p>
            <a:pPr marL="203200" indent="-203200">
              <a:spcAft>
                <a:spcPts val="1200"/>
              </a:spcAft>
              <a:buSzPct val="100000"/>
              <a:buChar char="●"/>
            </a:pPr>
            <a:r>
              <a:rPr lang="en-US" sz="1250" dirty="0">
                <a:solidFill>
                  <a:srgbClr val="0A0A0A"/>
                </a:solidFill>
                <a:latin typeface="Calibri" pitchFamily="34" charset="0"/>
                <a:ea typeface="Calibri" pitchFamily="34" charset="-122"/>
                <a:cs typeface="Calibri" pitchFamily="34" charset="-120"/>
              </a:rPr>
              <a:t>Vérification manuelle effectuée</a:t>
            </a:r>
            <a:endParaRPr lang="en-US" sz="1250" dirty="0"/>
          </a:p>
        </p:txBody>
      </p:sp>
      <p:sp>
        <p:nvSpPr>
          <p:cNvPr id="10" name="Text 8"/>
          <p:cNvSpPr/>
          <p:nvPr/>
        </p:nvSpPr>
        <p:spPr>
          <a:xfrm>
            <a:off x="640080" y="6473952"/>
            <a:ext cx="7315200" cy="274320"/>
          </a:xfrm>
          <a:prstGeom prst="rect">
            <a:avLst/>
          </a:prstGeom>
          <a:noFill/>
          <a:ln/>
        </p:spPr>
        <p:txBody>
          <a:bodyPr wrap="square" rtlCol="0" anchor="ctr"/>
          <a:lstStyle/>
          <a:p>
            <a:pPr marL="0" indent="0" algn="l">
              <a:buNone/>
            </a:pPr>
            <a:r>
              <a:rPr lang="en-US" sz="900" dirty="0">
                <a:solidFill>
                  <a:srgbClr val="5A5550"/>
                </a:solidFill>
                <a:latin typeface="Calibri" pitchFamily="34" charset="0"/>
                <a:ea typeface="Calibri" pitchFamily="34" charset="-122"/>
                <a:cs typeface="Calibri" pitchFamily="34" charset="-120"/>
              </a:rPr>
              <a:t>Amoura — Soutenance CDA 2026</a:t>
            </a:r>
            <a:endParaRPr lang="en-US" sz="900" dirty="0"/>
          </a:p>
        </p:txBody>
      </p:sp>
      <p:sp>
        <p:nvSpPr>
          <p:cNvPr id="11" name="Text 9"/>
          <p:cNvSpPr/>
          <p:nvPr/>
        </p:nvSpPr>
        <p:spPr>
          <a:xfrm>
            <a:off x="11002975" y="6473952"/>
            <a:ext cx="548640" cy="274320"/>
          </a:xfrm>
          <a:prstGeom prst="rect">
            <a:avLst/>
          </a:prstGeom>
          <a:noFill/>
          <a:ln/>
        </p:spPr>
        <p:txBody>
          <a:bodyPr wrap="square" rtlCol="0" anchor="ctr"/>
          <a:lstStyle/>
          <a:p>
            <a:pPr marL="0" indent="0" algn="r">
              <a:buNone/>
            </a:pPr>
            <a:r>
              <a:rPr lang="en-US" sz="900" dirty="0">
                <a:solidFill>
                  <a:srgbClr val="5A555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8F5"/>
        </a:solidFill>
        <a:effectLst/>
      </p:bgPr>
    </p:bg>
    <p:spTree>
      <p:nvGrpSpPr>
        <p:cNvPr id="1" name=""/>
        <p:cNvGrpSpPr/>
        <p:nvPr/>
      </p:nvGrpSpPr>
      <p:grpSpPr>
        <a:xfrm>
          <a:off x="0" y="0"/>
          <a:ext cx="0" cy="0"/>
          <a:chOff x="0" y="0"/>
          <a:chExt cx="0" cy="0"/>
        </a:xfrm>
      </p:grpSpPr>
      <p:sp>
        <p:nvSpPr>
          <p:cNvPr id="2" name="Text 0"/>
          <p:cNvSpPr/>
          <p:nvPr/>
        </p:nvSpPr>
        <p:spPr>
          <a:xfrm>
            <a:off x="640080" y="411480"/>
            <a:ext cx="10911535" cy="320040"/>
          </a:xfrm>
          <a:prstGeom prst="rect">
            <a:avLst/>
          </a:prstGeom>
          <a:noFill/>
          <a:ln/>
        </p:spPr>
        <p:txBody>
          <a:bodyPr wrap="square" rtlCol="0" anchor="ctr"/>
          <a:lstStyle/>
          <a:p>
            <a:pPr marL="0" indent="0">
              <a:buNone/>
            </a:pPr>
            <a:r>
              <a:rPr lang="en-US" sz="1200" b="1" kern="0" spc="250" dirty="0">
                <a:solidFill>
                  <a:srgbClr val="C9A96E"/>
                </a:solidFill>
                <a:latin typeface="Calibri" pitchFamily="34" charset="0"/>
                <a:ea typeface="Calibri" pitchFamily="34" charset="-122"/>
                <a:cs typeface="Calibri" pitchFamily="34" charset="-120"/>
              </a:rPr>
              <a:t>PLANNING</a:t>
            </a:r>
            <a:endParaRPr lang="en-US" sz="1200" dirty="0"/>
          </a:p>
        </p:txBody>
      </p:sp>
      <p:sp>
        <p:nvSpPr>
          <p:cNvPr id="3" name="Text 1"/>
          <p:cNvSpPr/>
          <p:nvPr/>
        </p:nvSpPr>
        <p:spPr>
          <a:xfrm>
            <a:off x="640080" y="713232"/>
            <a:ext cx="10911535" cy="640080"/>
          </a:xfrm>
          <a:prstGeom prst="rect">
            <a:avLst/>
          </a:prstGeom>
          <a:noFill/>
          <a:ln/>
        </p:spPr>
        <p:txBody>
          <a:bodyPr wrap="square" rtlCol="0" anchor="ctr"/>
          <a:lstStyle/>
          <a:p>
            <a:pPr marL="0" indent="0">
              <a:buNone/>
            </a:pPr>
            <a:r>
              <a:rPr lang="en-US" sz="2800" b="1" dirty="0">
                <a:solidFill>
                  <a:srgbClr val="0A0A0A"/>
                </a:solidFill>
                <a:latin typeface="Cambria" pitchFamily="34" charset="0"/>
                <a:ea typeface="Cambria" pitchFamily="34" charset="-122"/>
                <a:cs typeface="Cambria" pitchFamily="34" charset="-120"/>
              </a:rPr>
              <a:t>Planning macro — 6 jalons</a:t>
            </a:r>
            <a:endParaRPr lang="en-US" sz="2800" dirty="0"/>
          </a:p>
        </p:txBody>
      </p:sp>
      <p:sp>
        <p:nvSpPr>
          <p:cNvPr id="4" name="Shape 2"/>
          <p:cNvSpPr/>
          <p:nvPr/>
        </p:nvSpPr>
        <p:spPr>
          <a:xfrm>
            <a:off x="2045715" y="1444752"/>
            <a:ext cx="8100264" cy="4041648"/>
          </a:xfrm>
          <a:prstGeom prst="roundRect">
            <a:avLst>
              <a:gd name="adj" fmla="val 1357"/>
            </a:avLst>
          </a:prstGeom>
          <a:solidFill>
            <a:srgbClr val="FFFFFF"/>
          </a:solidFill>
          <a:ln w="15875">
            <a:solidFill>
              <a:srgbClr val="C9A96E"/>
            </a:solidFill>
            <a:prstDash val="solid"/>
          </a:ln>
          <a:effectLst>
            <a:outerShdw blurRad="76200" dist="25400" dir="5400000" algn="bl" rotWithShape="0">
              <a:srgbClr val="000000">
                <a:alpha val="18000"/>
              </a:srgbClr>
            </a:outerShdw>
          </a:effectLst>
        </p:spPr>
        <p:txBody>
          <a:bodyPr/>
          <a:lstStyle/>
          <a:p>
            <a:endParaRPr lang="fr-FR"/>
          </a:p>
        </p:txBody>
      </p:sp>
      <p:pic>
        <p:nvPicPr>
          <p:cNvPr id="5" name="Image 0" descr="C:\Users\amahi\AppData\Local\Temp\claude\C--Users-amahi-Documents-Code-Amoura\ec1effed-a661-4c74-9a86-4c2c133a35a5\scratchpad\images\gantt.png"/>
          <p:cNvPicPr>
            <a:picLocks noChangeAspect="1"/>
          </p:cNvPicPr>
          <p:nvPr/>
        </p:nvPicPr>
        <p:blipFill>
          <a:blip r:embed="rId3"/>
          <a:stretch>
            <a:fillRect/>
          </a:stretch>
        </p:blipFill>
        <p:spPr>
          <a:xfrm>
            <a:off x="2155443" y="1554480"/>
            <a:ext cx="7880808" cy="3822192"/>
          </a:xfrm>
          <a:prstGeom prst="rect">
            <a:avLst/>
          </a:prstGeom>
        </p:spPr>
      </p:pic>
      <p:sp>
        <p:nvSpPr>
          <p:cNvPr id="6" name="Text 3"/>
          <p:cNvSpPr/>
          <p:nvPr/>
        </p:nvSpPr>
        <p:spPr>
          <a:xfrm>
            <a:off x="640080" y="5797296"/>
            <a:ext cx="10911535" cy="566928"/>
          </a:xfrm>
          <a:prstGeom prst="rect">
            <a:avLst/>
          </a:prstGeom>
          <a:noFill/>
          <a:ln/>
        </p:spPr>
        <p:txBody>
          <a:bodyPr wrap="square" rtlCol="0" anchor="t"/>
          <a:lstStyle/>
          <a:p>
            <a:pPr marL="0" indent="0" algn="ctr">
              <a:buNone/>
            </a:pPr>
            <a:r>
              <a:rPr lang="en-US" sz="1100" i="1" dirty="0">
                <a:solidFill>
                  <a:srgbClr val="5A5550"/>
                </a:solidFill>
                <a:latin typeface="Calibri" pitchFamily="34" charset="0"/>
                <a:ea typeface="Calibri" pitchFamily="34" charset="-122"/>
                <a:cs typeface="Calibri" pitchFamily="34" charset="-120"/>
              </a:rPr>
              <a:t>Chaque jalon correspond à un chapitre du dossier de synthèse technique (III a XI).</a:t>
            </a:r>
            <a:endParaRPr lang="en-US" sz="1100" dirty="0"/>
          </a:p>
        </p:txBody>
      </p:sp>
      <p:sp>
        <p:nvSpPr>
          <p:cNvPr id="7" name="Text 4"/>
          <p:cNvSpPr/>
          <p:nvPr/>
        </p:nvSpPr>
        <p:spPr>
          <a:xfrm>
            <a:off x="640080" y="6473952"/>
            <a:ext cx="7315200" cy="274320"/>
          </a:xfrm>
          <a:prstGeom prst="rect">
            <a:avLst/>
          </a:prstGeom>
          <a:noFill/>
          <a:ln/>
        </p:spPr>
        <p:txBody>
          <a:bodyPr wrap="square" rtlCol="0" anchor="ctr"/>
          <a:lstStyle/>
          <a:p>
            <a:pPr marL="0" indent="0" algn="l">
              <a:buNone/>
            </a:pPr>
            <a:r>
              <a:rPr lang="en-US" sz="900" dirty="0">
                <a:solidFill>
                  <a:srgbClr val="5A5550"/>
                </a:solidFill>
                <a:latin typeface="Calibri" pitchFamily="34" charset="0"/>
                <a:ea typeface="Calibri" pitchFamily="34" charset="-122"/>
                <a:cs typeface="Calibri" pitchFamily="34" charset="-120"/>
              </a:rPr>
              <a:t>Amoura — Soutenance CDA 2026</a:t>
            </a:r>
            <a:endParaRPr lang="en-US" sz="900" dirty="0"/>
          </a:p>
        </p:txBody>
      </p:sp>
      <p:sp>
        <p:nvSpPr>
          <p:cNvPr id="8" name="Text 5"/>
          <p:cNvSpPr/>
          <p:nvPr/>
        </p:nvSpPr>
        <p:spPr>
          <a:xfrm>
            <a:off x="11002975" y="6473952"/>
            <a:ext cx="548640" cy="274320"/>
          </a:xfrm>
          <a:prstGeom prst="rect">
            <a:avLst/>
          </a:prstGeom>
          <a:noFill/>
          <a:ln/>
        </p:spPr>
        <p:txBody>
          <a:bodyPr wrap="square" rtlCol="0" anchor="ctr"/>
          <a:lstStyle/>
          <a:p>
            <a:pPr marL="0" indent="0" algn="r">
              <a:buNone/>
            </a:pPr>
            <a:r>
              <a:rPr lang="en-US" sz="900" dirty="0">
                <a:solidFill>
                  <a:srgbClr val="5A555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8F5"/>
        </a:solidFill>
        <a:effectLst/>
      </p:bgPr>
    </p:bg>
    <p:spTree>
      <p:nvGrpSpPr>
        <p:cNvPr id="1" name=""/>
        <p:cNvGrpSpPr/>
        <p:nvPr/>
      </p:nvGrpSpPr>
      <p:grpSpPr>
        <a:xfrm>
          <a:off x="0" y="0"/>
          <a:ext cx="0" cy="0"/>
          <a:chOff x="0" y="0"/>
          <a:chExt cx="0" cy="0"/>
        </a:xfrm>
      </p:grpSpPr>
      <p:sp>
        <p:nvSpPr>
          <p:cNvPr id="2" name="Text 0"/>
          <p:cNvSpPr/>
          <p:nvPr/>
        </p:nvSpPr>
        <p:spPr>
          <a:xfrm>
            <a:off x="640080" y="411480"/>
            <a:ext cx="10911535" cy="320040"/>
          </a:xfrm>
          <a:prstGeom prst="rect">
            <a:avLst/>
          </a:prstGeom>
          <a:noFill/>
          <a:ln/>
        </p:spPr>
        <p:txBody>
          <a:bodyPr wrap="square" rtlCol="0" anchor="ctr"/>
          <a:lstStyle/>
          <a:p>
            <a:pPr marL="0" indent="0">
              <a:buNone/>
            </a:pPr>
            <a:r>
              <a:rPr lang="en-US" sz="1200" b="1" kern="0" spc="250" dirty="0">
                <a:solidFill>
                  <a:srgbClr val="C9A96E"/>
                </a:solidFill>
                <a:latin typeface="Calibri" pitchFamily="34" charset="0"/>
                <a:ea typeface="Calibri" pitchFamily="34" charset="-122"/>
                <a:cs typeface="Calibri" pitchFamily="34" charset="-120"/>
              </a:rPr>
              <a:t>DEVOPS</a:t>
            </a:r>
            <a:endParaRPr lang="en-US" sz="1200" dirty="0"/>
          </a:p>
        </p:txBody>
      </p:sp>
      <p:sp>
        <p:nvSpPr>
          <p:cNvPr id="3" name="Text 1"/>
          <p:cNvSpPr/>
          <p:nvPr/>
        </p:nvSpPr>
        <p:spPr>
          <a:xfrm>
            <a:off x="640080" y="713232"/>
            <a:ext cx="10911535" cy="640080"/>
          </a:xfrm>
          <a:prstGeom prst="rect">
            <a:avLst/>
          </a:prstGeom>
          <a:noFill/>
          <a:ln/>
        </p:spPr>
        <p:txBody>
          <a:bodyPr wrap="square" rtlCol="0" anchor="ctr"/>
          <a:lstStyle/>
          <a:p>
            <a:pPr marL="0" indent="0">
              <a:buNone/>
            </a:pPr>
            <a:r>
              <a:rPr lang="en-US" sz="2800" b="1" dirty="0">
                <a:solidFill>
                  <a:srgbClr val="0A0A0A"/>
                </a:solidFill>
                <a:latin typeface="Cambria" pitchFamily="34" charset="0"/>
                <a:ea typeface="Cambria" pitchFamily="34" charset="-122"/>
                <a:cs typeface="Cambria" pitchFamily="34" charset="-120"/>
              </a:rPr>
              <a:t>Git, intégration continue</a:t>
            </a:r>
            <a:endParaRPr lang="en-US" sz="2800" dirty="0"/>
          </a:p>
        </p:txBody>
      </p:sp>
      <p:sp>
        <p:nvSpPr>
          <p:cNvPr id="4" name="Shape 2"/>
          <p:cNvSpPr/>
          <p:nvPr/>
        </p:nvSpPr>
        <p:spPr>
          <a:xfrm>
            <a:off x="640080" y="1920240"/>
            <a:ext cx="384048" cy="384048"/>
          </a:xfrm>
          <a:prstGeom prst="ellipse">
            <a:avLst/>
          </a:prstGeom>
          <a:solidFill>
            <a:srgbClr val="C9A96E"/>
          </a:solidFill>
          <a:ln/>
        </p:spPr>
        <p:txBody>
          <a:bodyPr/>
          <a:lstStyle/>
          <a:p>
            <a:endParaRPr lang="fr-FR"/>
          </a:p>
        </p:txBody>
      </p:sp>
      <p:sp>
        <p:nvSpPr>
          <p:cNvPr id="5" name="Text 3"/>
          <p:cNvSpPr/>
          <p:nvPr/>
        </p:nvSpPr>
        <p:spPr>
          <a:xfrm>
            <a:off x="640080" y="1920240"/>
            <a:ext cx="384048" cy="384048"/>
          </a:xfrm>
          <a:prstGeom prst="rect">
            <a:avLst/>
          </a:prstGeom>
          <a:noFill/>
          <a:ln/>
        </p:spPr>
        <p:txBody>
          <a:bodyPr wrap="square" lIns="0" tIns="0" rIns="0" bIns="0" rtlCol="0" anchor="ctr"/>
          <a:lstStyle/>
          <a:p>
            <a:pPr marL="0" indent="0" algn="ctr">
              <a:buNone/>
            </a:pPr>
            <a:r>
              <a:rPr lang="en-US" sz="1400" b="1" dirty="0">
                <a:solidFill>
                  <a:srgbClr val="1A1410"/>
                </a:solidFill>
                <a:latin typeface="Cambria" pitchFamily="34" charset="0"/>
                <a:ea typeface="Cambria" pitchFamily="34" charset="-122"/>
                <a:cs typeface="Cambria" pitchFamily="34" charset="-120"/>
              </a:rPr>
              <a:t>1</a:t>
            </a:r>
            <a:endParaRPr lang="en-US" sz="1400" dirty="0"/>
          </a:p>
        </p:txBody>
      </p:sp>
      <p:sp>
        <p:nvSpPr>
          <p:cNvPr id="6" name="Shape 4"/>
          <p:cNvSpPr/>
          <p:nvPr/>
        </p:nvSpPr>
        <p:spPr>
          <a:xfrm>
            <a:off x="832104" y="2304288"/>
            <a:ext cx="0" cy="781812"/>
          </a:xfrm>
          <a:prstGeom prst="line">
            <a:avLst/>
          </a:prstGeom>
          <a:noFill/>
          <a:ln w="12700">
            <a:solidFill>
              <a:srgbClr val="C9A96E"/>
            </a:solidFill>
            <a:prstDash val="dash"/>
          </a:ln>
        </p:spPr>
        <p:txBody>
          <a:bodyPr/>
          <a:lstStyle/>
          <a:p>
            <a:endParaRPr lang="fr-FR"/>
          </a:p>
        </p:txBody>
      </p:sp>
      <p:sp>
        <p:nvSpPr>
          <p:cNvPr id="7" name="Text 5"/>
          <p:cNvSpPr/>
          <p:nvPr/>
        </p:nvSpPr>
        <p:spPr>
          <a:xfrm>
            <a:off x="1325880" y="1865376"/>
            <a:ext cx="10225735" cy="320040"/>
          </a:xfrm>
          <a:prstGeom prst="rect">
            <a:avLst/>
          </a:prstGeom>
          <a:noFill/>
          <a:ln/>
        </p:spPr>
        <p:txBody>
          <a:bodyPr wrap="square" lIns="0" tIns="0" rIns="0" bIns="0" rtlCol="0" anchor="ctr"/>
          <a:lstStyle/>
          <a:p>
            <a:pPr marL="0" indent="0">
              <a:buNone/>
            </a:pPr>
            <a:r>
              <a:rPr lang="en-US" sz="1350" b="1" dirty="0">
                <a:solidFill>
                  <a:srgbClr val="0A0A0A"/>
                </a:solidFill>
                <a:latin typeface="Cambria" pitchFamily="34" charset="0"/>
                <a:ea typeface="Cambria" pitchFamily="34" charset="-122"/>
                <a:cs typeface="Cambria" pitchFamily="34" charset="-120"/>
              </a:rPr>
              <a:t>GitFlow simplifié</a:t>
            </a:r>
            <a:endParaRPr lang="en-US" sz="1350" dirty="0"/>
          </a:p>
        </p:txBody>
      </p:sp>
      <p:sp>
        <p:nvSpPr>
          <p:cNvPr id="8" name="Text 6"/>
          <p:cNvSpPr/>
          <p:nvPr/>
        </p:nvSpPr>
        <p:spPr>
          <a:xfrm>
            <a:off x="1325880" y="2176272"/>
            <a:ext cx="10088575" cy="845820"/>
          </a:xfrm>
          <a:prstGeom prst="rect">
            <a:avLst/>
          </a:prstGeom>
          <a:noFill/>
          <a:ln/>
        </p:spPr>
        <p:txBody>
          <a:bodyPr wrap="square" lIns="0" tIns="0" rIns="0" bIns="0" rtlCol="0" anchor="t"/>
          <a:lstStyle/>
          <a:p>
            <a:pPr marL="0" indent="0">
              <a:buNone/>
            </a:pPr>
            <a:r>
              <a:rPr lang="en-US" sz="1050" dirty="0">
                <a:solidFill>
                  <a:srgbClr val="5A5550"/>
                </a:solidFill>
                <a:latin typeface="Calibri" pitchFamily="34" charset="0"/>
                <a:ea typeface="Calibri" pitchFamily="34" charset="-122"/>
                <a:cs typeface="Calibri" pitchFamily="34" charset="-120"/>
              </a:rPr>
              <a:t>main (protégée) / develop / feature/* / fix/* — merge vers main uniquement via PR avec CI verte</a:t>
            </a:r>
            <a:endParaRPr lang="en-US" sz="1050" dirty="0"/>
          </a:p>
        </p:txBody>
      </p:sp>
      <p:sp>
        <p:nvSpPr>
          <p:cNvPr id="9" name="Shape 7"/>
          <p:cNvSpPr/>
          <p:nvPr/>
        </p:nvSpPr>
        <p:spPr>
          <a:xfrm>
            <a:off x="640080" y="3086100"/>
            <a:ext cx="384048" cy="384048"/>
          </a:xfrm>
          <a:prstGeom prst="ellipse">
            <a:avLst/>
          </a:prstGeom>
          <a:solidFill>
            <a:srgbClr val="C9A96E"/>
          </a:solidFill>
          <a:ln/>
        </p:spPr>
        <p:txBody>
          <a:bodyPr/>
          <a:lstStyle/>
          <a:p>
            <a:endParaRPr lang="fr-FR"/>
          </a:p>
        </p:txBody>
      </p:sp>
      <p:sp>
        <p:nvSpPr>
          <p:cNvPr id="10" name="Text 8"/>
          <p:cNvSpPr/>
          <p:nvPr/>
        </p:nvSpPr>
        <p:spPr>
          <a:xfrm>
            <a:off x="640080" y="3086100"/>
            <a:ext cx="384048" cy="384048"/>
          </a:xfrm>
          <a:prstGeom prst="rect">
            <a:avLst/>
          </a:prstGeom>
          <a:noFill/>
          <a:ln/>
        </p:spPr>
        <p:txBody>
          <a:bodyPr wrap="square" lIns="0" tIns="0" rIns="0" bIns="0" rtlCol="0" anchor="ctr"/>
          <a:lstStyle/>
          <a:p>
            <a:pPr marL="0" indent="0" algn="ctr">
              <a:buNone/>
            </a:pPr>
            <a:r>
              <a:rPr lang="en-US" sz="1400" b="1" dirty="0">
                <a:solidFill>
                  <a:srgbClr val="1A1410"/>
                </a:solidFill>
                <a:latin typeface="Cambria" pitchFamily="34" charset="0"/>
                <a:ea typeface="Cambria" pitchFamily="34" charset="-122"/>
                <a:cs typeface="Cambria" pitchFamily="34" charset="-120"/>
              </a:rPr>
              <a:t>2</a:t>
            </a:r>
            <a:endParaRPr lang="en-US" sz="1400" dirty="0"/>
          </a:p>
        </p:txBody>
      </p:sp>
      <p:sp>
        <p:nvSpPr>
          <p:cNvPr id="11" name="Shape 9"/>
          <p:cNvSpPr/>
          <p:nvPr/>
        </p:nvSpPr>
        <p:spPr>
          <a:xfrm>
            <a:off x="832104" y="3470148"/>
            <a:ext cx="0" cy="781812"/>
          </a:xfrm>
          <a:prstGeom prst="line">
            <a:avLst/>
          </a:prstGeom>
          <a:noFill/>
          <a:ln w="12700">
            <a:solidFill>
              <a:srgbClr val="C9A96E"/>
            </a:solidFill>
            <a:prstDash val="dash"/>
          </a:ln>
        </p:spPr>
        <p:txBody>
          <a:bodyPr/>
          <a:lstStyle/>
          <a:p>
            <a:endParaRPr lang="fr-FR"/>
          </a:p>
        </p:txBody>
      </p:sp>
      <p:sp>
        <p:nvSpPr>
          <p:cNvPr id="12" name="Text 10"/>
          <p:cNvSpPr/>
          <p:nvPr/>
        </p:nvSpPr>
        <p:spPr>
          <a:xfrm>
            <a:off x="1325880" y="3031236"/>
            <a:ext cx="10225735" cy="320040"/>
          </a:xfrm>
          <a:prstGeom prst="rect">
            <a:avLst/>
          </a:prstGeom>
          <a:noFill/>
          <a:ln/>
        </p:spPr>
        <p:txBody>
          <a:bodyPr wrap="square" lIns="0" tIns="0" rIns="0" bIns="0" rtlCol="0" anchor="ctr"/>
          <a:lstStyle/>
          <a:p>
            <a:pPr marL="0" indent="0">
              <a:buNone/>
            </a:pPr>
            <a:r>
              <a:rPr lang="en-US" sz="1350" b="1" dirty="0">
                <a:solidFill>
                  <a:srgbClr val="0A0A0A"/>
                </a:solidFill>
                <a:latin typeface="Cambria" pitchFamily="34" charset="0"/>
                <a:ea typeface="Cambria" pitchFamily="34" charset="-122"/>
                <a:cs typeface="Cambria" pitchFamily="34" charset="-120"/>
              </a:rPr>
              <a:t>Conventional Commits</a:t>
            </a:r>
            <a:endParaRPr lang="en-US" sz="1350" dirty="0"/>
          </a:p>
        </p:txBody>
      </p:sp>
      <p:sp>
        <p:nvSpPr>
          <p:cNvPr id="13" name="Text 11"/>
          <p:cNvSpPr/>
          <p:nvPr/>
        </p:nvSpPr>
        <p:spPr>
          <a:xfrm>
            <a:off x="1325880" y="3342132"/>
            <a:ext cx="10088575" cy="845820"/>
          </a:xfrm>
          <a:prstGeom prst="rect">
            <a:avLst/>
          </a:prstGeom>
          <a:noFill/>
          <a:ln/>
        </p:spPr>
        <p:txBody>
          <a:bodyPr wrap="square" lIns="0" tIns="0" rIns="0" bIns="0" rtlCol="0" anchor="t"/>
          <a:lstStyle/>
          <a:p>
            <a:pPr marL="0" indent="0">
              <a:buNone/>
            </a:pPr>
            <a:r>
              <a:rPr lang="en-US" sz="1050" dirty="0">
                <a:solidFill>
                  <a:srgbClr val="5A5550"/>
                </a:solidFill>
                <a:latin typeface="Calibri" pitchFamily="34" charset="0"/>
                <a:ea typeface="Calibri" pitchFamily="34" charset="-122"/>
                <a:cs typeface="Calibri" pitchFamily="34" charset="-120"/>
              </a:rPr>
              <a:t>feat:, fix:, docs:, chore: — historique lisible et messages explicites</a:t>
            </a:r>
            <a:endParaRPr lang="en-US" sz="1050" dirty="0"/>
          </a:p>
        </p:txBody>
      </p:sp>
      <p:sp>
        <p:nvSpPr>
          <p:cNvPr id="14" name="Shape 12"/>
          <p:cNvSpPr/>
          <p:nvPr/>
        </p:nvSpPr>
        <p:spPr>
          <a:xfrm>
            <a:off x="640080" y="4251960"/>
            <a:ext cx="384048" cy="384048"/>
          </a:xfrm>
          <a:prstGeom prst="ellipse">
            <a:avLst/>
          </a:prstGeom>
          <a:solidFill>
            <a:srgbClr val="C9A96E"/>
          </a:solidFill>
          <a:ln/>
        </p:spPr>
        <p:txBody>
          <a:bodyPr/>
          <a:lstStyle/>
          <a:p>
            <a:endParaRPr lang="fr-FR"/>
          </a:p>
        </p:txBody>
      </p:sp>
      <p:sp>
        <p:nvSpPr>
          <p:cNvPr id="15" name="Text 13"/>
          <p:cNvSpPr/>
          <p:nvPr/>
        </p:nvSpPr>
        <p:spPr>
          <a:xfrm>
            <a:off x="640080" y="4251960"/>
            <a:ext cx="384048" cy="384048"/>
          </a:xfrm>
          <a:prstGeom prst="rect">
            <a:avLst/>
          </a:prstGeom>
          <a:noFill/>
          <a:ln/>
        </p:spPr>
        <p:txBody>
          <a:bodyPr wrap="square" lIns="0" tIns="0" rIns="0" bIns="0" rtlCol="0" anchor="ctr"/>
          <a:lstStyle/>
          <a:p>
            <a:pPr marL="0" indent="0" algn="ctr">
              <a:buNone/>
            </a:pPr>
            <a:r>
              <a:rPr lang="en-US" sz="1400" b="1" dirty="0">
                <a:solidFill>
                  <a:srgbClr val="1A1410"/>
                </a:solidFill>
                <a:latin typeface="Cambria" pitchFamily="34" charset="0"/>
                <a:ea typeface="Cambria" pitchFamily="34" charset="-122"/>
                <a:cs typeface="Cambria" pitchFamily="34" charset="-120"/>
              </a:rPr>
              <a:t>3</a:t>
            </a:r>
            <a:endParaRPr lang="en-US" sz="1400" dirty="0"/>
          </a:p>
        </p:txBody>
      </p:sp>
      <p:sp>
        <p:nvSpPr>
          <p:cNvPr id="16" name="Shape 14"/>
          <p:cNvSpPr/>
          <p:nvPr/>
        </p:nvSpPr>
        <p:spPr>
          <a:xfrm>
            <a:off x="832104" y="4636008"/>
            <a:ext cx="0" cy="781812"/>
          </a:xfrm>
          <a:prstGeom prst="line">
            <a:avLst/>
          </a:prstGeom>
          <a:noFill/>
          <a:ln w="12700">
            <a:solidFill>
              <a:srgbClr val="C9A96E"/>
            </a:solidFill>
            <a:prstDash val="dash"/>
          </a:ln>
        </p:spPr>
        <p:txBody>
          <a:bodyPr/>
          <a:lstStyle/>
          <a:p>
            <a:endParaRPr lang="fr-FR"/>
          </a:p>
        </p:txBody>
      </p:sp>
      <p:sp>
        <p:nvSpPr>
          <p:cNvPr id="17" name="Text 15"/>
          <p:cNvSpPr/>
          <p:nvPr/>
        </p:nvSpPr>
        <p:spPr>
          <a:xfrm>
            <a:off x="1325880" y="4197096"/>
            <a:ext cx="10225735" cy="320040"/>
          </a:xfrm>
          <a:prstGeom prst="rect">
            <a:avLst/>
          </a:prstGeom>
          <a:noFill/>
          <a:ln/>
        </p:spPr>
        <p:txBody>
          <a:bodyPr wrap="square" lIns="0" tIns="0" rIns="0" bIns="0" rtlCol="0" anchor="ctr"/>
          <a:lstStyle/>
          <a:p>
            <a:pPr marL="0" indent="0">
              <a:buNone/>
            </a:pPr>
            <a:r>
              <a:rPr lang="en-US" sz="1350" b="1" dirty="0">
                <a:solidFill>
                  <a:srgbClr val="0A0A0A"/>
                </a:solidFill>
                <a:latin typeface="Cambria" pitchFamily="34" charset="0"/>
                <a:ea typeface="Cambria" pitchFamily="34" charset="-122"/>
                <a:cs typeface="Cambria" pitchFamily="34" charset="-120"/>
              </a:rPr>
              <a:t>CI GitHub Actions — job backend</a:t>
            </a:r>
            <a:endParaRPr lang="en-US" sz="1350" dirty="0"/>
          </a:p>
        </p:txBody>
      </p:sp>
      <p:sp>
        <p:nvSpPr>
          <p:cNvPr id="18" name="Text 16"/>
          <p:cNvSpPr/>
          <p:nvPr/>
        </p:nvSpPr>
        <p:spPr>
          <a:xfrm>
            <a:off x="1325880" y="4507992"/>
            <a:ext cx="10088575" cy="845820"/>
          </a:xfrm>
          <a:prstGeom prst="rect">
            <a:avLst/>
          </a:prstGeom>
          <a:noFill/>
          <a:ln/>
        </p:spPr>
        <p:txBody>
          <a:bodyPr wrap="square" lIns="0" tIns="0" rIns="0" bIns="0" rtlCol="0" anchor="t"/>
          <a:lstStyle/>
          <a:p>
            <a:pPr marL="0" indent="0">
              <a:buNone/>
            </a:pPr>
            <a:r>
              <a:rPr lang="en-US" sz="1050" dirty="0">
                <a:solidFill>
                  <a:srgbClr val="5A5550"/>
                </a:solidFill>
                <a:latin typeface="Calibri" pitchFamily="34" charset="0"/>
                <a:ea typeface="Calibri" pitchFamily="34" charset="-122"/>
                <a:cs typeface="Calibri" pitchFamily="34" charset="-120"/>
              </a:rPr>
              <a:t>Lint PSR-12, PHPStan niveau 5, migrations, suite PHPUnit complète</a:t>
            </a:r>
            <a:endParaRPr lang="en-US" sz="1050" dirty="0"/>
          </a:p>
        </p:txBody>
      </p:sp>
      <p:sp>
        <p:nvSpPr>
          <p:cNvPr id="19" name="Shape 17"/>
          <p:cNvSpPr/>
          <p:nvPr/>
        </p:nvSpPr>
        <p:spPr>
          <a:xfrm>
            <a:off x="640080" y="5417820"/>
            <a:ext cx="384048" cy="384048"/>
          </a:xfrm>
          <a:prstGeom prst="ellipse">
            <a:avLst/>
          </a:prstGeom>
          <a:solidFill>
            <a:srgbClr val="C9A96E"/>
          </a:solidFill>
          <a:ln/>
        </p:spPr>
        <p:txBody>
          <a:bodyPr/>
          <a:lstStyle/>
          <a:p>
            <a:endParaRPr lang="fr-FR"/>
          </a:p>
        </p:txBody>
      </p:sp>
      <p:sp>
        <p:nvSpPr>
          <p:cNvPr id="20" name="Text 18"/>
          <p:cNvSpPr/>
          <p:nvPr/>
        </p:nvSpPr>
        <p:spPr>
          <a:xfrm>
            <a:off x="640080" y="5417820"/>
            <a:ext cx="384048" cy="384048"/>
          </a:xfrm>
          <a:prstGeom prst="rect">
            <a:avLst/>
          </a:prstGeom>
          <a:noFill/>
          <a:ln/>
        </p:spPr>
        <p:txBody>
          <a:bodyPr wrap="square" lIns="0" tIns="0" rIns="0" bIns="0" rtlCol="0" anchor="ctr"/>
          <a:lstStyle/>
          <a:p>
            <a:pPr marL="0" indent="0" algn="ctr">
              <a:buNone/>
            </a:pPr>
            <a:r>
              <a:rPr lang="en-US" sz="1400" b="1" dirty="0">
                <a:solidFill>
                  <a:srgbClr val="1A1410"/>
                </a:solidFill>
                <a:latin typeface="Cambria" pitchFamily="34" charset="0"/>
                <a:ea typeface="Cambria" pitchFamily="34" charset="-122"/>
                <a:cs typeface="Cambria" pitchFamily="34" charset="-120"/>
              </a:rPr>
              <a:t>4</a:t>
            </a:r>
            <a:endParaRPr lang="en-US" sz="1400" dirty="0"/>
          </a:p>
        </p:txBody>
      </p:sp>
      <p:sp>
        <p:nvSpPr>
          <p:cNvPr id="21" name="Text 19"/>
          <p:cNvSpPr/>
          <p:nvPr/>
        </p:nvSpPr>
        <p:spPr>
          <a:xfrm>
            <a:off x="1325880" y="5362956"/>
            <a:ext cx="10225735" cy="320040"/>
          </a:xfrm>
          <a:prstGeom prst="rect">
            <a:avLst/>
          </a:prstGeom>
          <a:noFill/>
          <a:ln/>
        </p:spPr>
        <p:txBody>
          <a:bodyPr wrap="square" lIns="0" tIns="0" rIns="0" bIns="0" rtlCol="0" anchor="ctr"/>
          <a:lstStyle/>
          <a:p>
            <a:pPr marL="0" indent="0">
              <a:buNone/>
            </a:pPr>
            <a:r>
              <a:rPr lang="en-US" sz="1350" b="1" dirty="0">
                <a:solidFill>
                  <a:srgbClr val="0A0A0A"/>
                </a:solidFill>
                <a:latin typeface="Cambria" pitchFamily="34" charset="0"/>
                <a:ea typeface="Cambria" pitchFamily="34" charset="-122"/>
                <a:cs typeface="Cambria" pitchFamily="34" charset="-120"/>
              </a:rPr>
              <a:t>CI GitHub Actions — job frontend puis docker-build</a:t>
            </a:r>
            <a:endParaRPr lang="en-US" sz="1350" dirty="0"/>
          </a:p>
        </p:txBody>
      </p:sp>
      <p:sp>
        <p:nvSpPr>
          <p:cNvPr id="22" name="Text 20"/>
          <p:cNvSpPr/>
          <p:nvPr/>
        </p:nvSpPr>
        <p:spPr>
          <a:xfrm>
            <a:off x="1325880" y="5673852"/>
            <a:ext cx="10088575" cy="845820"/>
          </a:xfrm>
          <a:prstGeom prst="rect">
            <a:avLst/>
          </a:prstGeom>
          <a:noFill/>
          <a:ln/>
        </p:spPr>
        <p:txBody>
          <a:bodyPr wrap="square" lIns="0" tIns="0" rIns="0" bIns="0" rtlCol="0" anchor="t"/>
          <a:lstStyle/>
          <a:p>
            <a:pPr marL="0" indent="0">
              <a:buNone/>
            </a:pPr>
            <a:r>
              <a:rPr lang="en-US" sz="1050" dirty="0">
                <a:solidFill>
                  <a:srgbClr val="5A5550"/>
                </a:solidFill>
                <a:latin typeface="Calibri" pitchFamily="34" charset="0"/>
                <a:ea typeface="Calibri" pitchFamily="34" charset="-122"/>
                <a:cs typeface="Calibri" pitchFamily="34" charset="-120"/>
              </a:rPr>
              <a:t>Lint, build Vite, puis construction des images Docker (seulement si les 2 jobs précédents réussissent)</a:t>
            </a:r>
            <a:endParaRPr lang="en-US" sz="1050" dirty="0"/>
          </a:p>
        </p:txBody>
      </p:sp>
      <p:sp>
        <p:nvSpPr>
          <p:cNvPr id="23" name="Text 21"/>
          <p:cNvSpPr/>
          <p:nvPr/>
        </p:nvSpPr>
        <p:spPr>
          <a:xfrm>
            <a:off x="640080" y="6473952"/>
            <a:ext cx="7315200" cy="274320"/>
          </a:xfrm>
          <a:prstGeom prst="rect">
            <a:avLst/>
          </a:prstGeom>
          <a:noFill/>
          <a:ln/>
        </p:spPr>
        <p:txBody>
          <a:bodyPr wrap="square" rtlCol="0" anchor="ctr"/>
          <a:lstStyle/>
          <a:p>
            <a:pPr marL="0" indent="0" algn="l">
              <a:buNone/>
            </a:pPr>
            <a:r>
              <a:rPr lang="en-US" sz="900" dirty="0">
                <a:solidFill>
                  <a:srgbClr val="5A5550"/>
                </a:solidFill>
                <a:latin typeface="Calibri" pitchFamily="34" charset="0"/>
                <a:ea typeface="Calibri" pitchFamily="34" charset="-122"/>
                <a:cs typeface="Calibri" pitchFamily="34" charset="-120"/>
              </a:rPr>
              <a:t>Amoura — Soutenance CDA 2026</a:t>
            </a:r>
            <a:endParaRPr lang="en-US" sz="900" dirty="0"/>
          </a:p>
        </p:txBody>
      </p:sp>
      <p:sp>
        <p:nvSpPr>
          <p:cNvPr id="24" name="Text 22"/>
          <p:cNvSpPr/>
          <p:nvPr/>
        </p:nvSpPr>
        <p:spPr>
          <a:xfrm>
            <a:off x="11002975" y="6473952"/>
            <a:ext cx="548640" cy="274320"/>
          </a:xfrm>
          <a:prstGeom prst="rect">
            <a:avLst/>
          </a:prstGeom>
          <a:noFill/>
          <a:ln/>
        </p:spPr>
        <p:txBody>
          <a:bodyPr wrap="square" rtlCol="0" anchor="ctr"/>
          <a:lstStyle/>
          <a:p>
            <a:pPr marL="0" indent="0" algn="r">
              <a:buNone/>
            </a:pPr>
            <a:r>
              <a:rPr lang="en-US" sz="900" dirty="0">
                <a:solidFill>
                  <a:srgbClr val="5A5550"/>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A1410"/>
        </a:solidFill>
        <a:effectLst/>
      </p:bgPr>
    </p:bg>
    <p:spTree>
      <p:nvGrpSpPr>
        <p:cNvPr id="1" name=""/>
        <p:cNvGrpSpPr/>
        <p:nvPr/>
      </p:nvGrpSpPr>
      <p:grpSpPr>
        <a:xfrm>
          <a:off x="0" y="0"/>
          <a:ext cx="0" cy="0"/>
          <a:chOff x="0" y="0"/>
          <a:chExt cx="0" cy="0"/>
        </a:xfrm>
      </p:grpSpPr>
      <p:sp>
        <p:nvSpPr>
          <p:cNvPr id="2" name="Shape 0"/>
          <p:cNvSpPr/>
          <p:nvPr/>
        </p:nvSpPr>
        <p:spPr>
          <a:xfrm>
            <a:off x="5638648" y="1965960"/>
            <a:ext cx="914400" cy="914400"/>
          </a:xfrm>
          <a:prstGeom prst="ellipse">
            <a:avLst/>
          </a:prstGeom>
          <a:solidFill>
            <a:srgbClr val="C9A96E"/>
          </a:solidFill>
          <a:ln/>
        </p:spPr>
        <p:txBody>
          <a:bodyPr/>
          <a:lstStyle/>
          <a:p>
            <a:endParaRPr lang="fr-FR"/>
          </a:p>
        </p:txBody>
      </p:sp>
      <p:sp>
        <p:nvSpPr>
          <p:cNvPr id="3" name="Text 1"/>
          <p:cNvSpPr/>
          <p:nvPr/>
        </p:nvSpPr>
        <p:spPr>
          <a:xfrm>
            <a:off x="5638648" y="1965960"/>
            <a:ext cx="914400" cy="914400"/>
          </a:xfrm>
          <a:prstGeom prst="rect">
            <a:avLst/>
          </a:prstGeom>
          <a:noFill/>
          <a:ln/>
        </p:spPr>
        <p:txBody>
          <a:bodyPr wrap="square" lIns="0" tIns="0" rIns="0" bIns="0" rtlCol="0" anchor="ctr"/>
          <a:lstStyle/>
          <a:p>
            <a:pPr marL="0" indent="0" algn="ctr">
              <a:buNone/>
            </a:pPr>
            <a:r>
              <a:rPr lang="en-US" sz="3000" b="1" dirty="0">
                <a:solidFill>
                  <a:srgbClr val="1A1410"/>
                </a:solidFill>
                <a:latin typeface="Cambria" pitchFamily="34" charset="0"/>
                <a:ea typeface="Cambria" pitchFamily="34" charset="-122"/>
                <a:cs typeface="Cambria" pitchFamily="34" charset="-120"/>
              </a:rPr>
              <a:t>3</a:t>
            </a:r>
            <a:endParaRPr lang="en-US" sz="3000" dirty="0"/>
          </a:p>
        </p:txBody>
      </p:sp>
      <p:sp>
        <p:nvSpPr>
          <p:cNvPr id="4" name="Text 2"/>
          <p:cNvSpPr/>
          <p:nvPr/>
        </p:nvSpPr>
        <p:spPr>
          <a:xfrm>
            <a:off x="914400" y="3063240"/>
            <a:ext cx="10362895" cy="1005840"/>
          </a:xfrm>
          <a:prstGeom prst="rect">
            <a:avLst/>
          </a:prstGeom>
          <a:noFill/>
          <a:ln/>
        </p:spPr>
        <p:txBody>
          <a:bodyPr wrap="square" rtlCol="0" anchor="ctr"/>
          <a:lstStyle/>
          <a:p>
            <a:pPr marL="0" indent="0" algn="ctr">
              <a:buNone/>
            </a:pPr>
            <a:r>
              <a:rPr lang="en-US" sz="4000" b="1" dirty="0">
                <a:solidFill>
                  <a:srgbClr val="FAF8F5"/>
                </a:solidFill>
                <a:latin typeface="Cambria" pitchFamily="34" charset="0"/>
                <a:ea typeface="Cambria" pitchFamily="34" charset="-122"/>
                <a:cs typeface="Cambria" pitchFamily="34" charset="-120"/>
              </a:rPr>
              <a:t>Conception UI/UX</a:t>
            </a:r>
            <a:endParaRPr lang="en-US" sz="4000" dirty="0"/>
          </a:p>
        </p:txBody>
      </p:sp>
      <p:sp>
        <p:nvSpPr>
          <p:cNvPr id="5" name="Text 3"/>
          <p:cNvSpPr/>
          <p:nvPr/>
        </p:nvSpPr>
        <p:spPr>
          <a:xfrm>
            <a:off x="1371600" y="4069080"/>
            <a:ext cx="9448495" cy="548640"/>
          </a:xfrm>
          <a:prstGeom prst="rect">
            <a:avLst/>
          </a:prstGeom>
          <a:noFill/>
          <a:ln/>
        </p:spPr>
        <p:txBody>
          <a:bodyPr wrap="square" rtlCol="0" anchor="ctr"/>
          <a:lstStyle/>
          <a:p>
            <a:pPr marL="0" indent="0" algn="ctr">
              <a:buNone/>
            </a:pPr>
            <a:r>
              <a:rPr lang="en-US" sz="1500" i="1" dirty="0">
                <a:solidFill>
                  <a:srgbClr val="E8E5E0"/>
                </a:solidFill>
                <a:latin typeface="Calibri" pitchFamily="34" charset="0"/>
                <a:ea typeface="Calibri" pitchFamily="34" charset="-122"/>
                <a:cs typeface="Calibri" pitchFamily="34" charset="-120"/>
              </a:rPr>
              <a:t>Charte graphique et expérience utilisateur</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8F5"/>
        </a:solidFill>
        <a:effectLst/>
      </p:bgPr>
    </p:bg>
    <p:spTree>
      <p:nvGrpSpPr>
        <p:cNvPr id="1" name=""/>
        <p:cNvGrpSpPr/>
        <p:nvPr/>
      </p:nvGrpSpPr>
      <p:grpSpPr>
        <a:xfrm>
          <a:off x="0" y="0"/>
          <a:ext cx="0" cy="0"/>
          <a:chOff x="0" y="0"/>
          <a:chExt cx="0" cy="0"/>
        </a:xfrm>
      </p:grpSpPr>
      <p:sp>
        <p:nvSpPr>
          <p:cNvPr id="2" name="Text 0"/>
          <p:cNvSpPr/>
          <p:nvPr/>
        </p:nvSpPr>
        <p:spPr>
          <a:xfrm>
            <a:off x="640080" y="411480"/>
            <a:ext cx="10911535" cy="320040"/>
          </a:xfrm>
          <a:prstGeom prst="rect">
            <a:avLst/>
          </a:prstGeom>
          <a:noFill/>
          <a:ln/>
        </p:spPr>
        <p:txBody>
          <a:bodyPr wrap="square" rtlCol="0" anchor="ctr"/>
          <a:lstStyle/>
          <a:p>
            <a:pPr marL="0" indent="0">
              <a:buNone/>
            </a:pPr>
            <a:r>
              <a:rPr lang="en-US" sz="1200" b="1" kern="0" spc="250" dirty="0">
                <a:solidFill>
                  <a:srgbClr val="C9A96E"/>
                </a:solidFill>
                <a:latin typeface="Calibri" pitchFamily="34" charset="0"/>
                <a:ea typeface="Calibri" pitchFamily="34" charset="-122"/>
                <a:cs typeface="Calibri" pitchFamily="34" charset="-120"/>
              </a:rPr>
              <a:t>IDENTITÉ VISUELLE</a:t>
            </a:r>
            <a:endParaRPr lang="en-US" sz="1200" dirty="0"/>
          </a:p>
        </p:txBody>
      </p:sp>
      <p:sp>
        <p:nvSpPr>
          <p:cNvPr id="3" name="Text 1"/>
          <p:cNvSpPr/>
          <p:nvPr/>
        </p:nvSpPr>
        <p:spPr>
          <a:xfrm>
            <a:off x="640080" y="713232"/>
            <a:ext cx="10911535" cy="640080"/>
          </a:xfrm>
          <a:prstGeom prst="rect">
            <a:avLst/>
          </a:prstGeom>
          <a:noFill/>
          <a:ln/>
        </p:spPr>
        <p:txBody>
          <a:bodyPr wrap="square" rtlCol="0" anchor="ctr"/>
          <a:lstStyle/>
          <a:p>
            <a:pPr marL="0" indent="0">
              <a:buNone/>
            </a:pPr>
            <a:r>
              <a:rPr lang="en-US" sz="2800" b="1" dirty="0">
                <a:solidFill>
                  <a:srgbClr val="0A0A0A"/>
                </a:solidFill>
                <a:latin typeface="Cambria" pitchFamily="34" charset="0"/>
                <a:ea typeface="Cambria" pitchFamily="34" charset="-122"/>
                <a:cs typeface="Cambria" pitchFamily="34" charset="-120"/>
              </a:rPr>
              <a:t>La charte graphique du projet</a:t>
            </a:r>
            <a:endParaRPr lang="en-US" sz="2800" dirty="0"/>
          </a:p>
        </p:txBody>
      </p:sp>
      <p:sp>
        <p:nvSpPr>
          <p:cNvPr id="4" name="Shape 2"/>
          <p:cNvSpPr/>
          <p:nvPr/>
        </p:nvSpPr>
        <p:spPr>
          <a:xfrm>
            <a:off x="783184" y="1691640"/>
            <a:ext cx="1920240" cy="1371600"/>
          </a:xfrm>
          <a:prstGeom prst="roundRect">
            <a:avLst>
              <a:gd name="adj" fmla="val 6667"/>
            </a:avLst>
          </a:prstGeom>
          <a:solidFill>
            <a:srgbClr val="FAF8F5"/>
          </a:solidFill>
          <a:ln w="6350">
            <a:solidFill>
              <a:srgbClr val="5A5550"/>
            </a:solidFill>
            <a:prstDash val="solid"/>
          </a:ln>
          <a:effectLst>
            <a:outerShdw blurRad="50800" dist="25400" dir="5400000" algn="bl" rotWithShape="0">
              <a:srgbClr val="000000">
                <a:alpha val="12000"/>
              </a:srgbClr>
            </a:outerShdw>
          </a:effectLst>
        </p:spPr>
        <p:txBody>
          <a:bodyPr/>
          <a:lstStyle/>
          <a:p>
            <a:endParaRPr lang="fr-FR"/>
          </a:p>
        </p:txBody>
      </p:sp>
      <p:sp>
        <p:nvSpPr>
          <p:cNvPr id="5" name="Text 3"/>
          <p:cNvSpPr/>
          <p:nvPr/>
        </p:nvSpPr>
        <p:spPr>
          <a:xfrm>
            <a:off x="783184" y="3154680"/>
            <a:ext cx="1920240" cy="274320"/>
          </a:xfrm>
          <a:prstGeom prst="rect">
            <a:avLst/>
          </a:prstGeom>
          <a:noFill/>
          <a:ln/>
        </p:spPr>
        <p:txBody>
          <a:bodyPr wrap="square" lIns="0" tIns="0" rIns="0" bIns="0" rtlCol="0" anchor="ctr"/>
          <a:lstStyle/>
          <a:p>
            <a:pPr marL="0" indent="0" algn="ctr">
              <a:buNone/>
            </a:pPr>
            <a:r>
              <a:rPr lang="en-US" sz="1250" b="1" dirty="0">
                <a:solidFill>
                  <a:srgbClr val="0A0A0A"/>
                </a:solidFill>
                <a:latin typeface="Cambria" pitchFamily="34" charset="0"/>
                <a:ea typeface="Cambria" pitchFamily="34" charset="-122"/>
                <a:cs typeface="Cambria" pitchFamily="34" charset="-120"/>
              </a:rPr>
              <a:t>Crème</a:t>
            </a:r>
            <a:endParaRPr lang="en-US" sz="1250" dirty="0"/>
          </a:p>
        </p:txBody>
      </p:sp>
      <p:sp>
        <p:nvSpPr>
          <p:cNvPr id="6" name="Text 4"/>
          <p:cNvSpPr/>
          <p:nvPr/>
        </p:nvSpPr>
        <p:spPr>
          <a:xfrm>
            <a:off x="783184" y="3401568"/>
            <a:ext cx="1920240" cy="228600"/>
          </a:xfrm>
          <a:prstGeom prst="rect">
            <a:avLst/>
          </a:prstGeom>
          <a:noFill/>
          <a:ln/>
        </p:spPr>
        <p:txBody>
          <a:bodyPr wrap="square" lIns="0" tIns="0" rIns="0" bIns="0" rtlCol="0" anchor="ctr"/>
          <a:lstStyle/>
          <a:p>
            <a:pPr marL="0" indent="0" algn="ctr">
              <a:buNone/>
            </a:pPr>
            <a:r>
              <a:rPr lang="en-US" sz="950" dirty="0">
                <a:solidFill>
                  <a:srgbClr val="5A5550"/>
                </a:solidFill>
                <a:latin typeface="Courier New" pitchFamily="34" charset="0"/>
                <a:ea typeface="Courier New" pitchFamily="34" charset="-122"/>
                <a:cs typeface="Courier New" pitchFamily="34" charset="-120"/>
              </a:rPr>
              <a:t>#FAF8F5</a:t>
            </a:r>
            <a:endParaRPr lang="en-US" sz="950" dirty="0"/>
          </a:p>
        </p:txBody>
      </p:sp>
      <p:sp>
        <p:nvSpPr>
          <p:cNvPr id="7" name="Text 5"/>
          <p:cNvSpPr/>
          <p:nvPr/>
        </p:nvSpPr>
        <p:spPr>
          <a:xfrm>
            <a:off x="783184" y="3639312"/>
            <a:ext cx="1920240" cy="274320"/>
          </a:xfrm>
          <a:prstGeom prst="rect">
            <a:avLst/>
          </a:prstGeom>
          <a:noFill/>
          <a:ln/>
        </p:spPr>
        <p:txBody>
          <a:bodyPr wrap="square" lIns="0" tIns="0" rIns="0" bIns="0" rtlCol="0" anchor="ctr"/>
          <a:lstStyle/>
          <a:p>
            <a:pPr marL="0" indent="0" algn="ctr">
              <a:buNone/>
            </a:pPr>
            <a:r>
              <a:rPr lang="en-US" sz="950" i="1" dirty="0">
                <a:solidFill>
                  <a:srgbClr val="5A5550"/>
                </a:solidFill>
                <a:latin typeface="Calibri" pitchFamily="34" charset="0"/>
                <a:ea typeface="Calibri" pitchFamily="34" charset="-122"/>
                <a:cs typeface="Calibri" pitchFamily="34" charset="-120"/>
              </a:rPr>
              <a:t>Fond principal</a:t>
            </a:r>
            <a:endParaRPr lang="en-US" sz="950" dirty="0"/>
          </a:p>
        </p:txBody>
      </p:sp>
      <p:sp>
        <p:nvSpPr>
          <p:cNvPr id="8" name="Shape 6"/>
          <p:cNvSpPr/>
          <p:nvPr/>
        </p:nvSpPr>
        <p:spPr>
          <a:xfrm>
            <a:off x="2959456" y="1691640"/>
            <a:ext cx="1920240" cy="1371600"/>
          </a:xfrm>
          <a:prstGeom prst="roundRect">
            <a:avLst>
              <a:gd name="adj" fmla="val 6667"/>
            </a:avLst>
          </a:prstGeom>
          <a:solidFill>
            <a:srgbClr val="0A0A0A"/>
          </a:solidFill>
          <a:ln w="6350">
            <a:solidFill>
              <a:srgbClr val="5A5550"/>
            </a:solidFill>
            <a:prstDash val="solid"/>
          </a:ln>
          <a:effectLst>
            <a:outerShdw blurRad="50800" dist="25400" dir="5400000" algn="bl" rotWithShape="0">
              <a:srgbClr val="000000">
                <a:alpha val="12000"/>
              </a:srgbClr>
            </a:outerShdw>
          </a:effectLst>
        </p:spPr>
        <p:txBody>
          <a:bodyPr/>
          <a:lstStyle/>
          <a:p>
            <a:endParaRPr lang="fr-FR"/>
          </a:p>
        </p:txBody>
      </p:sp>
      <p:sp>
        <p:nvSpPr>
          <p:cNvPr id="9" name="Text 7"/>
          <p:cNvSpPr/>
          <p:nvPr/>
        </p:nvSpPr>
        <p:spPr>
          <a:xfrm>
            <a:off x="2959456" y="3154680"/>
            <a:ext cx="1920240" cy="274320"/>
          </a:xfrm>
          <a:prstGeom prst="rect">
            <a:avLst/>
          </a:prstGeom>
          <a:noFill/>
          <a:ln/>
        </p:spPr>
        <p:txBody>
          <a:bodyPr wrap="square" lIns="0" tIns="0" rIns="0" bIns="0" rtlCol="0" anchor="ctr"/>
          <a:lstStyle/>
          <a:p>
            <a:pPr marL="0" indent="0" algn="ctr">
              <a:buNone/>
            </a:pPr>
            <a:r>
              <a:rPr lang="en-US" sz="1250" b="1" dirty="0">
                <a:solidFill>
                  <a:srgbClr val="0A0A0A"/>
                </a:solidFill>
                <a:latin typeface="Cambria" pitchFamily="34" charset="0"/>
                <a:ea typeface="Cambria" pitchFamily="34" charset="-122"/>
                <a:cs typeface="Cambria" pitchFamily="34" charset="-120"/>
              </a:rPr>
              <a:t>Noir</a:t>
            </a:r>
            <a:endParaRPr lang="en-US" sz="1250" dirty="0"/>
          </a:p>
        </p:txBody>
      </p:sp>
      <p:sp>
        <p:nvSpPr>
          <p:cNvPr id="10" name="Text 8"/>
          <p:cNvSpPr/>
          <p:nvPr/>
        </p:nvSpPr>
        <p:spPr>
          <a:xfrm>
            <a:off x="2959456" y="3401568"/>
            <a:ext cx="1920240" cy="228600"/>
          </a:xfrm>
          <a:prstGeom prst="rect">
            <a:avLst/>
          </a:prstGeom>
          <a:noFill/>
          <a:ln/>
        </p:spPr>
        <p:txBody>
          <a:bodyPr wrap="square" lIns="0" tIns="0" rIns="0" bIns="0" rtlCol="0" anchor="ctr"/>
          <a:lstStyle/>
          <a:p>
            <a:pPr marL="0" indent="0" algn="ctr">
              <a:buNone/>
            </a:pPr>
            <a:r>
              <a:rPr lang="en-US" sz="950" dirty="0">
                <a:solidFill>
                  <a:srgbClr val="5A5550"/>
                </a:solidFill>
                <a:latin typeface="Courier New" pitchFamily="34" charset="0"/>
                <a:ea typeface="Courier New" pitchFamily="34" charset="-122"/>
                <a:cs typeface="Courier New" pitchFamily="34" charset="-120"/>
              </a:rPr>
              <a:t>#0A0A0A</a:t>
            </a:r>
            <a:endParaRPr lang="en-US" sz="950" dirty="0"/>
          </a:p>
        </p:txBody>
      </p:sp>
      <p:sp>
        <p:nvSpPr>
          <p:cNvPr id="11" name="Text 9"/>
          <p:cNvSpPr/>
          <p:nvPr/>
        </p:nvSpPr>
        <p:spPr>
          <a:xfrm>
            <a:off x="2959456" y="3639312"/>
            <a:ext cx="1920240" cy="274320"/>
          </a:xfrm>
          <a:prstGeom prst="rect">
            <a:avLst/>
          </a:prstGeom>
          <a:noFill/>
          <a:ln/>
        </p:spPr>
        <p:txBody>
          <a:bodyPr wrap="square" lIns="0" tIns="0" rIns="0" bIns="0" rtlCol="0" anchor="ctr"/>
          <a:lstStyle/>
          <a:p>
            <a:pPr marL="0" indent="0" algn="ctr">
              <a:buNone/>
            </a:pPr>
            <a:r>
              <a:rPr lang="en-US" sz="950" i="1" dirty="0">
                <a:solidFill>
                  <a:srgbClr val="5A5550"/>
                </a:solidFill>
                <a:latin typeface="Calibri" pitchFamily="34" charset="0"/>
                <a:ea typeface="Calibri" pitchFamily="34" charset="-122"/>
                <a:cs typeface="Calibri" pitchFamily="34" charset="-120"/>
              </a:rPr>
              <a:t>Textes, CTA</a:t>
            </a:r>
            <a:endParaRPr lang="en-US" sz="950" dirty="0"/>
          </a:p>
        </p:txBody>
      </p:sp>
      <p:sp>
        <p:nvSpPr>
          <p:cNvPr id="12" name="Shape 10"/>
          <p:cNvSpPr/>
          <p:nvPr/>
        </p:nvSpPr>
        <p:spPr>
          <a:xfrm>
            <a:off x="5135728" y="1691640"/>
            <a:ext cx="1920240" cy="1371600"/>
          </a:xfrm>
          <a:prstGeom prst="roundRect">
            <a:avLst>
              <a:gd name="adj" fmla="val 6667"/>
            </a:avLst>
          </a:prstGeom>
          <a:solidFill>
            <a:srgbClr val="C9A96E"/>
          </a:solidFill>
          <a:ln w="6350">
            <a:solidFill>
              <a:srgbClr val="5A5550"/>
            </a:solidFill>
            <a:prstDash val="solid"/>
          </a:ln>
          <a:effectLst>
            <a:outerShdw blurRad="50800" dist="25400" dir="5400000" algn="bl" rotWithShape="0">
              <a:srgbClr val="000000">
                <a:alpha val="12000"/>
              </a:srgbClr>
            </a:outerShdw>
          </a:effectLst>
        </p:spPr>
        <p:txBody>
          <a:bodyPr/>
          <a:lstStyle/>
          <a:p>
            <a:endParaRPr lang="fr-FR"/>
          </a:p>
        </p:txBody>
      </p:sp>
      <p:sp>
        <p:nvSpPr>
          <p:cNvPr id="13" name="Text 11"/>
          <p:cNvSpPr/>
          <p:nvPr/>
        </p:nvSpPr>
        <p:spPr>
          <a:xfrm>
            <a:off x="5135728" y="3154680"/>
            <a:ext cx="1920240" cy="274320"/>
          </a:xfrm>
          <a:prstGeom prst="rect">
            <a:avLst/>
          </a:prstGeom>
          <a:noFill/>
          <a:ln/>
        </p:spPr>
        <p:txBody>
          <a:bodyPr wrap="square" lIns="0" tIns="0" rIns="0" bIns="0" rtlCol="0" anchor="ctr"/>
          <a:lstStyle/>
          <a:p>
            <a:pPr marL="0" indent="0" algn="ctr">
              <a:buNone/>
            </a:pPr>
            <a:r>
              <a:rPr lang="en-US" sz="1250" b="1" dirty="0">
                <a:solidFill>
                  <a:srgbClr val="0A0A0A"/>
                </a:solidFill>
                <a:latin typeface="Cambria" pitchFamily="34" charset="0"/>
                <a:ea typeface="Cambria" pitchFamily="34" charset="-122"/>
                <a:cs typeface="Cambria" pitchFamily="34" charset="-120"/>
              </a:rPr>
              <a:t>Or</a:t>
            </a:r>
            <a:endParaRPr lang="en-US" sz="1250" dirty="0"/>
          </a:p>
        </p:txBody>
      </p:sp>
      <p:sp>
        <p:nvSpPr>
          <p:cNvPr id="14" name="Text 12"/>
          <p:cNvSpPr/>
          <p:nvPr/>
        </p:nvSpPr>
        <p:spPr>
          <a:xfrm>
            <a:off x="5135728" y="3401568"/>
            <a:ext cx="1920240" cy="228600"/>
          </a:xfrm>
          <a:prstGeom prst="rect">
            <a:avLst/>
          </a:prstGeom>
          <a:noFill/>
          <a:ln/>
        </p:spPr>
        <p:txBody>
          <a:bodyPr wrap="square" lIns="0" tIns="0" rIns="0" bIns="0" rtlCol="0" anchor="ctr"/>
          <a:lstStyle/>
          <a:p>
            <a:pPr marL="0" indent="0" algn="ctr">
              <a:buNone/>
            </a:pPr>
            <a:r>
              <a:rPr lang="en-US" sz="950" dirty="0">
                <a:solidFill>
                  <a:srgbClr val="5A5550"/>
                </a:solidFill>
                <a:latin typeface="Courier New" pitchFamily="34" charset="0"/>
                <a:ea typeface="Courier New" pitchFamily="34" charset="-122"/>
                <a:cs typeface="Courier New" pitchFamily="34" charset="-120"/>
              </a:rPr>
              <a:t>#C9A96E</a:t>
            </a:r>
            <a:endParaRPr lang="en-US" sz="950" dirty="0"/>
          </a:p>
        </p:txBody>
      </p:sp>
      <p:sp>
        <p:nvSpPr>
          <p:cNvPr id="15" name="Text 13"/>
          <p:cNvSpPr/>
          <p:nvPr/>
        </p:nvSpPr>
        <p:spPr>
          <a:xfrm>
            <a:off x="5135728" y="3639312"/>
            <a:ext cx="1920240" cy="274320"/>
          </a:xfrm>
          <a:prstGeom prst="rect">
            <a:avLst/>
          </a:prstGeom>
          <a:noFill/>
          <a:ln/>
        </p:spPr>
        <p:txBody>
          <a:bodyPr wrap="square" lIns="0" tIns="0" rIns="0" bIns="0" rtlCol="0" anchor="ctr"/>
          <a:lstStyle/>
          <a:p>
            <a:pPr marL="0" indent="0" algn="ctr">
              <a:buNone/>
            </a:pPr>
            <a:r>
              <a:rPr lang="en-US" sz="950" i="1" dirty="0">
                <a:solidFill>
                  <a:srgbClr val="5A5550"/>
                </a:solidFill>
                <a:latin typeface="Calibri" pitchFamily="34" charset="0"/>
                <a:ea typeface="Calibri" pitchFamily="34" charset="-122"/>
                <a:cs typeface="Calibri" pitchFamily="34" charset="-120"/>
              </a:rPr>
              <a:t>Accents, fidélité</a:t>
            </a:r>
            <a:endParaRPr lang="en-US" sz="950" dirty="0"/>
          </a:p>
        </p:txBody>
      </p:sp>
      <p:sp>
        <p:nvSpPr>
          <p:cNvPr id="16" name="Shape 14"/>
          <p:cNvSpPr/>
          <p:nvPr/>
        </p:nvSpPr>
        <p:spPr>
          <a:xfrm>
            <a:off x="7312000" y="1691640"/>
            <a:ext cx="1920240" cy="1371600"/>
          </a:xfrm>
          <a:prstGeom prst="roundRect">
            <a:avLst>
              <a:gd name="adj" fmla="val 6667"/>
            </a:avLst>
          </a:prstGeom>
          <a:solidFill>
            <a:srgbClr val="1A1410"/>
          </a:solidFill>
          <a:ln w="6350">
            <a:solidFill>
              <a:srgbClr val="5A5550"/>
            </a:solidFill>
            <a:prstDash val="solid"/>
          </a:ln>
          <a:effectLst>
            <a:outerShdw blurRad="50800" dist="25400" dir="5400000" algn="bl" rotWithShape="0">
              <a:srgbClr val="000000">
                <a:alpha val="12000"/>
              </a:srgbClr>
            </a:outerShdw>
          </a:effectLst>
        </p:spPr>
        <p:txBody>
          <a:bodyPr/>
          <a:lstStyle/>
          <a:p>
            <a:endParaRPr lang="fr-FR"/>
          </a:p>
        </p:txBody>
      </p:sp>
      <p:sp>
        <p:nvSpPr>
          <p:cNvPr id="17" name="Text 15"/>
          <p:cNvSpPr/>
          <p:nvPr/>
        </p:nvSpPr>
        <p:spPr>
          <a:xfrm>
            <a:off x="7312000" y="3154680"/>
            <a:ext cx="1920240" cy="274320"/>
          </a:xfrm>
          <a:prstGeom prst="rect">
            <a:avLst/>
          </a:prstGeom>
          <a:noFill/>
          <a:ln/>
        </p:spPr>
        <p:txBody>
          <a:bodyPr wrap="square" lIns="0" tIns="0" rIns="0" bIns="0" rtlCol="0" anchor="ctr"/>
          <a:lstStyle/>
          <a:p>
            <a:pPr marL="0" indent="0" algn="ctr">
              <a:buNone/>
            </a:pPr>
            <a:r>
              <a:rPr lang="en-US" sz="1250" b="1" dirty="0">
                <a:solidFill>
                  <a:srgbClr val="0A0A0A"/>
                </a:solidFill>
                <a:latin typeface="Cambria" pitchFamily="34" charset="0"/>
                <a:ea typeface="Cambria" pitchFamily="34" charset="-122"/>
                <a:cs typeface="Cambria" pitchFamily="34" charset="-120"/>
              </a:rPr>
              <a:t>Warm Dark</a:t>
            </a:r>
            <a:endParaRPr lang="en-US" sz="1250" dirty="0"/>
          </a:p>
        </p:txBody>
      </p:sp>
      <p:sp>
        <p:nvSpPr>
          <p:cNvPr id="18" name="Text 16"/>
          <p:cNvSpPr/>
          <p:nvPr/>
        </p:nvSpPr>
        <p:spPr>
          <a:xfrm>
            <a:off x="7312000" y="3401568"/>
            <a:ext cx="1920240" cy="228600"/>
          </a:xfrm>
          <a:prstGeom prst="rect">
            <a:avLst/>
          </a:prstGeom>
          <a:noFill/>
          <a:ln/>
        </p:spPr>
        <p:txBody>
          <a:bodyPr wrap="square" lIns="0" tIns="0" rIns="0" bIns="0" rtlCol="0" anchor="ctr"/>
          <a:lstStyle/>
          <a:p>
            <a:pPr marL="0" indent="0" algn="ctr">
              <a:buNone/>
            </a:pPr>
            <a:r>
              <a:rPr lang="en-US" sz="950" dirty="0">
                <a:solidFill>
                  <a:srgbClr val="5A5550"/>
                </a:solidFill>
                <a:latin typeface="Courier New" pitchFamily="34" charset="0"/>
                <a:ea typeface="Courier New" pitchFamily="34" charset="-122"/>
                <a:cs typeface="Courier New" pitchFamily="34" charset="-120"/>
              </a:rPr>
              <a:t>#1A1410</a:t>
            </a:r>
            <a:endParaRPr lang="en-US" sz="950" dirty="0"/>
          </a:p>
        </p:txBody>
      </p:sp>
      <p:sp>
        <p:nvSpPr>
          <p:cNvPr id="19" name="Text 17"/>
          <p:cNvSpPr/>
          <p:nvPr/>
        </p:nvSpPr>
        <p:spPr>
          <a:xfrm>
            <a:off x="7312000" y="3639312"/>
            <a:ext cx="1920240" cy="274320"/>
          </a:xfrm>
          <a:prstGeom prst="rect">
            <a:avLst/>
          </a:prstGeom>
          <a:noFill/>
          <a:ln/>
        </p:spPr>
        <p:txBody>
          <a:bodyPr wrap="square" lIns="0" tIns="0" rIns="0" bIns="0" rtlCol="0" anchor="ctr"/>
          <a:lstStyle/>
          <a:p>
            <a:pPr marL="0" indent="0" algn="ctr">
              <a:buNone/>
            </a:pPr>
            <a:r>
              <a:rPr lang="en-US" sz="950" i="1" dirty="0">
                <a:solidFill>
                  <a:srgbClr val="5A5550"/>
                </a:solidFill>
                <a:latin typeface="Calibri" pitchFamily="34" charset="0"/>
                <a:ea typeface="Calibri" pitchFamily="34" charset="-122"/>
                <a:cs typeface="Calibri" pitchFamily="34" charset="-120"/>
              </a:rPr>
              <a:t>Sections sombres</a:t>
            </a:r>
            <a:endParaRPr lang="en-US" sz="950" dirty="0"/>
          </a:p>
        </p:txBody>
      </p:sp>
      <p:sp>
        <p:nvSpPr>
          <p:cNvPr id="20" name="Shape 18"/>
          <p:cNvSpPr/>
          <p:nvPr/>
        </p:nvSpPr>
        <p:spPr>
          <a:xfrm>
            <a:off x="9488272" y="1691640"/>
            <a:ext cx="1920240" cy="1371600"/>
          </a:xfrm>
          <a:prstGeom prst="roundRect">
            <a:avLst>
              <a:gd name="adj" fmla="val 6667"/>
            </a:avLst>
          </a:prstGeom>
          <a:solidFill>
            <a:srgbClr val="E8E5E0"/>
          </a:solidFill>
          <a:ln w="6350">
            <a:solidFill>
              <a:srgbClr val="5A5550"/>
            </a:solidFill>
            <a:prstDash val="solid"/>
          </a:ln>
          <a:effectLst>
            <a:outerShdw blurRad="50800" dist="25400" dir="5400000" algn="bl" rotWithShape="0">
              <a:srgbClr val="000000">
                <a:alpha val="12000"/>
              </a:srgbClr>
            </a:outerShdw>
          </a:effectLst>
        </p:spPr>
        <p:txBody>
          <a:bodyPr/>
          <a:lstStyle/>
          <a:p>
            <a:endParaRPr lang="fr-FR"/>
          </a:p>
        </p:txBody>
      </p:sp>
      <p:sp>
        <p:nvSpPr>
          <p:cNvPr id="21" name="Text 19"/>
          <p:cNvSpPr/>
          <p:nvPr/>
        </p:nvSpPr>
        <p:spPr>
          <a:xfrm>
            <a:off x="9488272" y="3154680"/>
            <a:ext cx="1920240" cy="274320"/>
          </a:xfrm>
          <a:prstGeom prst="rect">
            <a:avLst/>
          </a:prstGeom>
          <a:noFill/>
          <a:ln/>
        </p:spPr>
        <p:txBody>
          <a:bodyPr wrap="square" lIns="0" tIns="0" rIns="0" bIns="0" rtlCol="0" anchor="ctr"/>
          <a:lstStyle/>
          <a:p>
            <a:pPr marL="0" indent="0" algn="ctr">
              <a:buNone/>
            </a:pPr>
            <a:r>
              <a:rPr lang="en-US" sz="1250" b="1" dirty="0">
                <a:solidFill>
                  <a:srgbClr val="0A0A0A"/>
                </a:solidFill>
                <a:latin typeface="Cambria" pitchFamily="34" charset="0"/>
                <a:ea typeface="Cambria" pitchFamily="34" charset="-122"/>
                <a:cs typeface="Cambria" pitchFamily="34" charset="-120"/>
              </a:rPr>
              <a:t>Gris clair</a:t>
            </a:r>
            <a:endParaRPr lang="en-US" sz="1250" dirty="0"/>
          </a:p>
        </p:txBody>
      </p:sp>
      <p:sp>
        <p:nvSpPr>
          <p:cNvPr id="22" name="Text 20"/>
          <p:cNvSpPr/>
          <p:nvPr/>
        </p:nvSpPr>
        <p:spPr>
          <a:xfrm>
            <a:off x="9488272" y="3401568"/>
            <a:ext cx="1920240" cy="228600"/>
          </a:xfrm>
          <a:prstGeom prst="rect">
            <a:avLst/>
          </a:prstGeom>
          <a:noFill/>
          <a:ln/>
        </p:spPr>
        <p:txBody>
          <a:bodyPr wrap="square" lIns="0" tIns="0" rIns="0" bIns="0" rtlCol="0" anchor="ctr"/>
          <a:lstStyle/>
          <a:p>
            <a:pPr marL="0" indent="0" algn="ctr">
              <a:buNone/>
            </a:pPr>
            <a:r>
              <a:rPr lang="en-US" sz="950" dirty="0">
                <a:solidFill>
                  <a:srgbClr val="5A5550"/>
                </a:solidFill>
                <a:latin typeface="Courier New" pitchFamily="34" charset="0"/>
                <a:ea typeface="Courier New" pitchFamily="34" charset="-122"/>
                <a:cs typeface="Courier New" pitchFamily="34" charset="-120"/>
              </a:rPr>
              <a:t>#E8E5E0</a:t>
            </a:r>
            <a:endParaRPr lang="en-US" sz="950" dirty="0"/>
          </a:p>
        </p:txBody>
      </p:sp>
      <p:sp>
        <p:nvSpPr>
          <p:cNvPr id="23" name="Text 21"/>
          <p:cNvSpPr/>
          <p:nvPr/>
        </p:nvSpPr>
        <p:spPr>
          <a:xfrm>
            <a:off x="9488272" y="3639312"/>
            <a:ext cx="1920240" cy="274320"/>
          </a:xfrm>
          <a:prstGeom prst="rect">
            <a:avLst/>
          </a:prstGeom>
          <a:noFill/>
          <a:ln/>
        </p:spPr>
        <p:txBody>
          <a:bodyPr wrap="square" lIns="0" tIns="0" rIns="0" bIns="0" rtlCol="0" anchor="ctr"/>
          <a:lstStyle/>
          <a:p>
            <a:pPr marL="0" indent="0" algn="ctr">
              <a:buNone/>
            </a:pPr>
            <a:r>
              <a:rPr lang="en-US" sz="950" i="1" dirty="0">
                <a:solidFill>
                  <a:srgbClr val="5A5550"/>
                </a:solidFill>
                <a:latin typeface="Calibri" pitchFamily="34" charset="0"/>
                <a:ea typeface="Calibri" pitchFamily="34" charset="-122"/>
                <a:cs typeface="Calibri" pitchFamily="34" charset="-120"/>
              </a:rPr>
              <a:t>Separateurs</a:t>
            </a:r>
            <a:endParaRPr lang="en-US" sz="950" dirty="0"/>
          </a:p>
        </p:txBody>
      </p:sp>
      <p:sp>
        <p:nvSpPr>
          <p:cNvPr id="24" name="Text 22"/>
          <p:cNvSpPr/>
          <p:nvPr/>
        </p:nvSpPr>
        <p:spPr>
          <a:xfrm>
            <a:off x="640080" y="4434840"/>
            <a:ext cx="10911535" cy="548640"/>
          </a:xfrm>
          <a:prstGeom prst="rect">
            <a:avLst/>
          </a:prstGeom>
          <a:noFill/>
          <a:ln/>
        </p:spPr>
        <p:txBody>
          <a:bodyPr wrap="square" rtlCol="0" anchor="ctr"/>
          <a:lstStyle/>
          <a:p>
            <a:pPr marL="0" indent="0" algn="ctr">
              <a:buNone/>
            </a:pPr>
            <a:r>
              <a:rPr lang="en-US" sz="1300" b="1" dirty="0">
                <a:solidFill>
                  <a:srgbClr val="0A0A0A"/>
                </a:solidFill>
                <a:latin typeface="Calibri" pitchFamily="34" charset="0"/>
                <a:ea typeface="Calibri" pitchFamily="34" charset="-122"/>
                <a:cs typeface="Calibri" pitchFamily="34" charset="-120"/>
              </a:rPr>
              <a:t>Typographie : </a:t>
            </a:r>
            <a:r>
              <a:rPr lang="en-US" sz="1300" dirty="0">
                <a:solidFill>
                  <a:srgbClr val="5A5550"/>
                </a:solidFill>
                <a:latin typeface="Calibri" pitchFamily="34" charset="0"/>
                <a:ea typeface="Calibri" pitchFamily="34" charset="-122"/>
                <a:cs typeface="Calibri" pitchFamily="34" charset="-120"/>
              </a:rPr>
              <a:t>Cormorant Garamond (serif) pour les titres — évoque la tradition gastronomique — et Montserrat (sans-serif) pour le corps de texte et la navigation.</a:t>
            </a:r>
            <a:endParaRPr lang="en-US" sz="1300" dirty="0"/>
          </a:p>
        </p:txBody>
      </p:sp>
      <p:sp>
        <p:nvSpPr>
          <p:cNvPr id="25" name="Text 23"/>
          <p:cNvSpPr/>
          <p:nvPr/>
        </p:nvSpPr>
        <p:spPr>
          <a:xfrm>
            <a:off x="640080" y="5074920"/>
            <a:ext cx="10911535" cy="365760"/>
          </a:xfrm>
          <a:prstGeom prst="rect">
            <a:avLst/>
          </a:prstGeom>
          <a:noFill/>
          <a:ln/>
        </p:spPr>
        <p:txBody>
          <a:bodyPr wrap="square" rtlCol="0" anchor="ctr"/>
          <a:lstStyle/>
          <a:p>
            <a:pPr marL="0" indent="0" algn="ctr">
              <a:buNone/>
            </a:pPr>
            <a:r>
              <a:rPr lang="en-US" sz="1150" i="1" dirty="0">
                <a:solidFill>
                  <a:srgbClr val="C9A96E"/>
                </a:solidFill>
                <a:latin typeface="Calibri" pitchFamily="34" charset="0"/>
                <a:ea typeface="Calibri" pitchFamily="34" charset="-122"/>
                <a:cs typeface="Calibri" pitchFamily="34" charset="-120"/>
              </a:rPr>
              <a:t>Cette présentation reprend volontairement cette même charte graphique.</a:t>
            </a:r>
            <a:endParaRPr lang="en-US" sz="1150" dirty="0"/>
          </a:p>
        </p:txBody>
      </p:sp>
      <p:sp>
        <p:nvSpPr>
          <p:cNvPr id="26" name="Text 24"/>
          <p:cNvSpPr/>
          <p:nvPr/>
        </p:nvSpPr>
        <p:spPr>
          <a:xfrm>
            <a:off x="640080" y="6473952"/>
            <a:ext cx="7315200" cy="274320"/>
          </a:xfrm>
          <a:prstGeom prst="rect">
            <a:avLst/>
          </a:prstGeom>
          <a:noFill/>
          <a:ln/>
        </p:spPr>
        <p:txBody>
          <a:bodyPr wrap="square" rtlCol="0" anchor="ctr"/>
          <a:lstStyle/>
          <a:p>
            <a:pPr marL="0" indent="0" algn="l">
              <a:buNone/>
            </a:pPr>
            <a:r>
              <a:rPr lang="en-US" sz="900" dirty="0">
                <a:solidFill>
                  <a:srgbClr val="5A5550"/>
                </a:solidFill>
                <a:latin typeface="Calibri" pitchFamily="34" charset="0"/>
                <a:ea typeface="Calibri" pitchFamily="34" charset="-122"/>
                <a:cs typeface="Calibri" pitchFamily="34" charset="-120"/>
              </a:rPr>
              <a:t>Amoura — Soutenance CDA 2026</a:t>
            </a:r>
            <a:endParaRPr lang="en-US" sz="900" dirty="0"/>
          </a:p>
        </p:txBody>
      </p:sp>
      <p:sp>
        <p:nvSpPr>
          <p:cNvPr id="27" name="Text 25"/>
          <p:cNvSpPr/>
          <p:nvPr/>
        </p:nvSpPr>
        <p:spPr>
          <a:xfrm>
            <a:off x="11002975" y="6473952"/>
            <a:ext cx="548640" cy="274320"/>
          </a:xfrm>
          <a:prstGeom prst="rect">
            <a:avLst/>
          </a:prstGeom>
          <a:noFill/>
          <a:ln/>
        </p:spPr>
        <p:txBody>
          <a:bodyPr wrap="square" rtlCol="0" anchor="ctr"/>
          <a:lstStyle/>
          <a:p>
            <a:pPr marL="0" indent="0" algn="r">
              <a:buNone/>
            </a:pPr>
            <a:r>
              <a:rPr lang="en-US" sz="900" dirty="0">
                <a:solidFill>
                  <a:srgbClr val="5A5550"/>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8F5"/>
        </a:solidFill>
        <a:effectLst/>
      </p:bgPr>
    </p:bg>
    <p:spTree>
      <p:nvGrpSpPr>
        <p:cNvPr id="1" name=""/>
        <p:cNvGrpSpPr/>
        <p:nvPr/>
      </p:nvGrpSpPr>
      <p:grpSpPr>
        <a:xfrm>
          <a:off x="0" y="0"/>
          <a:ext cx="0" cy="0"/>
          <a:chOff x="0" y="0"/>
          <a:chExt cx="0" cy="0"/>
        </a:xfrm>
      </p:grpSpPr>
      <p:sp>
        <p:nvSpPr>
          <p:cNvPr id="2" name="Text 0"/>
          <p:cNvSpPr/>
          <p:nvPr/>
        </p:nvSpPr>
        <p:spPr>
          <a:xfrm>
            <a:off x="640080" y="411480"/>
            <a:ext cx="10911535" cy="320040"/>
          </a:xfrm>
          <a:prstGeom prst="rect">
            <a:avLst/>
          </a:prstGeom>
          <a:noFill/>
          <a:ln/>
        </p:spPr>
        <p:txBody>
          <a:bodyPr wrap="square" rtlCol="0" anchor="ctr"/>
          <a:lstStyle/>
          <a:p>
            <a:pPr marL="0" indent="0">
              <a:buNone/>
            </a:pPr>
            <a:r>
              <a:rPr lang="en-US" sz="1200" b="1" kern="0" spc="250" dirty="0">
                <a:solidFill>
                  <a:srgbClr val="C9A96E"/>
                </a:solidFill>
                <a:latin typeface="Calibri" pitchFamily="34" charset="0"/>
                <a:ea typeface="Calibri" pitchFamily="34" charset="-122"/>
                <a:cs typeface="Calibri" pitchFamily="34" charset="-120"/>
              </a:rPr>
              <a:t>EXPÉRIENCE UTILISATEUR</a:t>
            </a:r>
            <a:endParaRPr lang="en-US" sz="1200" dirty="0"/>
          </a:p>
        </p:txBody>
      </p:sp>
      <p:sp>
        <p:nvSpPr>
          <p:cNvPr id="3" name="Text 1"/>
          <p:cNvSpPr/>
          <p:nvPr/>
        </p:nvSpPr>
        <p:spPr>
          <a:xfrm>
            <a:off x="640080" y="713232"/>
            <a:ext cx="10911535" cy="640080"/>
          </a:xfrm>
          <a:prstGeom prst="rect">
            <a:avLst/>
          </a:prstGeom>
          <a:noFill/>
          <a:ln/>
        </p:spPr>
        <p:txBody>
          <a:bodyPr wrap="square" rtlCol="0" anchor="ctr"/>
          <a:lstStyle/>
          <a:p>
            <a:pPr marL="0" indent="0">
              <a:buNone/>
            </a:pPr>
            <a:r>
              <a:rPr lang="en-US" sz="2800" b="1" dirty="0">
                <a:solidFill>
                  <a:srgbClr val="0A0A0A"/>
                </a:solidFill>
                <a:latin typeface="Cambria" pitchFamily="34" charset="0"/>
                <a:ea typeface="Cambria" pitchFamily="34" charset="-122"/>
                <a:cs typeface="Cambria" pitchFamily="34" charset="-120"/>
              </a:rPr>
              <a:t>Sitemap &amp; principes UX</a:t>
            </a:r>
            <a:endParaRPr lang="en-US" sz="2800" dirty="0"/>
          </a:p>
        </p:txBody>
      </p:sp>
      <p:sp>
        <p:nvSpPr>
          <p:cNvPr id="4" name="Shape 2"/>
          <p:cNvSpPr/>
          <p:nvPr/>
        </p:nvSpPr>
        <p:spPr>
          <a:xfrm>
            <a:off x="640080" y="2272284"/>
            <a:ext cx="5181448" cy="3319272"/>
          </a:xfrm>
          <a:prstGeom prst="roundRect">
            <a:avLst>
              <a:gd name="adj" fmla="val 2204"/>
            </a:avLst>
          </a:prstGeom>
          <a:solidFill>
            <a:srgbClr val="FFFFFF"/>
          </a:solidFill>
          <a:ln/>
          <a:effectLst>
            <a:outerShdw blurRad="63500" dist="25400" dir="5400000" algn="bl" rotWithShape="0">
              <a:srgbClr val="000000">
                <a:alpha val="10000"/>
              </a:srgbClr>
            </a:outerShdw>
          </a:effectLst>
        </p:spPr>
        <p:txBody>
          <a:bodyPr/>
          <a:lstStyle/>
          <a:p>
            <a:endParaRPr lang="fr-FR"/>
          </a:p>
        </p:txBody>
      </p:sp>
      <p:sp>
        <p:nvSpPr>
          <p:cNvPr id="5" name="Text 3"/>
          <p:cNvSpPr/>
          <p:nvPr/>
        </p:nvSpPr>
        <p:spPr>
          <a:xfrm>
            <a:off x="932688" y="2528316"/>
            <a:ext cx="4596232" cy="411480"/>
          </a:xfrm>
          <a:prstGeom prst="rect">
            <a:avLst/>
          </a:prstGeom>
          <a:noFill/>
          <a:ln/>
        </p:spPr>
        <p:txBody>
          <a:bodyPr wrap="square" lIns="0" tIns="0" rIns="0" bIns="0" rtlCol="0" anchor="ctr"/>
          <a:lstStyle/>
          <a:p>
            <a:pPr marL="0" indent="0">
              <a:buNone/>
            </a:pPr>
            <a:r>
              <a:rPr lang="en-US" sz="1600" b="1" dirty="0">
                <a:solidFill>
                  <a:srgbClr val="C9A96E"/>
                </a:solidFill>
                <a:latin typeface="Cambria" pitchFamily="34" charset="0"/>
                <a:ea typeface="Cambria" pitchFamily="34" charset="-122"/>
                <a:cs typeface="Cambria" pitchFamily="34" charset="-120"/>
              </a:rPr>
              <a:t>8 pages, 3 niveaux d'accès</a:t>
            </a:r>
            <a:endParaRPr lang="en-US" sz="1600" dirty="0"/>
          </a:p>
        </p:txBody>
      </p:sp>
      <p:sp>
        <p:nvSpPr>
          <p:cNvPr id="6" name="Text 4"/>
          <p:cNvSpPr/>
          <p:nvPr/>
        </p:nvSpPr>
        <p:spPr>
          <a:xfrm>
            <a:off x="932688" y="3049524"/>
            <a:ext cx="4596232" cy="2359152"/>
          </a:xfrm>
          <a:prstGeom prst="rect">
            <a:avLst/>
          </a:prstGeom>
          <a:noFill/>
          <a:ln/>
        </p:spPr>
        <p:txBody>
          <a:bodyPr wrap="square" lIns="0" tIns="0" rIns="0" bIns="0" rtlCol="0" anchor="t"/>
          <a:lstStyle/>
          <a:p>
            <a:pPr marL="203200" indent="-203200">
              <a:spcAft>
                <a:spcPts val="1200"/>
              </a:spcAft>
              <a:buSzPct val="100000"/>
              <a:buChar char="●"/>
            </a:pPr>
            <a:r>
              <a:rPr lang="en-US" sz="1250" dirty="0">
                <a:solidFill>
                  <a:srgbClr val="0A0A0A"/>
                </a:solidFill>
                <a:latin typeface="Calibri" pitchFamily="34" charset="0"/>
                <a:ea typeface="Calibri" pitchFamily="34" charset="-122"/>
                <a:cs typeface="Calibri" pitchFamily="34" charset="-120"/>
              </a:rPr>
              <a:t>Public : Accueil, Menu, Notre histoire, Contact, Connexion</a:t>
            </a:r>
            <a:endParaRPr lang="en-US" sz="1250" dirty="0"/>
          </a:p>
          <a:p>
            <a:pPr marL="203200" indent="-203200">
              <a:spcAft>
                <a:spcPts val="1200"/>
              </a:spcAft>
              <a:buSzPct val="100000"/>
              <a:buChar char="●"/>
            </a:pPr>
            <a:r>
              <a:rPr lang="en-US" sz="1250" dirty="0">
                <a:solidFill>
                  <a:srgbClr val="0A0A0A"/>
                </a:solidFill>
                <a:latin typeface="Calibri" pitchFamily="34" charset="0"/>
                <a:ea typeface="Calibri" pitchFamily="34" charset="-122"/>
                <a:cs typeface="Calibri" pitchFamily="34" charset="-120"/>
              </a:rPr>
              <a:t>Connecté : Réservation, Profil &amp; Fidélité</a:t>
            </a:r>
            <a:endParaRPr lang="en-US" sz="1250" dirty="0"/>
          </a:p>
          <a:p>
            <a:pPr marL="203200" indent="-203200">
              <a:spcAft>
                <a:spcPts val="1200"/>
              </a:spcAft>
              <a:buSzPct val="100000"/>
              <a:buChar char="●"/>
            </a:pPr>
            <a:r>
              <a:rPr lang="en-US" sz="1250" dirty="0">
                <a:solidFill>
                  <a:srgbClr val="0A0A0A"/>
                </a:solidFill>
                <a:latin typeface="Calibri" pitchFamily="34" charset="0"/>
                <a:ea typeface="Calibri" pitchFamily="34" charset="-122"/>
                <a:cs typeface="Calibri" pitchFamily="34" charset="-120"/>
              </a:rPr>
              <a:t>Administrateur : Dashboard, Réservations, Tables, Clients, Fidélité</a:t>
            </a:r>
            <a:endParaRPr lang="en-US" sz="1250" dirty="0"/>
          </a:p>
        </p:txBody>
      </p:sp>
      <p:sp>
        <p:nvSpPr>
          <p:cNvPr id="7" name="Shape 5"/>
          <p:cNvSpPr/>
          <p:nvPr/>
        </p:nvSpPr>
        <p:spPr>
          <a:xfrm>
            <a:off x="6370168" y="2272284"/>
            <a:ext cx="5181448" cy="3319272"/>
          </a:xfrm>
          <a:prstGeom prst="roundRect">
            <a:avLst>
              <a:gd name="adj" fmla="val 2204"/>
            </a:avLst>
          </a:prstGeom>
          <a:solidFill>
            <a:srgbClr val="FFFFFF"/>
          </a:solidFill>
          <a:ln/>
          <a:effectLst>
            <a:outerShdw blurRad="63500" dist="25400" dir="5400000" algn="bl" rotWithShape="0">
              <a:srgbClr val="000000">
                <a:alpha val="10000"/>
              </a:srgbClr>
            </a:outerShdw>
          </a:effectLst>
        </p:spPr>
        <p:txBody>
          <a:bodyPr/>
          <a:lstStyle/>
          <a:p>
            <a:endParaRPr lang="fr-FR"/>
          </a:p>
        </p:txBody>
      </p:sp>
      <p:sp>
        <p:nvSpPr>
          <p:cNvPr id="8" name="Text 6"/>
          <p:cNvSpPr/>
          <p:nvPr/>
        </p:nvSpPr>
        <p:spPr>
          <a:xfrm>
            <a:off x="6662776" y="2528316"/>
            <a:ext cx="4596232" cy="411480"/>
          </a:xfrm>
          <a:prstGeom prst="rect">
            <a:avLst/>
          </a:prstGeom>
          <a:noFill/>
          <a:ln/>
        </p:spPr>
        <p:txBody>
          <a:bodyPr wrap="square" lIns="0" tIns="0" rIns="0" bIns="0" rtlCol="0" anchor="ctr"/>
          <a:lstStyle/>
          <a:p>
            <a:pPr marL="0" indent="0">
              <a:buNone/>
            </a:pPr>
            <a:r>
              <a:rPr lang="en-US" sz="1600" b="1" dirty="0">
                <a:solidFill>
                  <a:srgbClr val="C9A96E"/>
                </a:solidFill>
                <a:latin typeface="Cambria" pitchFamily="34" charset="0"/>
                <a:ea typeface="Cambria" pitchFamily="34" charset="-122"/>
                <a:cs typeface="Cambria" pitchFamily="34" charset="-120"/>
              </a:rPr>
              <a:t>Principes retenus</a:t>
            </a:r>
            <a:endParaRPr lang="en-US" sz="1600" dirty="0"/>
          </a:p>
        </p:txBody>
      </p:sp>
      <p:sp>
        <p:nvSpPr>
          <p:cNvPr id="9" name="Text 7"/>
          <p:cNvSpPr/>
          <p:nvPr/>
        </p:nvSpPr>
        <p:spPr>
          <a:xfrm>
            <a:off x="6662776" y="3049524"/>
            <a:ext cx="4596232" cy="2359152"/>
          </a:xfrm>
          <a:prstGeom prst="rect">
            <a:avLst/>
          </a:prstGeom>
          <a:noFill/>
          <a:ln/>
        </p:spPr>
        <p:txBody>
          <a:bodyPr wrap="square" lIns="0" tIns="0" rIns="0" bIns="0" rtlCol="0" anchor="t"/>
          <a:lstStyle/>
          <a:p>
            <a:pPr marL="203200" indent="-203200">
              <a:spcAft>
                <a:spcPts val="1200"/>
              </a:spcAft>
              <a:buSzPct val="100000"/>
              <a:buChar char="●"/>
            </a:pPr>
            <a:r>
              <a:rPr lang="en-US" sz="1250" dirty="0">
                <a:solidFill>
                  <a:srgbClr val="0A0A0A"/>
                </a:solidFill>
                <a:latin typeface="Calibri" pitchFamily="34" charset="0"/>
                <a:ea typeface="Calibri" pitchFamily="34" charset="-122"/>
                <a:cs typeface="Calibri" pitchFamily="34" charset="-120"/>
              </a:rPr>
              <a:t>Mobile First : seuil de bascule unique a 900px</a:t>
            </a:r>
            <a:endParaRPr lang="en-US" sz="1250" dirty="0"/>
          </a:p>
          <a:p>
            <a:pPr marL="203200" indent="-203200">
              <a:spcAft>
                <a:spcPts val="1200"/>
              </a:spcAft>
              <a:buSzPct val="100000"/>
              <a:buChar char="●"/>
            </a:pPr>
            <a:r>
              <a:rPr lang="en-US" sz="1250" dirty="0">
                <a:solidFill>
                  <a:srgbClr val="0A0A0A"/>
                </a:solidFill>
                <a:latin typeface="Calibri" pitchFamily="34" charset="0"/>
                <a:ea typeface="Calibri" pitchFamily="34" charset="-122"/>
                <a:cs typeface="Calibri" pitchFamily="34" charset="-120"/>
              </a:rPr>
              <a:t>Parcours de réservation en 3 étapes (date / créneau / couverts)</a:t>
            </a:r>
            <a:endParaRPr lang="en-US" sz="1250" dirty="0"/>
          </a:p>
          <a:p>
            <a:pPr marL="203200" indent="-203200">
              <a:spcAft>
                <a:spcPts val="1200"/>
              </a:spcAft>
              <a:buSzPct val="100000"/>
              <a:buChar char="●"/>
            </a:pPr>
            <a:r>
              <a:rPr lang="en-US" sz="1250" dirty="0">
                <a:solidFill>
                  <a:srgbClr val="0A0A0A"/>
                </a:solidFill>
                <a:latin typeface="Calibri" pitchFamily="34" charset="0"/>
                <a:ea typeface="Calibri" pitchFamily="34" charset="-122"/>
                <a:cs typeface="Calibri" pitchFamily="34" charset="-120"/>
              </a:rPr>
              <a:t>Retour immédiat sur chaque interaction</a:t>
            </a:r>
            <a:endParaRPr lang="en-US" sz="1250" dirty="0"/>
          </a:p>
          <a:p>
            <a:pPr marL="203200" indent="-203200">
              <a:spcAft>
                <a:spcPts val="1200"/>
              </a:spcAft>
              <a:buSzPct val="100000"/>
              <a:buChar char="●"/>
            </a:pPr>
            <a:r>
              <a:rPr lang="en-US" sz="1250" dirty="0">
                <a:solidFill>
                  <a:srgbClr val="0A0A0A"/>
                </a:solidFill>
                <a:latin typeface="Calibri" pitchFamily="34" charset="0"/>
                <a:ea typeface="Calibri" pitchFamily="34" charset="-122"/>
                <a:cs typeface="Calibri" pitchFamily="34" charset="-120"/>
              </a:rPr>
              <a:t>Accessibilité : ARIA, focus clavier visible, contrastes WCAG AA</a:t>
            </a:r>
            <a:endParaRPr lang="en-US" sz="1250" dirty="0"/>
          </a:p>
        </p:txBody>
      </p:sp>
      <p:sp>
        <p:nvSpPr>
          <p:cNvPr id="10" name="Text 8"/>
          <p:cNvSpPr/>
          <p:nvPr/>
        </p:nvSpPr>
        <p:spPr>
          <a:xfrm>
            <a:off x="640080" y="6473952"/>
            <a:ext cx="7315200" cy="274320"/>
          </a:xfrm>
          <a:prstGeom prst="rect">
            <a:avLst/>
          </a:prstGeom>
          <a:noFill/>
          <a:ln/>
        </p:spPr>
        <p:txBody>
          <a:bodyPr wrap="square" rtlCol="0" anchor="ctr"/>
          <a:lstStyle/>
          <a:p>
            <a:pPr marL="0" indent="0" algn="l">
              <a:buNone/>
            </a:pPr>
            <a:r>
              <a:rPr lang="en-US" sz="900" dirty="0">
                <a:solidFill>
                  <a:srgbClr val="5A5550"/>
                </a:solidFill>
                <a:latin typeface="Calibri" pitchFamily="34" charset="0"/>
                <a:ea typeface="Calibri" pitchFamily="34" charset="-122"/>
                <a:cs typeface="Calibri" pitchFamily="34" charset="-120"/>
              </a:rPr>
              <a:t>Amoura — Soutenance CDA 2026</a:t>
            </a:r>
            <a:endParaRPr lang="en-US" sz="900" dirty="0"/>
          </a:p>
        </p:txBody>
      </p:sp>
      <p:sp>
        <p:nvSpPr>
          <p:cNvPr id="11" name="Text 9"/>
          <p:cNvSpPr/>
          <p:nvPr/>
        </p:nvSpPr>
        <p:spPr>
          <a:xfrm>
            <a:off x="11002975" y="6473952"/>
            <a:ext cx="548640" cy="274320"/>
          </a:xfrm>
          <a:prstGeom prst="rect">
            <a:avLst/>
          </a:prstGeom>
          <a:noFill/>
          <a:ln/>
        </p:spPr>
        <p:txBody>
          <a:bodyPr wrap="square" rtlCol="0" anchor="ctr"/>
          <a:lstStyle/>
          <a:p>
            <a:pPr marL="0" indent="0" algn="r">
              <a:buNone/>
            </a:pPr>
            <a:r>
              <a:rPr lang="en-US" sz="900" dirty="0">
                <a:solidFill>
                  <a:srgbClr val="5A5550"/>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A1410"/>
        </a:solidFill>
        <a:effectLst/>
      </p:bgPr>
    </p:bg>
    <p:spTree>
      <p:nvGrpSpPr>
        <p:cNvPr id="1" name=""/>
        <p:cNvGrpSpPr/>
        <p:nvPr/>
      </p:nvGrpSpPr>
      <p:grpSpPr>
        <a:xfrm>
          <a:off x="0" y="0"/>
          <a:ext cx="0" cy="0"/>
          <a:chOff x="0" y="0"/>
          <a:chExt cx="0" cy="0"/>
        </a:xfrm>
      </p:grpSpPr>
      <p:sp>
        <p:nvSpPr>
          <p:cNvPr id="2" name="Shape 0"/>
          <p:cNvSpPr/>
          <p:nvPr/>
        </p:nvSpPr>
        <p:spPr>
          <a:xfrm>
            <a:off x="5638648" y="1965960"/>
            <a:ext cx="914400" cy="914400"/>
          </a:xfrm>
          <a:prstGeom prst="ellipse">
            <a:avLst/>
          </a:prstGeom>
          <a:solidFill>
            <a:srgbClr val="C9A96E"/>
          </a:solidFill>
          <a:ln/>
        </p:spPr>
        <p:txBody>
          <a:bodyPr/>
          <a:lstStyle/>
          <a:p>
            <a:endParaRPr lang="fr-FR"/>
          </a:p>
        </p:txBody>
      </p:sp>
      <p:sp>
        <p:nvSpPr>
          <p:cNvPr id="3" name="Text 1"/>
          <p:cNvSpPr/>
          <p:nvPr/>
        </p:nvSpPr>
        <p:spPr>
          <a:xfrm>
            <a:off x="5638648" y="1965960"/>
            <a:ext cx="914400" cy="914400"/>
          </a:xfrm>
          <a:prstGeom prst="rect">
            <a:avLst/>
          </a:prstGeom>
          <a:noFill/>
          <a:ln/>
        </p:spPr>
        <p:txBody>
          <a:bodyPr wrap="square" lIns="0" tIns="0" rIns="0" bIns="0" rtlCol="0" anchor="ctr"/>
          <a:lstStyle/>
          <a:p>
            <a:pPr marL="0" indent="0" algn="ctr">
              <a:buNone/>
            </a:pPr>
            <a:r>
              <a:rPr lang="en-US" sz="3000" b="1" dirty="0">
                <a:solidFill>
                  <a:srgbClr val="1A1410"/>
                </a:solidFill>
                <a:latin typeface="Cambria" pitchFamily="34" charset="0"/>
                <a:ea typeface="Cambria" pitchFamily="34" charset="-122"/>
                <a:cs typeface="Cambria" pitchFamily="34" charset="-120"/>
              </a:rPr>
              <a:t>4</a:t>
            </a:r>
            <a:endParaRPr lang="en-US" sz="3000" dirty="0"/>
          </a:p>
        </p:txBody>
      </p:sp>
      <p:sp>
        <p:nvSpPr>
          <p:cNvPr id="4" name="Text 2"/>
          <p:cNvSpPr/>
          <p:nvPr/>
        </p:nvSpPr>
        <p:spPr>
          <a:xfrm>
            <a:off x="914400" y="3063240"/>
            <a:ext cx="10362895" cy="1005840"/>
          </a:xfrm>
          <a:prstGeom prst="rect">
            <a:avLst/>
          </a:prstGeom>
          <a:noFill/>
          <a:ln/>
        </p:spPr>
        <p:txBody>
          <a:bodyPr wrap="square" rtlCol="0" anchor="ctr"/>
          <a:lstStyle/>
          <a:p>
            <a:pPr marL="0" indent="0" algn="ctr">
              <a:buNone/>
            </a:pPr>
            <a:r>
              <a:rPr lang="en-US" sz="4000" b="1" dirty="0">
                <a:solidFill>
                  <a:srgbClr val="FAF8F5"/>
                </a:solidFill>
                <a:latin typeface="Cambria" pitchFamily="34" charset="0"/>
                <a:ea typeface="Cambria" pitchFamily="34" charset="-122"/>
                <a:cs typeface="Cambria" pitchFamily="34" charset="-120"/>
              </a:rPr>
              <a:t>Modélisation des données</a:t>
            </a:r>
            <a:endParaRPr lang="en-US" sz="4000" dirty="0"/>
          </a:p>
        </p:txBody>
      </p:sp>
      <p:sp>
        <p:nvSpPr>
          <p:cNvPr id="5" name="Text 3"/>
          <p:cNvSpPr/>
          <p:nvPr/>
        </p:nvSpPr>
        <p:spPr>
          <a:xfrm>
            <a:off x="1371600" y="4069080"/>
            <a:ext cx="9448495" cy="548640"/>
          </a:xfrm>
          <a:prstGeom prst="rect">
            <a:avLst/>
          </a:prstGeom>
          <a:noFill/>
          <a:ln/>
        </p:spPr>
        <p:txBody>
          <a:bodyPr wrap="square" rtlCol="0" anchor="ctr"/>
          <a:lstStyle/>
          <a:p>
            <a:pPr marL="0" indent="0" algn="ctr">
              <a:buNone/>
            </a:pPr>
            <a:r>
              <a:rPr lang="en-US" sz="1500" i="1" dirty="0">
                <a:solidFill>
                  <a:srgbClr val="E8E5E0"/>
                </a:solidFill>
                <a:latin typeface="Calibri" pitchFamily="34" charset="0"/>
                <a:ea typeface="Calibri" pitchFamily="34" charset="-122"/>
                <a:cs typeface="Calibri" pitchFamily="34" charset="-120"/>
              </a:rPr>
              <a:t>Méthode MERISE — MCD, MLD, MPD</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8F5"/>
        </a:solidFill>
        <a:effectLst/>
      </p:bgPr>
    </p:bg>
    <p:spTree>
      <p:nvGrpSpPr>
        <p:cNvPr id="1" name=""/>
        <p:cNvGrpSpPr/>
        <p:nvPr/>
      </p:nvGrpSpPr>
      <p:grpSpPr>
        <a:xfrm>
          <a:off x="0" y="0"/>
          <a:ext cx="0" cy="0"/>
          <a:chOff x="0" y="0"/>
          <a:chExt cx="0" cy="0"/>
        </a:xfrm>
      </p:grpSpPr>
      <p:sp>
        <p:nvSpPr>
          <p:cNvPr id="2" name="Text 0"/>
          <p:cNvSpPr/>
          <p:nvPr/>
        </p:nvSpPr>
        <p:spPr>
          <a:xfrm>
            <a:off x="640080" y="411480"/>
            <a:ext cx="10911535" cy="320040"/>
          </a:xfrm>
          <a:prstGeom prst="rect">
            <a:avLst/>
          </a:prstGeom>
          <a:noFill/>
          <a:ln/>
        </p:spPr>
        <p:txBody>
          <a:bodyPr wrap="square" rtlCol="0" anchor="ctr"/>
          <a:lstStyle/>
          <a:p>
            <a:pPr marL="0" indent="0">
              <a:buNone/>
            </a:pPr>
            <a:r>
              <a:rPr lang="en-US" sz="1200" b="1" kern="0" spc="250" dirty="0">
                <a:solidFill>
                  <a:srgbClr val="C9A96E"/>
                </a:solidFill>
                <a:latin typeface="Calibri" pitchFamily="34" charset="0"/>
                <a:ea typeface="Calibri" pitchFamily="34" charset="-122"/>
                <a:cs typeface="Calibri" pitchFamily="34" charset="-120"/>
              </a:rPr>
              <a:t>MERISE</a:t>
            </a:r>
            <a:endParaRPr lang="en-US" sz="1200" dirty="0"/>
          </a:p>
        </p:txBody>
      </p:sp>
      <p:sp>
        <p:nvSpPr>
          <p:cNvPr id="3" name="Text 1"/>
          <p:cNvSpPr/>
          <p:nvPr/>
        </p:nvSpPr>
        <p:spPr>
          <a:xfrm>
            <a:off x="640080" y="713232"/>
            <a:ext cx="10911535" cy="640080"/>
          </a:xfrm>
          <a:prstGeom prst="rect">
            <a:avLst/>
          </a:prstGeom>
          <a:noFill/>
          <a:ln/>
        </p:spPr>
        <p:txBody>
          <a:bodyPr wrap="square" rtlCol="0" anchor="ctr"/>
          <a:lstStyle/>
          <a:p>
            <a:pPr marL="0" indent="0">
              <a:buNone/>
            </a:pPr>
            <a:r>
              <a:rPr lang="en-US" sz="2800" b="1" dirty="0">
                <a:solidFill>
                  <a:srgbClr val="0A0A0A"/>
                </a:solidFill>
                <a:latin typeface="Cambria" pitchFamily="34" charset="0"/>
                <a:ea typeface="Cambria" pitchFamily="34" charset="-122"/>
                <a:cs typeface="Cambria" pitchFamily="34" charset="-120"/>
              </a:rPr>
              <a:t>Modèle Conceptuel de Données</a:t>
            </a:r>
            <a:endParaRPr lang="en-US" sz="2800" dirty="0"/>
          </a:p>
        </p:txBody>
      </p:sp>
      <p:sp>
        <p:nvSpPr>
          <p:cNvPr id="4" name="Shape 2"/>
          <p:cNvSpPr/>
          <p:nvPr/>
        </p:nvSpPr>
        <p:spPr>
          <a:xfrm>
            <a:off x="3120908" y="1444752"/>
            <a:ext cx="5949879" cy="4041648"/>
          </a:xfrm>
          <a:prstGeom prst="roundRect">
            <a:avLst>
              <a:gd name="adj" fmla="val 1357"/>
            </a:avLst>
          </a:prstGeom>
          <a:solidFill>
            <a:srgbClr val="FFFFFF"/>
          </a:solidFill>
          <a:ln w="15875">
            <a:solidFill>
              <a:srgbClr val="C9A96E"/>
            </a:solidFill>
            <a:prstDash val="solid"/>
          </a:ln>
          <a:effectLst>
            <a:outerShdw blurRad="76200" dist="25400" dir="5400000" algn="bl" rotWithShape="0">
              <a:srgbClr val="000000">
                <a:alpha val="18000"/>
              </a:srgbClr>
            </a:outerShdw>
          </a:effectLst>
        </p:spPr>
        <p:txBody>
          <a:bodyPr/>
          <a:lstStyle/>
          <a:p>
            <a:endParaRPr lang="fr-FR"/>
          </a:p>
        </p:txBody>
      </p:sp>
      <p:pic>
        <p:nvPicPr>
          <p:cNvPr id="5" name="Image 0" descr="C:\Users\amahi\AppData\Local\Temp\claude\C--Users-amahi-Documents-Code-Amoura\ec1effed-a661-4c74-9a86-4c2c133a35a5\scratchpad\images\mcd.png"/>
          <p:cNvPicPr>
            <a:picLocks noChangeAspect="1"/>
          </p:cNvPicPr>
          <p:nvPr/>
        </p:nvPicPr>
        <p:blipFill>
          <a:blip r:embed="rId3"/>
          <a:stretch>
            <a:fillRect/>
          </a:stretch>
        </p:blipFill>
        <p:spPr>
          <a:xfrm>
            <a:off x="3230636" y="1554480"/>
            <a:ext cx="5730423" cy="3822192"/>
          </a:xfrm>
          <a:prstGeom prst="rect">
            <a:avLst/>
          </a:prstGeom>
        </p:spPr>
      </p:pic>
      <p:sp>
        <p:nvSpPr>
          <p:cNvPr id="6" name="Text 3"/>
          <p:cNvSpPr/>
          <p:nvPr/>
        </p:nvSpPr>
        <p:spPr>
          <a:xfrm>
            <a:off x="640080" y="5797296"/>
            <a:ext cx="10911535" cy="566928"/>
          </a:xfrm>
          <a:prstGeom prst="rect">
            <a:avLst/>
          </a:prstGeom>
          <a:noFill/>
          <a:ln/>
        </p:spPr>
        <p:txBody>
          <a:bodyPr wrap="square" rtlCol="0" anchor="t"/>
          <a:lstStyle/>
          <a:p>
            <a:pPr marL="0" indent="0" algn="ctr">
              <a:buNone/>
            </a:pPr>
            <a:r>
              <a:rPr lang="en-US" sz="1100" i="1" dirty="0">
                <a:solidFill>
                  <a:srgbClr val="5A5550"/>
                </a:solidFill>
                <a:latin typeface="Calibri" pitchFamily="34" charset="0"/>
                <a:ea typeface="Calibri" pitchFamily="34" charset="-122"/>
                <a:cs typeface="Calibri" pitchFamily="34" charset="-120"/>
              </a:rPr>
              <a:t>8 entités, 2 domaines : réservations (Utilisateur, Table, Creneau, Réservation) et fidélité (ProgrammeFidelite, Récompense, HistoriquePoints, EchangeRecompense).</a:t>
            </a:r>
            <a:endParaRPr lang="en-US" sz="1100" dirty="0"/>
          </a:p>
        </p:txBody>
      </p:sp>
      <p:sp>
        <p:nvSpPr>
          <p:cNvPr id="7" name="Text 4"/>
          <p:cNvSpPr/>
          <p:nvPr/>
        </p:nvSpPr>
        <p:spPr>
          <a:xfrm>
            <a:off x="640080" y="6473952"/>
            <a:ext cx="7315200" cy="274320"/>
          </a:xfrm>
          <a:prstGeom prst="rect">
            <a:avLst/>
          </a:prstGeom>
          <a:noFill/>
          <a:ln/>
        </p:spPr>
        <p:txBody>
          <a:bodyPr wrap="square" rtlCol="0" anchor="ctr"/>
          <a:lstStyle/>
          <a:p>
            <a:pPr marL="0" indent="0" algn="l">
              <a:buNone/>
            </a:pPr>
            <a:r>
              <a:rPr lang="en-US" sz="900" dirty="0">
                <a:solidFill>
                  <a:srgbClr val="5A5550"/>
                </a:solidFill>
                <a:latin typeface="Calibri" pitchFamily="34" charset="0"/>
                <a:ea typeface="Calibri" pitchFamily="34" charset="-122"/>
                <a:cs typeface="Calibri" pitchFamily="34" charset="-120"/>
              </a:rPr>
              <a:t>Amoura — Soutenance CDA 2026</a:t>
            </a:r>
            <a:endParaRPr lang="en-US" sz="900" dirty="0"/>
          </a:p>
        </p:txBody>
      </p:sp>
      <p:sp>
        <p:nvSpPr>
          <p:cNvPr id="8" name="Text 5"/>
          <p:cNvSpPr/>
          <p:nvPr/>
        </p:nvSpPr>
        <p:spPr>
          <a:xfrm>
            <a:off x="11002975" y="6473952"/>
            <a:ext cx="548640" cy="274320"/>
          </a:xfrm>
          <a:prstGeom prst="rect">
            <a:avLst/>
          </a:prstGeom>
          <a:noFill/>
          <a:ln/>
        </p:spPr>
        <p:txBody>
          <a:bodyPr wrap="square" rtlCol="0" anchor="ctr"/>
          <a:lstStyle/>
          <a:p>
            <a:pPr marL="0" indent="0" algn="r">
              <a:buNone/>
            </a:pPr>
            <a:r>
              <a:rPr lang="en-US" sz="900" dirty="0">
                <a:solidFill>
                  <a:srgbClr val="5A5550"/>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8F5"/>
        </a:solidFill>
        <a:effectLst/>
      </p:bgPr>
    </p:bg>
    <p:spTree>
      <p:nvGrpSpPr>
        <p:cNvPr id="1" name=""/>
        <p:cNvGrpSpPr/>
        <p:nvPr/>
      </p:nvGrpSpPr>
      <p:grpSpPr>
        <a:xfrm>
          <a:off x="0" y="0"/>
          <a:ext cx="0" cy="0"/>
          <a:chOff x="0" y="0"/>
          <a:chExt cx="0" cy="0"/>
        </a:xfrm>
      </p:grpSpPr>
      <p:sp>
        <p:nvSpPr>
          <p:cNvPr id="2" name="Text 0"/>
          <p:cNvSpPr/>
          <p:nvPr/>
        </p:nvSpPr>
        <p:spPr>
          <a:xfrm>
            <a:off x="640080" y="411480"/>
            <a:ext cx="10911535" cy="320040"/>
          </a:xfrm>
          <a:prstGeom prst="rect">
            <a:avLst/>
          </a:prstGeom>
          <a:noFill/>
          <a:ln/>
        </p:spPr>
        <p:txBody>
          <a:bodyPr wrap="square" rtlCol="0" anchor="ctr"/>
          <a:lstStyle/>
          <a:p>
            <a:pPr marL="0" indent="0">
              <a:buNone/>
            </a:pPr>
            <a:r>
              <a:rPr lang="en-US" sz="1200" b="1" kern="0" spc="250" dirty="0">
                <a:solidFill>
                  <a:srgbClr val="C9A96E"/>
                </a:solidFill>
                <a:latin typeface="Calibri" pitchFamily="34" charset="0"/>
                <a:ea typeface="Calibri" pitchFamily="34" charset="-122"/>
                <a:cs typeface="Calibri" pitchFamily="34" charset="-120"/>
              </a:rPr>
              <a:t>CHOIX DE CONCEPTION</a:t>
            </a:r>
            <a:endParaRPr lang="en-US" sz="1200" dirty="0"/>
          </a:p>
        </p:txBody>
      </p:sp>
      <p:sp>
        <p:nvSpPr>
          <p:cNvPr id="3" name="Text 1"/>
          <p:cNvSpPr/>
          <p:nvPr/>
        </p:nvSpPr>
        <p:spPr>
          <a:xfrm>
            <a:off x="640080" y="713232"/>
            <a:ext cx="10911535" cy="640080"/>
          </a:xfrm>
          <a:prstGeom prst="rect">
            <a:avLst/>
          </a:prstGeom>
          <a:noFill/>
          <a:ln/>
        </p:spPr>
        <p:txBody>
          <a:bodyPr wrap="square" rtlCol="0" anchor="ctr"/>
          <a:lstStyle/>
          <a:p>
            <a:pPr marL="0" indent="0">
              <a:buNone/>
            </a:pPr>
            <a:r>
              <a:rPr lang="en-US" sz="2800" b="1" dirty="0">
                <a:solidFill>
                  <a:srgbClr val="0A0A0A"/>
                </a:solidFill>
                <a:latin typeface="Cambria" pitchFamily="34" charset="0"/>
                <a:ea typeface="Cambria" pitchFamily="34" charset="-122"/>
                <a:cs typeface="Cambria" pitchFamily="34" charset="-120"/>
              </a:rPr>
              <a:t>Trois décisions de modélisation clés</a:t>
            </a:r>
            <a:endParaRPr lang="en-US" sz="2800" dirty="0"/>
          </a:p>
        </p:txBody>
      </p:sp>
      <p:sp>
        <p:nvSpPr>
          <p:cNvPr id="4" name="Text 2"/>
          <p:cNvSpPr/>
          <p:nvPr/>
        </p:nvSpPr>
        <p:spPr>
          <a:xfrm>
            <a:off x="640080" y="1691640"/>
            <a:ext cx="10911535" cy="4572000"/>
          </a:xfrm>
          <a:prstGeom prst="rect">
            <a:avLst/>
          </a:prstGeom>
          <a:noFill/>
          <a:ln/>
        </p:spPr>
        <p:txBody>
          <a:bodyPr wrap="square" lIns="0" tIns="0" rIns="0" bIns="0" rtlCol="0" anchor="t"/>
          <a:lstStyle/>
          <a:p>
            <a:pPr marL="228600" indent="-228600">
              <a:spcAft>
                <a:spcPts val="1800"/>
              </a:spcAft>
              <a:buSzPct val="100000"/>
              <a:buChar char="●"/>
            </a:pPr>
            <a:r>
              <a:rPr lang="en-US" sz="1600" b="1" dirty="0">
                <a:solidFill>
                  <a:srgbClr val="0A0A0A"/>
                </a:solidFill>
                <a:latin typeface="Calibri" pitchFamily="34" charset="0"/>
                <a:ea typeface="Calibri" pitchFamily="34" charset="-122"/>
                <a:cs typeface="Calibri" pitchFamily="34" charset="-120"/>
              </a:rPr>
              <a:t>Modèle "grand livre" pour les points de fidélité</a:t>
            </a:r>
            <a:endParaRPr lang="en-US" sz="1600" dirty="0"/>
          </a:p>
          <a:p>
            <a:pPr marL="228600" indent="-228600">
              <a:spcAft>
                <a:spcPts val="1800"/>
              </a:spcAft>
              <a:buSzPct val="100000"/>
              <a:buChar char="●"/>
            </a:pPr>
            <a:r>
              <a:rPr lang="en-US" sz="1600" dirty="0">
                <a:solidFill>
                  <a:srgbClr val="0A0A0A"/>
                </a:solidFill>
                <a:latin typeface="Calibri" pitchFamily="34" charset="0"/>
                <a:ea typeface="Calibri" pitchFamily="34" charset="-122"/>
                <a:cs typeface="Calibri" pitchFamily="34" charset="-120"/>
              </a:rPr>
              <a:t>Aucun solde stocke sur Utilisateur : chaque gain ou dépense créé une ligne dans HistoriquePoints avec le solde résultant — traçabilité complète, audit possible ligne par ligne</a:t>
            </a:r>
            <a:endParaRPr lang="en-US" sz="1600" dirty="0"/>
          </a:p>
          <a:p>
            <a:pPr marL="228600" indent="-228600">
              <a:spcAft>
                <a:spcPts val="1800"/>
              </a:spcAft>
              <a:buSzPct val="100000"/>
              <a:buChar char="●"/>
            </a:pPr>
            <a:r>
              <a:rPr lang="en-US" sz="1600" b="1" dirty="0">
                <a:solidFill>
                  <a:srgbClr val="0A0A0A"/>
                </a:solidFill>
                <a:latin typeface="Calibri" pitchFamily="34" charset="0"/>
                <a:ea typeface="Calibri" pitchFamily="34" charset="-122"/>
                <a:cs typeface="Calibri" pitchFamily="34" charset="-120"/>
              </a:rPr>
              <a:t>ProgrammeFidelite en singleton</a:t>
            </a:r>
            <a:endParaRPr lang="en-US" sz="1600" dirty="0"/>
          </a:p>
          <a:p>
            <a:pPr marL="228600" indent="-228600">
              <a:spcAft>
                <a:spcPts val="1800"/>
              </a:spcAft>
              <a:buSzPct val="100000"/>
              <a:buChar char="●"/>
            </a:pPr>
            <a:r>
              <a:rPr lang="en-US" sz="1600" dirty="0">
                <a:solidFill>
                  <a:srgbClr val="0A0A0A"/>
                </a:solidFill>
                <a:latin typeface="Calibri" pitchFamily="34" charset="0"/>
                <a:ea typeface="Calibri" pitchFamily="34" charset="-122"/>
                <a:cs typeface="Calibri" pitchFamily="34" charset="-120"/>
              </a:rPr>
              <a:t>Une seule ligne, modifiable par l'administrateur — simple et suffisant pour le périmètre actuel</a:t>
            </a:r>
            <a:endParaRPr lang="en-US" sz="1600" dirty="0"/>
          </a:p>
          <a:p>
            <a:pPr marL="228600" indent="-228600">
              <a:spcAft>
                <a:spcPts val="1800"/>
              </a:spcAft>
              <a:buSzPct val="100000"/>
              <a:buChar char="●"/>
            </a:pPr>
            <a:r>
              <a:rPr lang="en-US" sz="1600" b="1" dirty="0">
                <a:solidFill>
                  <a:srgbClr val="0A0A0A"/>
                </a:solidFill>
                <a:latin typeface="Calibri" pitchFamily="34" charset="0"/>
                <a:ea typeface="Calibri" pitchFamily="34" charset="-122"/>
                <a:cs typeface="Calibri" pitchFamily="34" charset="-120"/>
              </a:rPr>
              <a:t>Suppression en cascade au niveau base de données (ON DELETE CASCADE)</a:t>
            </a:r>
            <a:endParaRPr lang="en-US" sz="1600" dirty="0"/>
          </a:p>
          <a:p>
            <a:pPr marL="228600" indent="-228600">
              <a:spcAft>
                <a:spcPts val="1800"/>
              </a:spcAft>
              <a:buSzPct val="100000"/>
              <a:buChar char="●"/>
            </a:pPr>
            <a:r>
              <a:rPr lang="en-US" sz="1600" dirty="0">
                <a:solidFill>
                  <a:srgbClr val="0A0A0A"/>
                </a:solidFill>
                <a:latin typeface="Calibri" pitchFamily="34" charset="0"/>
                <a:ea typeface="Calibri" pitchFamily="34" charset="-122"/>
                <a:cs typeface="Calibri" pitchFamily="34" charset="-120"/>
              </a:rPr>
              <a:t>La garantie RGPD ne repose pas seulement sur le code applicatif, mais sur une contrainte SQL — même un bug applicatif ne pourrait pas la contourner</a:t>
            </a:r>
            <a:endParaRPr lang="en-US" sz="1600" dirty="0"/>
          </a:p>
        </p:txBody>
      </p:sp>
      <p:sp>
        <p:nvSpPr>
          <p:cNvPr id="5" name="Text 3"/>
          <p:cNvSpPr/>
          <p:nvPr/>
        </p:nvSpPr>
        <p:spPr>
          <a:xfrm>
            <a:off x="640080" y="6473952"/>
            <a:ext cx="7315200" cy="274320"/>
          </a:xfrm>
          <a:prstGeom prst="rect">
            <a:avLst/>
          </a:prstGeom>
          <a:noFill/>
          <a:ln/>
        </p:spPr>
        <p:txBody>
          <a:bodyPr wrap="square" rtlCol="0" anchor="ctr"/>
          <a:lstStyle/>
          <a:p>
            <a:pPr marL="0" indent="0" algn="l">
              <a:buNone/>
            </a:pPr>
            <a:r>
              <a:rPr lang="en-US" sz="900" dirty="0">
                <a:solidFill>
                  <a:srgbClr val="5A5550"/>
                </a:solidFill>
                <a:latin typeface="Calibri" pitchFamily="34" charset="0"/>
                <a:ea typeface="Calibri" pitchFamily="34" charset="-122"/>
                <a:cs typeface="Calibri" pitchFamily="34" charset="-120"/>
              </a:rPr>
              <a:t>Amoura — Soutenance CDA 2026</a:t>
            </a:r>
            <a:endParaRPr lang="en-US" sz="900" dirty="0"/>
          </a:p>
        </p:txBody>
      </p:sp>
      <p:sp>
        <p:nvSpPr>
          <p:cNvPr id="6" name="Text 4"/>
          <p:cNvSpPr/>
          <p:nvPr/>
        </p:nvSpPr>
        <p:spPr>
          <a:xfrm>
            <a:off x="11002975" y="6473952"/>
            <a:ext cx="548640" cy="274320"/>
          </a:xfrm>
          <a:prstGeom prst="rect">
            <a:avLst/>
          </a:prstGeom>
          <a:noFill/>
          <a:ln/>
        </p:spPr>
        <p:txBody>
          <a:bodyPr wrap="square" rtlCol="0" anchor="ctr"/>
          <a:lstStyle/>
          <a:p>
            <a:pPr marL="0" indent="0" algn="r">
              <a:buNone/>
            </a:pPr>
            <a:r>
              <a:rPr lang="en-US" sz="900" dirty="0">
                <a:solidFill>
                  <a:srgbClr val="5A5550"/>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A1410"/>
        </a:solidFill>
        <a:effectLst/>
      </p:bgPr>
    </p:bg>
    <p:spTree>
      <p:nvGrpSpPr>
        <p:cNvPr id="1" name=""/>
        <p:cNvGrpSpPr/>
        <p:nvPr/>
      </p:nvGrpSpPr>
      <p:grpSpPr>
        <a:xfrm>
          <a:off x="0" y="0"/>
          <a:ext cx="0" cy="0"/>
          <a:chOff x="0" y="0"/>
          <a:chExt cx="0" cy="0"/>
        </a:xfrm>
      </p:grpSpPr>
      <p:sp>
        <p:nvSpPr>
          <p:cNvPr id="2" name="Shape 0"/>
          <p:cNvSpPr/>
          <p:nvPr/>
        </p:nvSpPr>
        <p:spPr>
          <a:xfrm>
            <a:off x="5638648" y="1965960"/>
            <a:ext cx="914400" cy="914400"/>
          </a:xfrm>
          <a:prstGeom prst="ellipse">
            <a:avLst/>
          </a:prstGeom>
          <a:solidFill>
            <a:srgbClr val="C9A96E"/>
          </a:solidFill>
          <a:ln/>
        </p:spPr>
        <p:txBody>
          <a:bodyPr/>
          <a:lstStyle/>
          <a:p>
            <a:endParaRPr lang="fr-FR"/>
          </a:p>
        </p:txBody>
      </p:sp>
      <p:sp>
        <p:nvSpPr>
          <p:cNvPr id="3" name="Text 1"/>
          <p:cNvSpPr/>
          <p:nvPr/>
        </p:nvSpPr>
        <p:spPr>
          <a:xfrm>
            <a:off x="5638648" y="1965960"/>
            <a:ext cx="914400" cy="914400"/>
          </a:xfrm>
          <a:prstGeom prst="rect">
            <a:avLst/>
          </a:prstGeom>
          <a:noFill/>
          <a:ln/>
        </p:spPr>
        <p:txBody>
          <a:bodyPr wrap="square" lIns="0" tIns="0" rIns="0" bIns="0" rtlCol="0" anchor="ctr"/>
          <a:lstStyle/>
          <a:p>
            <a:pPr marL="0" indent="0" algn="ctr">
              <a:buNone/>
            </a:pPr>
            <a:r>
              <a:rPr lang="en-US" sz="3000" b="1" dirty="0">
                <a:solidFill>
                  <a:srgbClr val="1A1410"/>
                </a:solidFill>
                <a:latin typeface="Cambria" pitchFamily="34" charset="0"/>
                <a:ea typeface="Cambria" pitchFamily="34" charset="-122"/>
                <a:cs typeface="Cambria" pitchFamily="34" charset="-120"/>
              </a:rPr>
              <a:t>5</a:t>
            </a:r>
            <a:endParaRPr lang="en-US" sz="3000" dirty="0"/>
          </a:p>
        </p:txBody>
      </p:sp>
      <p:sp>
        <p:nvSpPr>
          <p:cNvPr id="4" name="Text 2"/>
          <p:cNvSpPr/>
          <p:nvPr/>
        </p:nvSpPr>
        <p:spPr>
          <a:xfrm>
            <a:off x="914400" y="3063240"/>
            <a:ext cx="10362895" cy="1005840"/>
          </a:xfrm>
          <a:prstGeom prst="rect">
            <a:avLst/>
          </a:prstGeom>
          <a:noFill/>
          <a:ln/>
        </p:spPr>
        <p:txBody>
          <a:bodyPr wrap="square" rtlCol="0" anchor="ctr"/>
          <a:lstStyle/>
          <a:p>
            <a:pPr marL="0" indent="0" algn="ctr">
              <a:buNone/>
            </a:pPr>
            <a:r>
              <a:rPr lang="en-US" sz="4000" b="1" dirty="0">
                <a:solidFill>
                  <a:srgbClr val="FAF8F5"/>
                </a:solidFill>
                <a:latin typeface="Cambria" pitchFamily="34" charset="0"/>
                <a:ea typeface="Cambria" pitchFamily="34" charset="-122"/>
                <a:cs typeface="Cambria" pitchFamily="34" charset="-120"/>
              </a:rPr>
              <a:t>Conception &amp; architecture</a:t>
            </a:r>
            <a:endParaRPr lang="en-US" sz="4000" dirty="0"/>
          </a:p>
        </p:txBody>
      </p:sp>
      <p:sp>
        <p:nvSpPr>
          <p:cNvPr id="5" name="Text 3"/>
          <p:cNvSpPr/>
          <p:nvPr/>
        </p:nvSpPr>
        <p:spPr>
          <a:xfrm>
            <a:off x="1371600" y="4069080"/>
            <a:ext cx="9448495" cy="548640"/>
          </a:xfrm>
          <a:prstGeom prst="rect">
            <a:avLst/>
          </a:prstGeom>
          <a:noFill/>
          <a:ln/>
        </p:spPr>
        <p:txBody>
          <a:bodyPr wrap="square" rtlCol="0" anchor="ctr"/>
          <a:lstStyle/>
          <a:p>
            <a:pPr marL="0" indent="0" algn="ctr">
              <a:buNone/>
            </a:pPr>
            <a:r>
              <a:rPr lang="en-US" sz="1500" i="1" dirty="0">
                <a:solidFill>
                  <a:srgbClr val="E8E5E0"/>
                </a:solidFill>
                <a:latin typeface="Calibri" pitchFamily="34" charset="0"/>
                <a:ea typeface="Calibri" pitchFamily="34" charset="-122"/>
                <a:cs typeface="Calibri" pitchFamily="34" charset="-120"/>
              </a:rPr>
              <a:t>UML, Docker, cycle de vie d'une requête</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8F5"/>
        </a:solidFill>
        <a:effectLst/>
      </p:bgPr>
    </p:bg>
    <p:spTree>
      <p:nvGrpSpPr>
        <p:cNvPr id="1" name=""/>
        <p:cNvGrpSpPr/>
        <p:nvPr/>
      </p:nvGrpSpPr>
      <p:grpSpPr>
        <a:xfrm>
          <a:off x="0" y="0"/>
          <a:ext cx="0" cy="0"/>
          <a:chOff x="0" y="0"/>
          <a:chExt cx="0" cy="0"/>
        </a:xfrm>
      </p:grpSpPr>
      <p:sp>
        <p:nvSpPr>
          <p:cNvPr id="2" name="Text 0"/>
          <p:cNvSpPr/>
          <p:nvPr/>
        </p:nvSpPr>
        <p:spPr>
          <a:xfrm>
            <a:off x="640080" y="411480"/>
            <a:ext cx="10911535" cy="320040"/>
          </a:xfrm>
          <a:prstGeom prst="rect">
            <a:avLst/>
          </a:prstGeom>
          <a:noFill/>
          <a:ln/>
        </p:spPr>
        <p:txBody>
          <a:bodyPr wrap="square" rtlCol="0" anchor="ctr"/>
          <a:lstStyle/>
          <a:p>
            <a:pPr marL="0" indent="0">
              <a:buNone/>
            </a:pPr>
            <a:r>
              <a:rPr lang="en-US" sz="1200" b="1" kern="0" spc="250" dirty="0">
                <a:solidFill>
                  <a:srgbClr val="C9A96E"/>
                </a:solidFill>
                <a:latin typeface="Calibri" pitchFamily="34" charset="0"/>
                <a:ea typeface="Calibri" pitchFamily="34" charset="-122"/>
                <a:cs typeface="Calibri" pitchFamily="34" charset="-120"/>
              </a:rPr>
              <a:t>UML</a:t>
            </a:r>
            <a:endParaRPr lang="en-US" sz="1200" dirty="0"/>
          </a:p>
        </p:txBody>
      </p:sp>
      <p:sp>
        <p:nvSpPr>
          <p:cNvPr id="3" name="Text 1"/>
          <p:cNvSpPr/>
          <p:nvPr/>
        </p:nvSpPr>
        <p:spPr>
          <a:xfrm>
            <a:off x="640080" y="713232"/>
            <a:ext cx="10911535" cy="640080"/>
          </a:xfrm>
          <a:prstGeom prst="rect">
            <a:avLst/>
          </a:prstGeom>
          <a:noFill/>
          <a:ln/>
        </p:spPr>
        <p:txBody>
          <a:bodyPr wrap="square" rtlCol="0" anchor="ctr"/>
          <a:lstStyle/>
          <a:p>
            <a:pPr marL="0" indent="0">
              <a:buNone/>
            </a:pPr>
            <a:r>
              <a:rPr lang="en-US" sz="2800" b="1" dirty="0">
                <a:solidFill>
                  <a:srgbClr val="0A0A0A"/>
                </a:solidFill>
                <a:latin typeface="Cambria" pitchFamily="34" charset="0"/>
                <a:ea typeface="Cambria" pitchFamily="34" charset="-122"/>
                <a:cs typeface="Cambria" pitchFamily="34" charset="-120"/>
              </a:rPr>
              <a:t>Diagramme de cas d'utilisation</a:t>
            </a:r>
            <a:endParaRPr lang="en-US" sz="2800" dirty="0"/>
          </a:p>
        </p:txBody>
      </p:sp>
      <p:sp>
        <p:nvSpPr>
          <p:cNvPr id="4" name="Shape 2"/>
          <p:cNvSpPr/>
          <p:nvPr/>
        </p:nvSpPr>
        <p:spPr>
          <a:xfrm>
            <a:off x="3200265" y="1444752"/>
            <a:ext cx="5791164" cy="4041648"/>
          </a:xfrm>
          <a:prstGeom prst="roundRect">
            <a:avLst>
              <a:gd name="adj" fmla="val 1357"/>
            </a:avLst>
          </a:prstGeom>
          <a:solidFill>
            <a:srgbClr val="FFFFFF"/>
          </a:solidFill>
          <a:ln w="15875">
            <a:solidFill>
              <a:srgbClr val="C9A96E"/>
            </a:solidFill>
            <a:prstDash val="solid"/>
          </a:ln>
          <a:effectLst>
            <a:outerShdw blurRad="76200" dist="25400" dir="5400000" algn="bl" rotWithShape="0">
              <a:srgbClr val="000000">
                <a:alpha val="18000"/>
              </a:srgbClr>
            </a:outerShdw>
          </a:effectLst>
        </p:spPr>
        <p:txBody>
          <a:bodyPr/>
          <a:lstStyle/>
          <a:p>
            <a:endParaRPr lang="fr-FR"/>
          </a:p>
        </p:txBody>
      </p:sp>
      <p:pic>
        <p:nvPicPr>
          <p:cNvPr id="5" name="Image 0" descr="C:\Users\amahi\AppData\Local\Temp\claude\C--Users-amahi-Documents-Code-Amoura\ec1effed-a661-4c74-9a86-4c2c133a35a5\scratchpad\images\usecase.png"/>
          <p:cNvPicPr>
            <a:picLocks noChangeAspect="1"/>
          </p:cNvPicPr>
          <p:nvPr/>
        </p:nvPicPr>
        <p:blipFill>
          <a:blip r:embed="rId3"/>
          <a:stretch>
            <a:fillRect/>
          </a:stretch>
        </p:blipFill>
        <p:spPr>
          <a:xfrm>
            <a:off x="3309993" y="1554480"/>
            <a:ext cx="5571708" cy="3822192"/>
          </a:xfrm>
          <a:prstGeom prst="rect">
            <a:avLst/>
          </a:prstGeom>
        </p:spPr>
      </p:pic>
      <p:sp>
        <p:nvSpPr>
          <p:cNvPr id="6" name="Text 3"/>
          <p:cNvSpPr/>
          <p:nvPr/>
        </p:nvSpPr>
        <p:spPr>
          <a:xfrm>
            <a:off x="640080" y="5797296"/>
            <a:ext cx="10911535" cy="566928"/>
          </a:xfrm>
          <a:prstGeom prst="rect">
            <a:avLst/>
          </a:prstGeom>
          <a:noFill/>
          <a:ln/>
        </p:spPr>
        <p:txBody>
          <a:bodyPr wrap="square" rtlCol="0" anchor="t"/>
          <a:lstStyle/>
          <a:p>
            <a:pPr marL="0" indent="0" algn="ctr">
              <a:buNone/>
            </a:pPr>
            <a:r>
              <a:rPr lang="en-US" sz="1100" i="1" dirty="0">
                <a:solidFill>
                  <a:srgbClr val="5A5550"/>
                </a:solidFill>
                <a:latin typeface="Calibri" pitchFamily="34" charset="0"/>
                <a:ea typeface="Calibri" pitchFamily="34" charset="-122"/>
                <a:cs typeface="Calibri" pitchFamily="34" charset="-120"/>
              </a:rPr>
              <a:t>Trois acteurs : Client, Administrateur, Service Email — chaque fonctionnalité du CDCF est couverte par au moins un cas d'utilisation.</a:t>
            </a:r>
            <a:endParaRPr lang="en-US" sz="1100" dirty="0"/>
          </a:p>
        </p:txBody>
      </p:sp>
      <p:sp>
        <p:nvSpPr>
          <p:cNvPr id="7" name="Text 4"/>
          <p:cNvSpPr/>
          <p:nvPr/>
        </p:nvSpPr>
        <p:spPr>
          <a:xfrm>
            <a:off x="640080" y="6473952"/>
            <a:ext cx="7315200" cy="274320"/>
          </a:xfrm>
          <a:prstGeom prst="rect">
            <a:avLst/>
          </a:prstGeom>
          <a:noFill/>
          <a:ln/>
        </p:spPr>
        <p:txBody>
          <a:bodyPr wrap="square" rtlCol="0" anchor="ctr"/>
          <a:lstStyle/>
          <a:p>
            <a:pPr marL="0" indent="0" algn="l">
              <a:buNone/>
            </a:pPr>
            <a:r>
              <a:rPr lang="en-US" sz="900" dirty="0">
                <a:solidFill>
                  <a:srgbClr val="5A5550"/>
                </a:solidFill>
                <a:latin typeface="Calibri" pitchFamily="34" charset="0"/>
                <a:ea typeface="Calibri" pitchFamily="34" charset="-122"/>
                <a:cs typeface="Calibri" pitchFamily="34" charset="-120"/>
              </a:rPr>
              <a:t>Amoura — Soutenance CDA 2026</a:t>
            </a:r>
            <a:endParaRPr lang="en-US" sz="900" dirty="0"/>
          </a:p>
        </p:txBody>
      </p:sp>
      <p:sp>
        <p:nvSpPr>
          <p:cNvPr id="8" name="Text 5"/>
          <p:cNvSpPr/>
          <p:nvPr/>
        </p:nvSpPr>
        <p:spPr>
          <a:xfrm>
            <a:off x="11002975" y="6473952"/>
            <a:ext cx="548640" cy="274320"/>
          </a:xfrm>
          <a:prstGeom prst="rect">
            <a:avLst/>
          </a:prstGeom>
          <a:noFill/>
          <a:ln/>
        </p:spPr>
        <p:txBody>
          <a:bodyPr wrap="square" rtlCol="0" anchor="ctr"/>
          <a:lstStyle/>
          <a:p>
            <a:pPr marL="0" indent="0" algn="r">
              <a:buNone/>
            </a:pPr>
            <a:r>
              <a:rPr lang="en-US" sz="900" dirty="0">
                <a:solidFill>
                  <a:srgbClr val="5A5550"/>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8F5"/>
        </a:solidFill>
        <a:effectLst/>
      </p:bgPr>
    </p:bg>
    <p:spTree>
      <p:nvGrpSpPr>
        <p:cNvPr id="1" name=""/>
        <p:cNvGrpSpPr/>
        <p:nvPr/>
      </p:nvGrpSpPr>
      <p:grpSpPr>
        <a:xfrm>
          <a:off x="0" y="0"/>
          <a:ext cx="0" cy="0"/>
          <a:chOff x="0" y="0"/>
          <a:chExt cx="0" cy="0"/>
        </a:xfrm>
      </p:grpSpPr>
      <p:sp>
        <p:nvSpPr>
          <p:cNvPr id="2" name="Text 0"/>
          <p:cNvSpPr/>
          <p:nvPr/>
        </p:nvSpPr>
        <p:spPr>
          <a:xfrm>
            <a:off x="640080" y="411480"/>
            <a:ext cx="10911535" cy="320040"/>
          </a:xfrm>
          <a:prstGeom prst="rect">
            <a:avLst/>
          </a:prstGeom>
          <a:noFill/>
          <a:ln/>
        </p:spPr>
        <p:txBody>
          <a:bodyPr wrap="square" rtlCol="0" anchor="ctr"/>
          <a:lstStyle/>
          <a:p>
            <a:pPr marL="0" indent="0">
              <a:buNone/>
            </a:pPr>
            <a:r>
              <a:rPr lang="en-US" sz="1200" b="1" kern="0" spc="250" dirty="0">
                <a:solidFill>
                  <a:srgbClr val="C9A96E"/>
                </a:solidFill>
                <a:latin typeface="Calibri" pitchFamily="34" charset="0"/>
                <a:ea typeface="Calibri" pitchFamily="34" charset="-122"/>
                <a:cs typeface="Calibri" pitchFamily="34" charset="-120"/>
              </a:rPr>
              <a:t>UML</a:t>
            </a:r>
            <a:endParaRPr lang="en-US" sz="1200" dirty="0"/>
          </a:p>
        </p:txBody>
      </p:sp>
      <p:sp>
        <p:nvSpPr>
          <p:cNvPr id="3" name="Text 1"/>
          <p:cNvSpPr/>
          <p:nvPr/>
        </p:nvSpPr>
        <p:spPr>
          <a:xfrm>
            <a:off x="640080" y="713232"/>
            <a:ext cx="10911535" cy="640080"/>
          </a:xfrm>
          <a:prstGeom prst="rect">
            <a:avLst/>
          </a:prstGeom>
          <a:noFill/>
          <a:ln/>
        </p:spPr>
        <p:txBody>
          <a:bodyPr wrap="square" rtlCol="0" anchor="ctr"/>
          <a:lstStyle/>
          <a:p>
            <a:pPr marL="0" indent="0">
              <a:buNone/>
            </a:pPr>
            <a:r>
              <a:rPr lang="en-US" sz="2800" b="1" dirty="0">
                <a:solidFill>
                  <a:srgbClr val="0A0A0A"/>
                </a:solidFill>
                <a:latin typeface="Cambria" pitchFamily="34" charset="0"/>
                <a:ea typeface="Cambria" pitchFamily="34" charset="-122"/>
                <a:cs typeface="Cambria" pitchFamily="34" charset="-120"/>
              </a:rPr>
              <a:t>Diagramme de classes</a:t>
            </a:r>
            <a:endParaRPr lang="en-US" sz="2800" dirty="0"/>
          </a:p>
        </p:txBody>
      </p:sp>
      <p:sp>
        <p:nvSpPr>
          <p:cNvPr id="4" name="Shape 2"/>
          <p:cNvSpPr/>
          <p:nvPr/>
        </p:nvSpPr>
        <p:spPr>
          <a:xfrm>
            <a:off x="2163928" y="1444752"/>
            <a:ext cx="7863840" cy="4041648"/>
          </a:xfrm>
          <a:prstGeom prst="roundRect">
            <a:avLst>
              <a:gd name="adj" fmla="val 1357"/>
            </a:avLst>
          </a:prstGeom>
          <a:solidFill>
            <a:srgbClr val="FFFFFF"/>
          </a:solidFill>
          <a:ln w="15875">
            <a:solidFill>
              <a:srgbClr val="C9A96E"/>
            </a:solidFill>
            <a:prstDash val="solid"/>
          </a:ln>
          <a:effectLst>
            <a:outerShdw blurRad="76200" dist="25400" dir="5400000" algn="bl" rotWithShape="0">
              <a:srgbClr val="000000">
                <a:alpha val="18000"/>
              </a:srgbClr>
            </a:outerShdw>
          </a:effectLst>
        </p:spPr>
        <p:txBody>
          <a:bodyPr/>
          <a:lstStyle/>
          <a:p>
            <a:endParaRPr lang="fr-FR"/>
          </a:p>
        </p:txBody>
      </p:sp>
      <p:pic>
        <p:nvPicPr>
          <p:cNvPr id="5" name="Image 0" descr="C:\Users\amahi\AppData\Local\Temp\claude\C--Users-amahi-Documents-Code-Amoura\ec1effed-a661-4c74-9a86-4c2c133a35a5\scratchpad\images\class.png"/>
          <p:cNvPicPr>
            <a:picLocks noChangeAspect="1"/>
          </p:cNvPicPr>
          <p:nvPr/>
        </p:nvPicPr>
        <p:blipFill>
          <a:blip r:embed="rId3"/>
          <a:stretch>
            <a:fillRect/>
          </a:stretch>
        </p:blipFill>
        <p:spPr>
          <a:xfrm>
            <a:off x="2273656" y="1554480"/>
            <a:ext cx="7644384" cy="3822192"/>
          </a:xfrm>
          <a:prstGeom prst="rect">
            <a:avLst/>
          </a:prstGeom>
        </p:spPr>
      </p:pic>
      <p:sp>
        <p:nvSpPr>
          <p:cNvPr id="6" name="Text 3"/>
          <p:cNvSpPr/>
          <p:nvPr/>
        </p:nvSpPr>
        <p:spPr>
          <a:xfrm>
            <a:off x="640080" y="5797296"/>
            <a:ext cx="10911535" cy="566928"/>
          </a:xfrm>
          <a:prstGeom prst="rect">
            <a:avLst/>
          </a:prstGeom>
          <a:noFill/>
          <a:ln/>
        </p:spPr>
        <p:txBody>
          <a:bodyPr wrap="square" rtlCol="0" anchor="t"/>
          <a:lstStyle/>
          <a:p>
            <a:pPr marL="0" indent="0" algn="ctr">
              <a:buNone/>
            </a:pPr>
            <a:r>
              <a:rPr lang="en-US" sz="1100" i="1" dirty="0">
                <a:solidFill>
                  <a:srgbClr val="5A5550"/>
                </a:solidFill>
                <a:latin typeface="Calibri" pitchFamily="34" charset="0"/>
                <a:ea typeface="Calibri" pitchFamily="34" charset="-122"/>
                <a:cs typeface="Calibri" pitchFamily="34" charset="-120"/>
              </a:rPr>
              <a:t>4 packages : Entity, Controller (12 classes), Service (3 classes métier), React Components.</a:t>
            </a:r>
            <a:endParaRPr lang="en-US" sz="1100" dirty="0"/>
          </a:p>
        </p:txBody>
      </p:sp>
      <p:sp>
        <p:nvSpPr>
          <p:cNvPr id="7" name="Text 4"/>
          <p:cNvSpPr/>
          <p:nvPr/>
        </p:nvSpPr>
        <p:spPr>
          <a:xfrm>
            <a:off x="640080" y="6473952"/>
            <a:ext cx="7315200" cy="274320"/>
          </a:xfrm>
          <a:prstGeom prst="rect">
            <a:avLst/>
          </a:prstGeom>
          <a:noFill/>
          <a:ln/>
        </p:spPr>
        <p:txBody>
          <a:bodyPr wrap="square" rtlCol="0" anchor="ctr"/>
          <a:lstStyle/>
          <a:p>
            <a:pPr marL="0" indent="0" algn="l">
              <a:buNone/>
            </a:pPr>
            <a:r>
              <a:rPr lang="en-US" sz="900" dirty="0">
                <a:solidFill>
                  <a:srgbClr val="5A5550"/>
                </a:solidFill>
                <a:latin typeface="Calibri" pitchFamily="34" charset="0"/>
                <a:ea typeface="Calibri" pitchFamily="34" charset="-122"/>
                <a:cs typeface="Calibri" pitchFamily="34" charset="-120"/>
              </a:rPr>
              <a:t>Amoura — Soutenance CDA 2026</a:t>
            </a:r>
            <a:endParaRPr lang="en-US" sz="900" dirty="0"/>
          </a:p>
        </p:txBody>
      </p:sp>
      <p:sp>
        <p:nvSpPr>
          <p:cNvPr id="8" name="Text 5"/>
          <p:cNvSpPr/>
          <p:nvPr/>
        </p:nvSpPr>
        <p:spPr>
          <a:xfrm>
            <a:off x="11002975" y="6473952"/>
            <a:ext cx="548640" cy="274320"/>
          </a:xfrm>
          <a:prstGeom prst="rect">
            <a:avLst/>
          </a:prstGeom>
          <a:noFill/>
          <a:ln/>
        </p:spPr>
        <p:txBody>
          <a:bodyPr wrap="square" rtlCol="0" anchor="ctr"/>
          <a:lstStyle/>
          <a:p>
            <a:pPr marL="0" indent="0" algn="r">
              <a:buNone/>
            </a:pPr>
            <a:r>
              <a:rPr lang="en-US" sz="900" dirty="0">
                <a:solidFill>
                  <a:srgbClr val="5A5550"/>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8F5"/>
        </a:solidFill>
        <a:effectLst/>
      </p:bgPr>
    </p:bg>
    <p:spTree>
      <p:nvGrpSpPr>
        <p:cNvPr id="1" name=""/>
        <p:cNvGrpSpPr/>
        <p:nvPr/>
      </p:nvGrpSpPr>
      <p:grpSpPr>
        <a:xfrm>
          <a:off x="0" y="0"/>
          <a:ext cx="0" cy="0"/>
          <a:chOff x="0" y="0"/>
          <a:chExt cx="0" cy="0"/>
        </a:xfrm>
      </p:grpSpPr>
      <p:sp>
        <p:nvSpPr>
          <p:cNvPr id="2" name="Text 0"/>
          <p:cNvSpPr/>
          <p:nvPr/>
        </p:nvSpPr>
        <p:spPr>
          <a:xfrm>
            <a:off x="640080" y="411480"/>
            <a:ext cx="10911535" cy="320040"/>
          </a:xfrm>
          <a:prstGeom prst="rect">
            <a:avLst/>
          </a:prstGeom>
          <a:noFill/>
          <a:ln/>
        </p:spPr>
        <p:txBody>
          <a:bodyPr wrap="square" rtlCol="0" anchor="ctr"/>
          <a:lstStyle/>
          <a:p>
            <a:pPr marL="0" indent="0">
              <a:buNone/>
            </a:pPr>
            <a:r>
              <a:rPr lang="en-US" sz="1200" b="1" kern="0" spc="250" dirty="0">
                <a:solidFill>
                  <a:srgbClr val="C9A96E"/>
                </a:solidFill>
                <a:latin typeface="Calibri" pitchFamily="34" charset="0"/>
                <a:ea typeface="Calibri" pitchFamily="34" charset="-122"/>
                <a:cs typeface="Calibri" pitchFamily="34" charset="-120"/>
              </a:rPr>
              <a:t>ARCHITECTURE</a:t>
            </a:r>
            <a:endParaRPr lang="en-US" sz="1200" dirty="0"/>
          </a:p>
        </p:txBody>
      </p:sp>
      <p:sp>
        <p:nvSpPr>
          <p:cNvPr id="3" name="Text 1"/>
          <p:cNvSpPr/>
          <p:nvPr/>
        </p:nvSpPr>
        <p:spPr>
          <a:xfrm>
            <a:off x="640080" y="713232"/>
            <a:ext cx="10911535" cy="640080"/>
          </a:xfrm>
          <a:prstGeom prst="rect">
            <a:avLst/>
          </a:prstGeom>
          <a:noFill/>
          <a:ln/>
        </p:spPr>
        <p:txBody>
          <a:bodyPr wrap="square" rtlCol="0" anchor="ctr"/>
          <a:lstStyle/>
          <a:p>
            <a:pPr marL="0" indent="0">
              <a:buNone/>
            </a:pPr>
            <a:r>
              <a:rPr lang="en-US" sz="2800" b="1" dirty="0">
                <a:solidFill>
                  <a:srgbClr val="0A0A0A"/>
                </a:solidFill>
                <a:latin typeface="Cambria" pitchFamily="34" charset="0"/>
                <a:ea typeface="Cambria" pitchFamily="34" charset="-122"/>
                <a:cs typeface="Cambria" pitchFamily="34" charset="-120"/>
              </a:rPr>
              <a:t>Architecture n-tiers &amp; Docker</a:t>
            </a:r>
            <a:endParaRPr lang="en-US" sz="2800" dirty="0"/>
          </a:p>
        </p:txBody>
      </p:sp>
      <p:sp>
        <p:nvSpPr>
          <p:cNvPr id="4" name="Shape 2"/>
          <p:cNvSpPr/>
          <p:nvPr/>
        </p:nvSpPr>
        <p:spPr>
          <a:xfrm>
            <a:off x="2763361" y="1444752"/>
            <a:ext cx="6664974" cy="4041648"/>
          </a:xfrm>
          <a:prstGeom prst="roundRect">
            <a:avLst>
              <a:gd name="adj" fmla="val 1357"/>
            </a:avLst>
          </a:prstGeom>
          <a:solidFill>
            <a:srgbClr val="FFFFFF"/>
          </a:solidFill>
          <a:ln w="15875">
            <a:solidFill>
              <a:srgbClr val="C9A96E"/>
            </a:solidFill>
            <a:prstDash val="solid"/>
          </a:ln>
          <a:effectLst>
            <a:outerShdw blurRad="76200" dist="25400" dir="5400000" algn="bl" rotWithShape="0">
              <a:srgbClr val="000000">
                <a:alpha val="18000"/>
              </a:srgbClr>
            </a:outerShdw>
          </a:effectLst>
        </p:spPr>
        <p:txBody>
          <a:bodyPr/>
          <a:lstStyle/>
          <a:p>
            <a:endParaRPr lang="fr-FR"/>
          </a:p>
        </p:txBody>
      </p:sp>
      <p:pic>
        <p:nvPicPr>
          <p:cNvPr id="5" name="Image 0" descr="C:\Users\amahi\AppData\Local\Temp\claude\C--Users-amahi-Documents-Code-Amoura\ec1effed-a661-4c74-9a86-4c2c133a35a5\scratchpad\images\architecture.png"/>
          <p:cNvPicPr>
            <a:picLocks noChangeAspect="1"/>
          </p:cNvPicPr>
          <p:nvPr/>
        </p:nvPicPr>
        <p:blipFill>
          <a:blip r:embed="rId3"/>
          <a:stretch>
            <a:fillRect/>
          </a:stretch>
        </p:blipFill>
        <p:spPr>
          <a:xfrm>
            <a:off x="2873089" y="1554480"/>
            <a:ext cx="6445518" cy="3822192"/>
          </a:xfrm>
          <a:prstGeom prst="rect">
            <a:avLst/>
          </a:prstGeom>
        </p:spPr>
      </p:pic>
      <p:sp>
        <p:nvSpPr>
          <p:cNvPr id="6" name="Text 3"/>
          <p:cNvSpPr/>
          <p:nvPr/>
        </p:nvSpPr>
        <p:spPr>
          <a:xfrm>
            <a:off x="640080" y="5797296"/>
            <a:ext cx="10911535" cy="566928"/>
          </a:xfrm>
          <a:prstGeom prst="rect">
            <a:avLst/>
          </a:prstGeom>
          <a:noFill/>
          <a:ln/>
        </p:spPr>
        <p:txBody>
          <a:bodyPr wrap="square" rtlCol="0" anchor="t"/>
          <a:lstStyle/>
          <a:p>
            <a:pPr marL="0" indent="0" algn="ctr">
              <a:buNone/>
            </a:pPr>
            <a:r>
              <a:rPr lang="en-US" sz="1100" i="1" dirty="0">
                <a:solidFill>
                  <a:srgbClr val="5A5550"/>
                </a:solidFill>
                <a:latin typeface="Calibri" pitchFamily="34" charset="0"/>
                <a:ea typeface="Calibri" pitchFamily="34" charset="-122"/>
                <a:cs typeface="Calibri" pitchFamily="34" charset="-120"/>
              </a:rPr>
              <a:t>3 tiers logiques = 3 conteneurs Docker distincts, orchestres par un docker-compose unique.</a:t>
            </a:r>
            <a:endParaRPr lang="en-US" sz="1100" dirty="0"/>
          </a:p>
        </p:txBody>
      </p:sp>
      <p:sp>
        <p:nvSpPr>
          <p:cNvPr id="7" name="Text 4"/>
          <p:cNvSpPr/>
          <p:nvPr/>
        </p:nvSpPr>
        <p:spPr>
          <a:xfrm>
            <a:off x="640080" y="6473952"/>
            <a:ext cx="7315200" cy="274320"/>
          </a:xfrm>
          <a:prstGeom prst="rect">
            <a:avLst/>
          </a:prstGeom>
          <a:noFill/>
          <a:ln/>
        </p:spPr>
        <p:txBody>
          <a:bodyPr wrap="square" rtlCol="0" anchor="ctr"/>
          <a:lstStyle/>
          <a:p>
            <a:pPr marL="0" indent="0" algn="l">
              <a:buNone/>
            </a:pPr>
            <a:r>
              <a:rPr lang="en-US" sz="900" dirty="0">
                <a:solidFill>
                  <a:srgbClr val="5A5550"/>
                </a:solidFill>
                <a:latin typeface="Calibri" pitchFamily="34" charset="0"/>
                <a:ea typeface="Calibri" pitchFamily="34" charset="-122"/>
                <a:cs typeface="Calibri" pitchFamily="34" charset="-120"/>
              </a:rPr>
              <a:t>Amoura — Soutenance CDA 2026</a:t>
            </a:r>
            <a:endParaRPr lang="en-US" sz="900" dirty="0"/>
          </a:p>
        </p:txBody>
      </p:sp>
      <p:sp>
        <p:nvSpPr>
          <p:cNvPr id="8" name="Text 5"/>
          <p:cNvSpPr/>
          <p:nvPr/>
        </p:nvSpPr>
        <p:spPr>
          <a:xfrm>
            <a:off x="11002975" y="6473952"/>
            <a:ext cx="548640" cy="274320"/>
          </a:xfrm>
          <a:prstGeom prst="rect">
            <a:avLst/>
          </a:prstGeom>
          <a:noFill/>
          <a:ln/>
        </p:spPr>
        <p:txBody>
          <a:bodyPr wrap="square" rtlCol="0" anchor="ctr"/>
          <a:lstStyle/>
          <a:p>
            <a:pPr marL="0" indent="0" algn="r">
              <a:buNone/>
            </a:pPr>
            <a:r>
              <a:rPr lang="en-US" sz="900" dirty="0">
                <a:solidFill>
                  <a:srgbClr val="5A5550"/>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8F5"/>
        </a:solidFill>
        <a:effectLst/>
      </p:bgPr>
    </p:bg>
    <p:spTree>
      <p:nvGrpSpPr>
        <p:cNvPr id="1" name=""/>
        <p:cNvGrpSpPr/>
        <p:nvPr/>
      </p:nvGrpSpPr>
      <p:grpSpPr>
        <a:xfrm>
          <a:off x="0" y="0"/>
          <a:ext cx="0" cy="0"/>
          <a:chOff x="0" y="0"/>
          <a:chExt cx="0" cy="0"/>
        </a:xfrm>
      </p:grpSpPr>
      <p:sp>
        <p:nvSpPr>
          <p:cNvPr id="2" name="Text 0"/>
          <p:cNvSpPr/>
          <p:nvPr/>
        </p:nvSpPr>
        <p:spPr>
          <a:xfrm>
            <a:off x="640080" y="411480"/>
            <a:ext cx="10911535" cy="320040"/>
          </a:xfrm>
          <a:prstGeom prst="rect">
            <a:avLst/>
          </a:prstGeom>
          <a:noFill/>
          <a:ln/>
        </p:spPr>
        <p:txBody>
          <a:bodyPr wrap="square" rtlCol="0" anchor="ctr"/>
          <a:lstStyle/>
          <a:p>
            <a:pPr marL="0" indent="0">
              <a:buNone/>
            </a:pPr>
            <a:r>
              <a:rPr lang="en-US" sz="1200" b="1" kern="0" spc="250" dirty="0">
                <a:solidFill>
                  <a:srgbClr val="C9A96E"/>
                </a:solidFill>
                <a:latin typeface="Calibri" pitchFamily="34" charset="0"/>
                <a:ea typeface="Calibri" pitchFamily="34" charset="-122"/>
                <a:cs typeface="Calibri" pitchFamily="34" charset="-120"/>
              </a:rPr>
              <a:t>EN PRATIQUE</a:t>
            </a:r>
            <a:endParaRPr lang="en-US" sz="1200" dirty="0"/>
          </a:p>
        </p:txBody>
      </p:sp>
      <p:sp>
        <p:nvSpPr>
          <p:cNvPr id="3" name="Text 1"/>
          <p:cNvSpPr/>
          <p:nvPr/>
        </p:nvSpPr>
        <p:spPr>
          <a:xfrm>
            <a:off x="640080" y="713232"/>
            <a:ext cx="10911535" cy="640080"/>
          </a:xfrm>
          <a:prstGeom prst="rect">
            <a:avLst/>
          </a:prstGeom>
          <a:noFill/>
          <a:ln/>
        </p:spPr>
        <p:txBody>
          <a:bodyPr wrap="square" rtlCol="0" anchor="ctr"/>
          <a:lstStyle/>
          <a:p>
            <a:pPr marL="0" indent="0">
              <a:buNone/>
            </a:pPr>
            <a:r>
              <a:rPr lang="en-US" sz="2800" b="1" dirty="0">
                <a:solidFill>
                  <a:srgbClr val="0A0A0A"/>
                </a:solidFill>
                <a:latin typeface="Cambria" pitchFamily="34" charset="0"/>
                <a:ea typeface="Cambria" pitchFamily="34" charset="-122"/>
                <a:cs typeface="Cambria" pitchFamily="34" charset="-120"/>
              </a:rPr>
              <a:t>Cycle de vie d'une requête — créer une réservation</a:t>
            </a:r>
            <a:endParaRPr lang="en-US" sz="2800" dirty="0"/>
          </a:p>
        </p:txBody>
      </p:sp>
      <p:sp>
        <p:nvSpPr>
          <p:cNvPr id="4" name="Shape 2"/>
          <p:cNvSpPr/>
          <p:nvPr/>
        </p:nvSpPr>
        <p:spPr>
          <a:xfrm>
            <a:off x="640080" y="1920240"/>
            <a:ext cx="384048" cy="384048"/>
          </a:xfrm>
          <a:prstGeom prst="ellipse">
            <a:avLst/>
          </a:prstGeom>
          <a:solidFill>
            <a:srgbClr val="C9A96E"/>
          </a:solidFill>
          <a:ln/>
        </p:spPr>
        <p:txBody>
          <a:bodyPr/>
          <a:lstStyle/>
          <a:p>
            <a:endParaRPr lang="fr-FR"/>
          </a:p>
        </p:txBody>
      </p:sp>
      <p:sp>
        <p:nvSpPr>
          <p:cNvPr id="5" name="Text 3"/>
          <p:cNvSpPr/>
          <p:nvPr/>
        </p:nvSpPr>
        <p:spPr>
          <a:xfrm>
            <a:off x="640080" y="1920240"/>
            <a:ext cx="384048" cy="384048"/>
          </a:xfrm>
          <a:prstGeom prst="rect">
            <a:avLst/>
          </a:prstGeom>
          <a:noFill/>
          <a:ln/>
        </p:spPr>
        <p:txBody>
          <a:bodyPr wrap="square" lIns="0" tIns="0" rIns="0" bIns="0" rtlCol="0" anchor="ctr"/>
          <a:lstStyle/>
          <a:p>
            <a:pPr marL="0" indent="0" algn="ctr">
              <a:buNone/>
            </a:pPr>
            <a:r>
              <a:rPr lang="en-US" sz="1400" b="1" dirty="0">
                <a:solidFill>
                  <a:srgbClr val="1A1410"/>
                </a:solidFill>
                <a:latin typeface="Cambria" pitchFamily="34" charset="0"/>
                <a:ea typeface="Cambria" pitchFamily="34" charset="-122"/>
                <a:cs typeface="Cambria" pitchFamily="34" charset="-120"/>
              </a:rPr>
              <a:t>1</a:t>
            </a:r>
            <a:endParaRPr lang="en-US" sz="1400" dirty="0"/>
          </a:p>
        </p:txBody>
      </p:sp>
      <p:sp>
        <p:nvSpPr>
          <p:cNvPr id="6" name="Shape 4"/>
          <p:cNvSpPr/>
          <p:nvPr/>
        </p:nvSpPr>
        <p:spPr>
          <a:xfrm>
            <a:off x="832104" y="2304288"/>
            <a:ext cx="0" cy="548640"/>
          </a:xfrm>
          <a:prstGeom prst="line">
            <a:avLst/>
          </a:prstGeom>
          <a:noFill/>
          <a:ln w="12700">
            <a:solidFill>
              <a:srgbClr val="C9A96E"/>
            </a:solidFill>
            <a:prstDash val="dash"/>
          </a:ln>
        </p:spPr>
        <p:txBody>
          <a:bodyPr/>
          <a:lstStyle/>
          <a:p>
            <a:endParaRPr lang="fr-FR"/>
          </a:p>
        </p:txBody>
      </p:sp>
      <p:sp>
        <p:nvSpPr>
          <p:cNvPr id="7" name="Text 5"/>
          <p:cNvSpPr/>
          <p:nvPr/>
        </p:nvSpPr>
        <p:spPr>
          <a:xfrm>
            <a:off x="1325880" y="1865376"/>
            <a:ext cx="10225735" cy="320040"/>
          </a:xfrm>
          <a:prstGeom prst="rect">
            <a:avLst/>
          </a:prstGeom>
          <a:noFill/>
          <a:ln/>
        </p:spPr>
        <p:txBody>
          <a:bodyPr wrap="square" lIns="0" tIns="0" rIns="0" bIns="0" rtlCol="0" anchor="ctr"/>
          <a:lstStyle/>
          <a:p>
            <a:pPr marL="0" indent="0">
              <a:buNone/>
            </a:pPr>
            <a:r>
              <a:rPr lang="en-US" sz="1350" b="1" dirty="0">
                <a:solidFill>
                  <a:srgbClr val="0A0A0A"/>
                </a:solidFill>
                <a:latin typeface="Cambria" pitchFamily="34" charset="0"/>
                <a:ea typeface="Cambria" pitchFamily="34" charset="-122"/>
                <a:cs typeface="Cambria" pitchFamily="34" charset="-120"/>
              </a:rPr>
              <a:t>1-2. Frontend -&gt; Backend</a:t>
            </a:r>
            <a:endParaRPr lang="en-US" sz="1350" dirty="0"/>
          </a:p>
        </p:txBody>
      </p:sp>
      <p:sp>
        <p:nvSpPr>
          <p:cNvPr id="8" name="Text 6"/>
          <p:cNvSpPr/>
          <p:nvPr/>
        </p:nvSpPr>
        <p:spPr>
          <a:xfrm>
            <a:off x="1325880" y="2176272"/>
            <a:ext cx="10088575" cy="612648"/>
          </a:xfrm>
          <a:prstGeom prst="rect">
            <a:avLst/>
          </a:prstGeom>
          <a:noFill/>
          <a:ln/>
        </p:spPr>
        <p:txBody>
          <a:bodyPr wrap="square" lIns="0" tIns="0" rIns="0" bIns="0" rtlCol="0" anchor="t"/>
          <a:lstStyle/>
          <a:p>
            <a:pPr marL="0" indent="0">
              <a:buNone/>
            </a:pPr>
            <a:r>
              <a:rPr lang="en-US" sz="1050" dirty="0">
                <a:solidFill>
                  <a:srgbClr val="5A5550"/>
                </a:solidFill>
                <a:latin typeface="Calibri" pitchFamily="34" charset="0"/>
                <a:ea typeface="Calibri" pitchFamily="34" charset="-122"/>
                <a:cs typeface="Calibri" pitchFamily="34" charset="-120"/>
              </a:rPr>
              <a:t>Axios ajoute le jeton JWT automatiquement, la requête traverse le réseau Docker jusqu'à Apache/PHP</a:t>
            </a:r>
            <a:endParaRPr lang="en-US" sz="1050" dirty="0"/>
          </a:p>
        </p:txBody>
      </p:sp>
      <p:sp>
        <p:nvSpPr>
          <p:cNvPr id="9" name="Shape 7"/>
          <p:cNvSpPr/>
          <p:nvPr/>
        </p:nvSpPr>
        <p:spPr>
          <a:xfrm>
            <a:off x="640080" y="2852928"/>
            <a:ext cx="384048" cy="384048"/>
          </a:xfrm>
          <a:prstGeom prst="ellipse">
            <a:avLst/>
          </a:prstGeom>
          <a:solidFill>
            <a:srgbClr val="C9A96E"/>
          </a:solidFill>
          <a:ln/>
        </p:spPr>
        <p:txBody>
          <a:bodyPr/>
          <a:lstStyle/>
          <a:p>
            <a:endParaRPr lang="fr-FR"/>
          </a:p>
        </p:txBody>
      </p:sp>
      <p:sp>
        <p:nvSpPr>
          <p:cNvPr id="10" name="Text 8"/>
          <p:cNvSpPr/>
          <p:nvPr/>
        </p:nvSpPr>
        <p:spPr>
          <a:xfrm>
            <a:off x="640080" y="2852928"/>
            <a:ext cx="384048" cy="384048"/>
          </a:xfrm>
          <a:prstGeom prst="rect">
            <a:avLst/>
          </a:prstGeom>
          <a:noFill/>
          <a:ln/>
        </p:spPr>
        <p:txBody>
          <a:bodyPr wrap="square" lIns="0" tIns="0" rIns="0" bIns="0" rtlCol="0" anchor="ctr"/>
          <a:lstStyle/>
          <a:p>
            <a:pPr marL="0" indent="0" algn="ctr">
              <a:buNone/>
            </a:pPr>
            <a:r>
              <a:rPr lang="en-US" sz="1400" b="1" dirty="0">
                <a:solidFill>
                  <a:srgbClr val="1A1410"/>
                </a:solidFill>
                <a:latin typeface="Cambria" pitchFamily="34" charset="0"/>
                <a:ea typeface="Cambria" pitchFamily="34" charset="-122"/>
                <a:cs typeface="Cambria" pitchFamily="34" charset="-120"/>
              </a:rPr>
              <a:t>2</a:t>
            </a:r>
            <a:endParaRPr lang="en-US" sz="1400" dirty="0"/>
          </a:p>
        </p:txBody>
      </p:sp>
      <p:sp>
        <p:nvSpPr>
          <p:cNvPr id="11" name="Shape 9"/>
          <p:cNvSpPr/>
          <p:nvPr/>
        </p:nvSpPr>
        <p:spPr>
          <a:xfrm>
            <a:off x="832104" y="3236976"/>
            <a:ext cx="0" cy="548640"/>
          </a:xfrm>
          <a:prstGeom prst="line">
            <a:avLst/>
          </a:prstGeom>
          <a:noFill/>
          <a:ln w="12700">
            <a:solidFill>
              <a:srgbClr val="C9A96E"/>
            </a:solidFill>
            <a:prstDash val="dash"/>
          </a:ln>
        </p:spPr>
        <p:txBody>
          <a:bodyPr/>
          <a:lstStyle/>
          <a:p>
            <a:endParaRPr lang="fr-FR"/>
          </a:p>
        </p:txBody>
      </p:sp>
      <p:sp>
        <p:nvSpPr>
          <p:cNvPr id="12" name="Text 10"/>
          <p:cNvSpPr/>
          <p:nvPr/>
        </p:nvSpPr>
        <p:spPr>
          <a:xfrm>
            <a:off x="1325880" y="2798064"/>
            <a:ext cx="10225735" cy="320040"/>
          </a:xfrm>
          <a:prstGeom prst="rect">
            <a:avLst/>
          </a:prstGeom>
          <a:noFill/>
          <a:ln/>
        </p:spPr>
        <p:txBody>
          <a:bodyPr wrap="square" lIns="0" tIns="0" rIns="0" bIns="0" rtlCol="0" anchor="ctr"/>
          <a:lstStyle/>
          <a:p>
            <a:pPr marL="0" indent="0">
              <a:buNone/>
            </a:pPr>
            <a:r>
              <a:rPr lang="en-US" sz="1350" b="1" dirty="0">
                <a:solidFill>
                  <a:srgbClr val="0A0A0A"/>
                </a:solidFill>
                <a:latin typeface="Cambria" pitchFamily="34" charset="0"/>
                <a:ea typeface="Cambria" pitchFamily="34" charset="-122"/>
                <a:cs typeface="Cambria" pitchFamily="34" charset="-120"/>
              </a:rPr>
              <a:t>3. Sécurité</a:t>
            </a:r>
            <a:endParaRPr lang="en-US" sz="1350" dirty="0"/>
          </a:p>
        </p:txBody>
      </p:sp>
      <p:sp>
        <p:nvSpPr>
          <p:cNvPr id="13" name="Text 11"/>
          <p:cNvSpPr/>
          <p:nvPr/>
        </p:nvSpPr>
        <p:spPr>
          <a:xfrm>
            <a:off x="1325880" y="3108960"/>
            <a:ext cx="10088575" cy="612648"/>
          </a:xfrm>
          <a:prstGeom prst="rect">
            <a:avLst/>
          </a:prstGeom>
          <a:noFill/>
          <a:ln/>
        </p:spPr>
        <p:txBody>
          <a:bodyPr wrap="square" lIns="0" tIns="0" rIns="0" bIns="0" rtlCol="0" anchor="t"/>
          <a:lstStyle/>
          <a:p>
            <a:pPr marL="0" indent="0">
              <a:buNone/>
            </a:pPr>
            <a:r>
              <a:rPr lang="en-US" sz="1050" dirty="0">
                <a:solidFill>
                  <a:srgbClr val="5A5550"/>
                </a:solidFill>
                <a:latin typeface="Calibri" pitchFamily="34" charset="0"/>
                <a:ea typeface="Calibri" pitchFamily="34" charset="-122"/>
                <a:cs typeface="Calibri" pitchFamily="34" charset="-120"/>
              </a:rPr>
              <a:t>Le firewall Symfony valide le jeton JWT et le rôle avant même d'atteindre le contrôleur</a:t>
            </a:r>
            <a:endParaRPr lang="en-US" sz="1050" dirty="0"/>
          </a:p>
        </p:txBody>
      </p:sp>
      <p:sp>
        <p:nvSpPr>
          <p:cNvPr id="14" name="Shape 12"/>
          <p:cNvSpPr/>
          <p:nvPr/>
        </p:nvSpPr>
        <p:spPr>
          <a:xfrm>
            <a:off x="640080" y="3785616"/>
            <a:ext cx="384048" cy="384048"/>
          </a:xfrm>
          <a:prstGeom prst="ellipse">
            <a:avLst/>
          </a:prstGeom>
          <a:solidFill>
            <a:srgbClr val="C9A96E"/>
          </a:solidFill>
          <a:ln/>
        </p:spPr>
        <p:txBody>
          <a:bodyPr/>
          <a:lstStyle/>
          <a:p>
            <a:endParaRPr lang="fr-FR"/>
          </a:p>
        </p:txBody>
      </p:sp>
      <p:sp>
        <p:nvSpPr>
          <p:cNvPr id="15" name="Text 13"/>
          <p:cNvSpPr/>
          <p:nvPr/>
        </p:nvSpPr>
        <p:spPr>
          <a:xfrm>
            <a:off x="640080" y="3785616"/>
            <a:ext cx="384048" cy="384048"/>
          </a:xfrm>
          <a:prstGeom prst="rect">
            <a:avLst/>
          </a:prstGeom>
          <a:noFill/>
          <a:ln/>
        </p:spPr>
        <p:txBody>
          <a:bodyPr wrap="square" lIns="0" tIns="0" rIns="0" bIns="0" rtlCol="0" anchor="ctr"/>
          <a:lstStyle/>
          <a:p>
            <a:pPr marL="0" indent="0" algn="ctr">
              <a:buNone/>
            </a:pPr>
            <a:r>
              <a:rPr lang="en-US" sz="1400" b="1" dirty="0">
                <a:solidFill>
                  <a:srgbClr val="1A1410"/>
                </a:solidFill>
                <a:latin typeface="Cambria" pitchFamily="34" charset="0"/>
                <a:ea typeface="Cambria" pitchFamily="34" charset="-122"/>
                <a:cs typeface="Cambria" pitchFamily="34" charset="-120"/>
              </a:rPr>
              <a:t>3</a:t>
            </a:r>
            <a:endParaRPr lang="en-US" sz="1400" dirty="0"/>
          </a:p>
        </p:txBody>
      </p:sp>
      <p:sp>
        <p:nvSpPr>
          <p:cNvPr id="16" name="Shape 14"/>
          <p:cNvSpPr/>
          <p:nvPr/>
        </p:nvSpPr>
        <p:spPr>
          <a:xfrm>
            <a:off x="832104" y="4169664"/>
            <a:ext cx="0" cy="548640"/>
          </a:xfrm>
          <a:prstGeom prst="line">
            <a:avLst/>
          </a:prstGeom>
          <a:noFill/>
          <a:ln w="12700">
            <a:solidFill>
              <a:srgbClr val="C9A96E"/>
            </a:solidFill>
            <a:prstDash val="dash"/>
          </a:ln>
        </p:spPr>
        <p:txBody>
          <a:bodyPr/>
          <a:lstStyle/>
          <a:p>
            <a:endParaRPr lang="fr-FR"/>
          </a:p>
        </p:txBody>
      </p:sp>
      <p:sp>
        <p:nvSpPr>
          <p:cNvPr id="17" name="Text 15"/>
          <p:cNvSpPr/>
          <p:nvPr/>
        </p:nvSpPr>
        <p:spPr>
          <a:xfrm>
            <a:off x="1325880" y="3730752"/>
            <a:ext cx="10225735" cy="320040"/>
          </a:xfrm>
          <a:prstGeom prst="rect">
            <a:avLst/>
          </a:prstGeom>
          <a:noFill/>
          <a:ln/>
        </p:spPr>
        <p:txBody>
          <a:bodyPr wrap="square" lIns="0" tIns="0" rIns="0" bIns="0" rtlCol="0" anchor="ctr"/>
          <a:lstStyle/>
          <a:p>
            <a:pPr marL="0" indent="0">
              <a:buNone/>
            </a:pPr>
            <a:r>
              <a:rPr lang="en-US" sz="1350" b="1" dirty="0">
                <a:solidFill>
                  <a:srgbClr val="0A0A0A"/>
                </a:solidFill>
                <a:latin typeface="Cambria" pitchFamily="34" charset="0"/>
                <a:ea typeface="Cambria" pitchFamily="34" charset="-122"/>
                <a:cs typeface="Cambria" pitchFamily="34" charset="-120"/>
              </a:rPr>
              <a:t>4-5. Contrôleur -&gt; Service</a:t>
            </a:r>
            <a:endParaRPr lang="en-US" sz="1350" dirty="0"/>
          </a:p>
        </p:txBody>
      </p:sp>
      <p:sp>
        <p:nvSpPr>
          <p:cNvPr id="18" name="Text 16"/>
          <p:cNvSpPr/>
          <p:nvPr/>
        </p:nvSpPr>
        <p:spPr>
          <a:xfrm>
            <a:off x="1325880" y="4041648"/>
            <a:ext cx="10088575" cy="612648"/>
          </a:xfrm>
          <a:prstGeom prst="rect">
            <a:avLst/>
          </a:prstGeom>
          <a:noFill/>
          <a:ln/>
        </p:spPr>
        <p:txBody>
          <a:bodyPr wrap="square" lIns="0" tIns="0" rIns="0" bIns="0" rtlCol="0" anchor="t"/>
          <a:lstStyle/>
          <a:p>
            <a:pPr marL="0" indent="0">
              <a:buNone/>
            </a:pPr>
            <a:r>
              <a:rPr lang="en-US" sz="1050" dirty="0">
                <a:solidFill>
                  <a:srgbClr val="5A5550"/>
                </a:solidFill>
                <a:latin typeface="Calibri" pitchFamily="34" charset="0"/>
                <a:ea typeface="Calibri" pitchFamily="34" charset="-122"/>
                <a:cs typeface="Calibri" pitchFamily="34" charset="-120"/>
              </a:rPr>
              <a:t>ReservationController valide le DTO puis délègue a ReservationService pour la logique métier</a:t>
            </a:r>
            <a:endParaRPr lang="en-US" sz="1050" dirty="0"/>
          </a:p>
        </p:txBody>
      </p:sp>
      <p:sp>
        <p:nvSpPr>
          <p:cNvPr id="19" name="Shape 17"/>
          <p:cNvSpPr/>
          <p:nvPr/>
        </p:nvSpPr>
        <p:spPr>
          <a:xfrm>
            <a:off x="640080" y="4718304"/>
            <a:ext cx="384048" cy="384048"/>
          </a:xfrm>
          <a:prstGeom prst="ellipse">
            <a:avLst/>
          </a:prstGeom>
          <a:solidFill>
            <a:srgbClr val="C9A96E"/>
          </a:solidFill>
          <a:ln/>
        </p:spPr>
        <p:txBody>
          <a:bodyPr/>
          <a:lstStyle/>
          <a:p>
            <a:endParaRPr lang="fr-FR"/>
          </a:p>
        </p:txBody>
      </p:sp>
      <p:sp>
        <p:nvSpPr>
          <p:cNvPr id="20" name="Text 18"/>
          <p:cNvSpPr/>
          <p:nvPr/>
        </p:nvSpPr>
        <p:spPr>
          <a:xfrm>
            <a:off x="640080" y="4718304"/>
            <a:ext cx="384048" cy="384048"/>
          </a:xfrm>
          <a:prstGeom prst="rect">
            <a:avLst/>
          </a:prstGeom>
          <a:noFill/>
          <a:ln/>
        </p:spPr>
        <p:txBody>
          <a:bodyPr wrap="square" lIns="0" tIns="0" rIns="0" bIns="0" rtlCol="0" anchor="ctr"/>
          <a:lstStyle/>
          <a:p>
            <a:pPr marL="0" indent="0" algn="ctr">
              <a:buNone/>
            </a:pPr>
            <a:r>
              <a:rPr lang="en-US" sz="1400" b="1" dirty="0">
                <a:solidFill>
                  <a:srgbClr val="1A1410"/>
                </a:solidFill>
                <a:latin typeface="Cambria" pitchFamily="34" charset="0"/>
                <a:ea typeface="Cambria" pitchFamily="34" charset="-122"/>
                <a:cs typeface="Cambria" pitchFamily="34" charset="-120"/>
              </a:rPr>
              <a:t>4</a:t>
            </a:r>
            <a:endParaRPr lang="en-US" sz="1400" dirty="0"/>
          </a:p>
        </p:txBody>
      </p:sp>
      <p:sp>
        <p:nvSpPr>
          <p:cNvPr id="21" name="Shape 19"/>
          <p:cNvSpPr/>
          <p:nvPr/>
        </p:nvSpPr>
        <p:spPr>
          <a:xfrm>
            <a:off x="832104" y="5102352"/>
            <a:ext cx="0" cy="548640"/>
          </a:xfrm>
          <a:prstGeom prst="line">
            <a:avLst/>
          </a:prstGeom>
          <a:noFill/>
          <a:ln w="12700">
            <a:solidFill>
              <a:srgbClr val="C9A96E"/>
            </a:solidFill>
            <a:prstDash val="dash"/>
          </a:ln>
        </p:spPr>
        <p:txBody>
          <a:bodyPr/>
          <a:lstStyle/>
          <a:p>
            <a:endParaRPr lang="fr-FR"/>
          </a:p>
        </p:txBody>
      </p:sp>
      <p:sp>
        <p:nvSpPr>
          <p:cNvPr id="22" name="Text 20"/>
          <p:cNvSpPr/>
          <p:nvPr/>
        </p:nvSpPr>
        <p:spPr>
          <a:xfrm>
            <a:off x="1325880" y="4663440"/>
            <a:ext cx="10225735" cy="320040"/>
          </a:xfrm>
          <a:prstGeom prst="rect">
            <a:avLst/>
          </a:prstGeom>
          <a:noFill/>
          <a:ln/>
        </p:spPr>
        <p:txBody>
          <a:bodyPr wrap="square" lIns="0" tIns="0" rIns="0" bIns="0" rtlCol="0" anchor="ctr"/>
          <a:lstStyle/>
          <a:p>
            <a:pPr marL="0" indent="0">
              <a:buNone/>
            </a:pPr>
            <a:r>
              <a:rPr lang="en-US" sz="1350" b="1" dirty="0">
                <a:solidFill>
                  <a:srgbClr val="0A0A0A"/>
                </a:solidFill>
                <a:latin typeface="Cambria" pitchFamily="34" charset="0"/>
                <a:ea typeface="Cambria" pitchFamily="34" charset="-122"/>
                <a:cs typeface="Cambria" pitchFamily="34" charset="-120"/>
              </a:rPr>
              <a:t>6-7. Persistance &amp; email</a:t>
            </a:r>
            <a:endParaRPr lang="en-US" sz="1350" dirty="0"/>
          </a:p>
        </p:txBody>
      </p:sp>
      <p:sp>
        <p:nvSpPr>
          <p:cNvPr id="23" name="Text 21"/>
          <p:cNvSpPr/>
          <p:nvPr/>
        </p:nvSpPr>
        <p:spPr>
          <a:xfrm>
            <a:off x="1325880" y="4974336"/>
            <a:ext cx="10088575" cy="612648"/>
          </a:xfrm>
          <a:prstGeom prst="rect">
            <a:avLst/>
          </a:prstGeom>
          <a:noFill/>
          <a:ln/>
        </p:spPr>
        <p:txBody>
          <a:bodyPr wrap="square" lIns="0" tIns="0" rIns="0" bIns="0" rtlCol="0" anchor="t"/>
          <a:lstStyle/>
          <a:p>
            <a:pPr marL="0" indent="0">
              <a:buNone/>
            </a:pPr>
            <a:r>
              <a:rPr lang="en-US" sz="1050" dirty="0">
                <a:solidFill>
                  <a:srgbClr val="5A5550"/>
                </a:solidFill>
                <a:latin typeface="Calibri" pitchFamily="34" charset="0"/>
                <a:ea typeface="Calibri" pitchFamily="34" charset="-122"/>
                <a:cs typeface="Calibri" pitchFamily="34" charset="-120"/>
              </a:rPr>
              <a:t>Vérification de disponibilité, écriture en base via Doctrine, envoi de l'email de confirmation</a:t>
            </a:r>
            <a:endParaRPr lang="en-US" sz="1050" dirty="0"/>
          </a:p>
        </p:txBody>
      </p:sp>
      <p:sp>
        <p:nvSpPr>
          <p:cNvPr id="24" name="Shape 22"/>
          <p:cNvSpPr/>
          <p:nvPr/>
        </p:nvSpPr>
        <p:spPr>
          <a:xfrm>
            <a:off x="640080" y="5650992"/>
            <a:ext cx="384048" cy="384048"/>
          </a:xfrm>
          <a:prstGeom prst="ellipse">
            <a:avLst/>
          </a:prstGeom>
          <a:solidFill>
            <a:srgbClr val="C9A96E"/>
          </a:solidFill>
          <a:ln/>
        </p:spPr>
        <p:txBody>
          <a:bodyPr/>
          <a:lstStyle/>
          <a:p>
            <a:endParaRPr lang="fr-FR"/>
          </a:p>
        </p:txBody>
      </p:sp>
      <p:sp>
        <p:nvSpPr>
          <p:cNvPr id="25" name="Text 23"/>
          <p:cNvSpPr/>
          <p:nvPr/>
        </p:nvSpPr>
        <p:spPr>
          <a:xfrm>
            <a:off x="640080" y="5650992"/>
            <a:ext cx="384048" cy="384048"/>
          </a:xfrm>
          <a:prstGeom prst="rect">
            <a:avLst/>
          </a:prstGeom>
          <a:noFill/>
          <a:ln/>
        </p:spPr>
        <p:txBody>
          <a:bodyPr wrap="square" lIns="0" tIns="0" rIns="0" bIns="0" rtlCol="0" anchor="ctr"/>
          <a:lstStyle/>
          <a:p>
            <a:pPr marL="0" indent="0" algn="ctr">
              <a:buNone/>
            </a:pPr>
            <a:r>
              <a:rPr lang="en-US" sz="1400" b="1" dirty="0">
                <a:solidFill>
                  <a:srgbClr val="1A1410"/>
                </a:solidFill>
                <a:latin typeface="Cambria" pitchFamily="34" charset="0"/>
                <a:ea typeface="Cambria" pitchFamily="34" charset="-122"/>
                <a:cs typeface="Cambria" pitchFamily="34" charset="-120"/>
              </a:rPr>
              <a:t>5</a:t>
            </a:r>
            <a:endParaRPr lang="en-US" sz="1400" dirty="0"/>
          </a:p>
        </p:txBody>
      </p:sp>
      <p:sp>
        <p:nvSpPr>
          <p:cNvPr id="26" name="Text 24"/>
          <p:cNvSpPr/>
          <p:nvPr/>
        </p:nvSpPr>
        <p:spPr>
          <a:xfrm>
            <a:off x="1325880" y="5596128"/>
            <a:ext cx="10225735" cy="320040"/>
          </a:xfrm>
          <a:prstGeom prst="rect">
            <a:avLst/>
          </a:prstGeom>
          <a:noFill/>
          <a:ln/>
        </p:spPr>
        <p:txBody>
          <a:bodyPr wrap="square" lIns="0" tIns="0" rIns="0" bIns="0" rtlCol="0" anchor="ctr"/>
          <a:lstStyle/>
          <a:p>
            <a:pPr marL="0" indent="0">
              <a:buNone/>
            </a:pPr>
            <a:r>
              <a:rPr lang="en-US" sz="1350" b="1" dirty="0">
                <a:solidFill>
                  <a:srgbClr val="0A0A0A"/>
                </a:solidFill>
                <a:latin typeface="Cambria" pitchFamily="34" charset="0"/>
                <a:ea typeface="Cambria" pitchFamily="34" charset="-122"/>
                <a:cs typeface="Cambria" pitchFamily="34" charset="-120"/>
              </a:rPr>
              <a:t>8. Réponse</a:t>
            </a:r>
            <a:endParaRPr lang="en-US" sz="1350" dirty="0"/>
          </a:p>
        </p:txBody>
      </p:sp>
      <p:sp>
        <p:nvSpPr>
          <p:cNvPr id="27" name="Text 25"/>
          <p:cNvSpPr/>
          <p:nvPr/>
        </p:nvSpPr>
        <p:spPr>
          <a:xfrm>
            <a:off x="1325880" y="5907024"/>
            <a:ext cx="10088575" cy="612648"/>
          </a:xfrm>
          <a:prstGeom prst="rect">
            <a:avLst/>
          </a:prstGeom>
          <a:noFill/>
          <a:ln/>
        </p:spPr>
        <p:txBody>
          <a:bodyPr wrap="square" lIns="0" tIns="0" rIns="0" bIns="0" rtlCol="0" anchor="t"/>
          <a:lstStyle/>
          <a:p>
            <a:pPr marL="0" indent="0">
              <a:buNone/>
            </a:pPr>
            <a:r>
              <a:rPr lang="en-US" sz="1050" dirty="0">
                <a:solidFill>
                  <a:srgbClr val="5A5550"/>
                </a:solidFill>
                <a:latin typeface="Calibri" pitchFamily="34" charset="0"/>
                <a:ea typeface="Calibri" pitchFamily="34" charset="-122"/>
                <a:cs typeface="Calibri" pitchFamily="34" charset="-120"/>
              </a:rPr>
              <a:t>JSON renvoyé au frontend, affichage de l'écran de confirmation</a:t>
            </a:r>
            <a:endParaRPr lang="en-US" sz="1050" dirty="0"/>
          </a:p>
        </p:txBody>
      </p:sp>
      <p:sp>
        <p:nvSpPr>
          <p:cNvPr id="28" name="Text 26"/>
          <p:cNvSpPr/>
          <p:nvPr/>
        </p:nvSpPr>
        <p:spPr>
          <a:xfrm>
            <a:off x="640080" y="6473952"/>
            <a:ext cx="7315200" cy="274320"/>
          </a:xfrm>
          <a:prstGeom prst="rect">
            <a:avLst/>
          </a:prstGeom>
          <a:noFill/>
          <a:ln/>
        </p:spPr>
        <p:txBody>
          <a:bodyPr wrap="square" rtlCol="0" anchor="ctr"/>
          <a:lstStyle/>
          <a:p>
            <a:pPr marL="0" indent="0" algn="l">
              <a:buNone/>
            </a:pPr>
            <a:r>
              <a:rPr lang="en-US" sz="900" dirty="0">
                <a:solidFill>
                  <a:srgbClr val="5A5550"/>
                </a:solidFill>
                <a:latin typeface="Calibri" pitchFamily="34" charset="0"/>
                <a:ea typeface="Calibri" pitchFamily="34" charset="-122"/>
                <a:cs typeface="Calibri" pitchFamily="34" charset="-120"/>
              </a:rPr>
              <a:t>Amoura — Soutenance CDA 2026</a:t>
            </a:r>
            <a:endParaRPr lang="en-US" sz="900" dirty="0"/>
          </a:p>
        </p:txBody>
      </p:sp>
      <p:sp>
        <p:nvSpPr>
          <p:cNvPr id="29" name="Text 27"/>
          <p:cNvSpPr/>
          <p:nvPr/>
        </p:nvSpPr>
        <p:spPr>
          <a:xfrm>
            <a:off x="11002975" y="6473952"/>
            <a:ext cx="548640" cy="274320"/>
          </a:xfrm>
          <a:prstGeom prst="rect">
            <a:avLst/>
          </a:prstGeom>
          <a:noFill/>
          <a:ln/>
        </p:spPr>
        <p:txBody>
          <a:bodyPr wrap="square" rtlCol="0" anchor="ctr"/>
          <a:lstStyle/>
          <a:p>
            <a:pPr marL="0" indent="0" algn="r">
              <a:buNone/>
            </a:pPr>
            <a:r>
              <a:rPr lang="en-US" sz="900" dirty="0">
                <a:solidFill>
                  <a:srgbClr val="5A5550"/>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A1410"/>
        </a:solidFill>
        <a:effectLst/>
      </p:bgPr>
    </p:bg>
    <p:spTree>
      <p:nvGrpSpPr>
        <p:cNvPr id="1" name=""/>
        <p:cNvGrpSpPr/>
        <p:nvPr/>
      </p:nvGrpSpPr>
      <p:grpSpPr>
        <a:xfrm>
          <a:off x="0" y="0"/>
          <a:ext cx="0" cy="0"/>
          <a:chOff x="0" y="0"/>
          <a:chExt cx="0" cy="0"/>
        </a:xfrm>
      </p:grpSpPr>
      <p:sp>
        <p:nvSpPr>
          <p:cNvPr id="2" name="Shape 0"/>
          <p:cNvSpPr/>
          <p:nvPr/>
        </p:nvSpPr>
        <p:spPr>
          <a:xfrm>
            <a:off x="5638648" y="1965960"/>
            <a:ext cx="914400" cy="914400"/>
          </a:xfrm>
          <a:prstGeom prst="ellipse">
            <a:avLst/>
          </a:prstGeom>
          <a:solidFill>
            <a:srgbClr val="C9A96E"/>
          </a:solidFill>
          <a:ln/>
        </p:spPr>
        <p:txBody>
          <a:bodyPr/>
          <a:lstStyle/>
          <a:p>
            <a:endParaRPr lang="fr-FR"/>
          </a:p>
        </p:txBody>
      </p:sp>
      <p:sp>
        <p:nvSpPr>
          <p:cNvPr id="3" name="Text 1"/>
          <p:cNvSpPr/>
          <p:nvPr/>
        </p:nvSpPr>
        <p:spPr>
          <a:xfrm>
            <a:off x="5638648" y="1965960"/>
            <a:ext cx="914400" cy="914400"/>
          </a:xfrm>
          <a:prstGeom prst="rect">
            <a:avLst/>
          </a:prstGeom>
          <a:noFill/>
          <a:ln/>
        </p:spPr>
        <p:txBody>
          <a:bodyPr wrap="square" lIns="0" tIns="0" rIns="0" bIns="0" rtlCol="0" anchor="ctr"/>
          <a:lstStyle/>
          <a:p>
            <a:pPr marL="0" indent="0" algn="ctr">
              <a:buNone/>
            </a:pPr>
            <a:r>
              <a:rPr lang="en-US" sz="3000" b="1" dirty="0">
                <a:solidFill>
                  <a:srgbClr val="1A1410"/>
                </a:solidFill>
                <a:latin typeface="Cambria" pitchFamily="34" charset="0"/>
                <a:ea typeface="Cambria" pitchFamily="34" charset="-122"/>
                <a:cs typeface="Cambria" pitchFamily="34" charset="-120"/>
              </a:rPr>
              <a:t>6</a:t>
            </a:r>
            <a:endParaRPr lang="en-US" sz="3000" dirty="0"/>
          </a:p>
        </p:txBody>
      </p:sp>
      <p:sp>
        <p:nvSpPr>
          <p:cNvPr id="4" name="Text 2"/>
          <p:cNvSpPr/>
          <p:nvPr/>
        </p:nvSpPr>
        <p:spPr>
          <a:xfrm>
            <a:off x="914400" y="3063240"/>
            <a:ext cx="10362895" cy="1005840"/>
          </a:xfrm>
          <a:prstGeom prst="rect">
            <a:avLst/>
          </a:prstGeom>
          <a:noFill/>
          <a:ln/>
        </p:spPr>
        <p:txBody>
          <a:bodyPr wrap="square" rtlCol="0" anchor="ctr"/>
          <a:lstStyle/>
          <a:p>
            <a:pPr marL="0" indent="0" algn="ctr">
              <a:buNone/>
            </a:pPr>
            <a:r>
              <a:rPr lang="en-US" sz="4000" b="1" dirty="0">
                <a:solidFill>
                  <a:srgbClr val="FAF8F5"/>
                </a:solidFill>
                <a:latin typeface="Cambria" pitchFamily="34" charset="0"/>
                <a:ea typeface="Cambria" pitchFamily="34" charset="-122"/>
                <a:cs typeface="Cambria" pitchFamily="34" charset="-120"/>
              </a:rPr>
              <a:t>Sécurité</a:t>
            </a:r>
            <a:endParaRPr lang="en-US" sz="4000" dirty="0"/>
          </a:p>
        </p:txBody>
      </p:sp>
      <p:sp>
        <p:nvSpPr>
          <p:cNvPr id="5" name="Text 3"/>
          <p:cNvSpPr/>
          <p:nvPr/>
        </p:nvSpPr>
        <p:spPr>
          <a:xfrm>
            <a:off x="1371600" y="4069080"/>
            <a:ext cx="9448495" cy="548640"/>
          </a:xfrm>
          <a:prstGeom prst="rect">
            <a:avLst/>
          </a:prstGeom>
          <a:noFill/>
          <a:ln/>
        </p:spPr>
        <p:txBody>
          <a:bodyPr wrap="square" rtlCol="0" anchor="ctr"/>
          <a:lstStyle/>
          <a:p>
            <a:pPr marL="0" indent="0" algn="ctr">
              <a:buNone/>
            </a:pPr>
            <a:r>
              <a:rPr lang="en-US" sz="1500" i="1" dirty="0">
                <a:solidFill>
                  <a:srgbClr val="E8E5E0"/>
                </a:solidFill>
                <a:latin typeface="Calibri" pitchFamily="34" charset="0"/>
                <a:ea typeface="Calibri" pitchFamily="34" charset="-122"/>
                <a:cs typeface="Calibri" pitchFamily="34" charset="-120"/>
              </a:rPr>
              <a:t>Authentification, OWASP, limites assumées</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8F5"/>
        </a:solidFill>
        <a:effectLst/>
      </p:bgPr>
    </p:bg>
    <p:spTree>
      <p:nvGrpSpPr>
        <p:cNvPr id="1" name=""/>
        <p:cNvGrpSpPr/>
        <p:nvPr/>
      </p:nvGrpSpPr>
      <p:grpSpPr>
        <a:xfrm>
          <a:off x="0" y="0"/>
          <a:ext cx="0" cy="0"/>
          <a:chOff x="0" y="0"/>
          <a:chExt cx="0" cy="0"/>
        </a:xfrm>
      </p:grpSpPr>
      <p:sp>
        <p:nvSpPr>
          <p:cNvPr id="2" name="Text 0"/>
          <p:cNvSpPr/>
          <p:nvPr/>
        </p:nvSpPr>
        <p:spPr>
          <a:xfrm>
            <a:off x="640080" y="411480"/>
            <a:ext cx="10911535" cy="320040"/>
          </a:xfrm>
          <a:prstGeom prst="rect">
            <a:avLst/>
          </a:prstGeom>
          <a:noFill/>
          <a:ln/>
        </p:spPr>
        <p:txBody>
          <a:bodyPr wrap="square" rtlCol="0" anchor="ctr"/>
          <a:lstStyle/>
          <a:p>
            <a:pPr marL="0" indent="0">
              <a:buNone/>
            </a:pPr>
            <a:r>
              <a:rPr lang="en-US" sz="1200" b="1" kern="0" spc="250" dirty="0">
                <a:solidFill>
                  <a:srgbClr val="C9A96E"/>
                </a:solidFill>
                <a:latin typeface="Calibri" pitchFamily="34" charset="0"/>
                <a:ea typeface="Calibri" pitchFamily="34" charset="-122"/>
                <a:cs typeface="Calibri" pitchFamily="34" charset="-120"/>
              </a:rPr>
              <a:t>AUTHENTIFICATION</a:t>
            </a:r>
            <a:endParaRPr lang="en-US" sz="1200" dirty="0"/>
          </a:p>
        </p:txBody>
      </p:sp>
      <p:sp>
        <p:nvSpPr>
          <p:cNvPr id="3" name="Text 1"/>
          <p:cNvSpPr/>
          <p:nvPr/>
        </p:nvSpPr>
        <p:spPr>
          <a:xfrm>
            <a:off x="640080" y="713232"/>
            <a:ext cx="10911535" cy="640080"/>
          </a:xfrm>
          <a:prstGeom prst="rect">
            <a:avLst/>
          </a:prstGeom>
          <a:noFill/>
          <a:ln/>
        </p:spPr>
        <p:txBody>
          <a:bodyPr wrap="square" rtlCol="0" anchor="ctr"/>
          <a:lstStyle/>
          <a:p>
            <a:pPr marL="0" indent="0">
              <a:buNone/>
            </a:pPr>
            <a:r>
              <a:rPr lang="en-US" sz="2800" b="1" dirty="0">
                <a:solidFill>
                  <a:srgbClr val="0A0A0A"/>
                </a:solidFill>
                <a:latin typeface="Cambria" pitchFamily="34" charset="0"/>
                <a:ea typeface="Cambria" pitchFamily="34" charset="-122"/>
                <a:cs typeface="Cambria" pitchFamily="34" charset="-120"/>
              </a:rPr>
              <a:t>JWT — une architecture stateless</a:t>
            </a:r>
            <a:endParaRPr lang="en-US" sz="2800" dirty="0"/>
          </a:p>
        </p:txBody>
      </p:sp>
      <p:sp>
        <p:nvSpPr>
          <p:cNvPr id="4" name="Shape 2"/>
          <p:cNvSpPr/>
          <p:nvPr/>
        </p:nvSpPr>
        <p:spPr>
          <a:xfrm>
            <a:off x="640080" y="2272284"/>
            <a:ext cx="5181448" cy="3319272"/>
          </a:xfrm>
          <a:prstGeom prst="roundRect">
            <a:avLst>
              <a:gd name="adj" fmla="val 2204"/>
            </a:avLst>
          </a:prstGeom>
          <a:solidFill>
            <a:srgbClr val="FFFFFF"/>
          </a:solidFill>
          <a:ln/>
          <a:effectLst>
            <a:outerShdw blurRad="63500" dist="25400" dir="5400000" algn="bl" rotWithShape="0">
              <a:srgbClr val="000000">
                <a:alpha val="10000"/>
              </a:srgbClr>
            </a:outerShdw>
          </a:effectLst>
        </p:spPr>
        <p:txBody>
          <a:bodyPr/>
          <a:lstStyle/>
          <a:p>
            <a:endParaRPr lang="fr-FR"/>
          </a:p>
        </p:txBody>
      </p:sp>
      <p:sp>
        <p:nvSpPr>
          <p:cNvPr id="5" name="Text 3"/>
          <p:cNvSpPr/>
          <p:nvPr/>
        </p:nvSpPr>
        <p:spPr>
          <a:xfrm>
            <a:off x="932688" y="2528316"/>
            <a:ext cx="4596232" cy="411480"/>
          </a:xfrm>
          <a:prstGeom prst="rect">
            <a:avLst/>
          </a:prstGeom>
          <a:noFill/>
          <a:ln/>
        </p:spPr>
        <p:txBody>
          <a:bodyPr wrap="square" lIns="0" tIns="0" rIns="0" bIns="0" rtlCol="0" anchor="ctr"/>
          <a:lstStyle/>
          <a:p>
            <a:pPr marL="0" indent="0">
              <a:buNone/>
            </a:pPr>
            <a:r>
              <a:rPr lang="en-US" sz="1600" b="1" dirty="0">
                <a:solidFill>
                  <a:srgbClr val="C9A96E"/>
                </a:solidFill>
                <a:latin typeface="Cambria" pitchFamily="34" charset="0"/>
                <a:ea typeface="Cambria" pitchFamily="34" charset="-122"/>
                <a:cs typeface="Cambria" pitchFamily="34" charset="-120"/>
              </a:rPr>
              <a:t>Pourquoi pas de session ?</a:t>
            </a:r>
            <a:endParaRPr lang="en-US" sz="1600" dirty="0"/>
          </a:p>
        </p:txBody>
      </p:sp>
      <p:sp>
        <p:nvSpPr>
          <p:cNvPr id="6" name="Text 4"/>
          <p:cNvSpPr/>
          <p:nvPr/>
        </p:nvSpPr>
        <p:spPr>
          <a:xfrm>
            <a:off x="932688" y="3049524"/>
            <a:ext cx="4596232" cy="2359152"/>
          </a:xfrm>
          <a:prstGeom prst="rect">
            <a:avLst/>
          </a:prstGeom>
          <a:noFill/>
          <a:ln/>
        </p:spPr>
        <p:txBody>
          <a:bodyPr wrap="square" lIns="0" tIns="0" rIns="0" bIns="0" rtlCol="0" anchor="t"/>
          <a:lstStyle/>
          <a:p>
            <a:pPr marL="203200" indent="-203200">
              <a:spcAft>
                <a:spcPts val="1200"/>
              </a:spcAft>
              <a:buSzPct val="100000"/>
              <a:buChar char="●"/>
            </a:pPr>
            <a:r>
              <a:rPr lang="en-US" sz="1250" dirty="0">
                <a:solidFill>
                  <a:srgbClr val="0A0A0A"/>
                </a:solidFill>
                <a:latin typeface="Calibri" pitchFamily="34" charset="0"/>
                <a:ea typeface="Calibri" pitchFamily="34" charset="-122"/>
                <a:cs typeface="Calibri" pitchFamily="34" charset="-120"/>
              </a:rPr>
              <a:t>Aucun état serveur entre deux requêtes</a:t>
            </a:r>
            <a:endParaRPr lang="en-US" sz="1250" dirty="0"/>
          </a:p>
          <a:p>
            <a:pPr marL="203200" indent="-203200">
              <a:spcAft>
                <a:spcPts val="1200"/>
              </a:spcAft>
              <a:buSzPct val="100000"/>
              <a:buChar char="●"/>
            </a:pPr>
            <a:r>
              <a:rPr lang="en-US" sz="1250" dirty="0">
                <a:solidFill>
                  <a:srgbClr val="0A0A0A"/>
                </a:solidFill>
                <a:latin typeface="Calibri" pitchFamily="34" charset="0"/>
                <a:ea typeface="Calibri" pitchFamily="34" charset="-122"/>
                <a:cs typeface="Calibri" pitchFamily="34" charset="-120"/>
              </a:rPr>
              <a:t>Le jeton JWT porte lui-même l'identité, signe par clé privée RSA</a:t>
            </a:r>
            <a:endParaRPr lang="en-US" sz="1250" dirty="0"/>
          </a:p>
          <a:p>
            <a:pPr marL="203200" indent="-203200">
              <a:spcAft>
                <a:spcPts val="1200"/>
              </a:spcAft>
              <a:buSzPct val="100000"/>
              <a:buChar char="●"/>
            </a:pPr>
            <a:r>
              <a:rPr lang="en-US" sz="1250" dirty="0">
                <a:solidFill>
                  <a:srgbClr val="0A0A0A"/>
                </a:solidFill>
                <a:latin typeface="Calibri" pitchFamily="34" charset="0"/>
                <a:ea typeface="Calibri" pitchFamily="34" charset="-122"/>
                <a:cs typeface="Calibri" pitchFamily="34" charset="-120"/>
              </a:rPr>
              <a:t>Cohérent avec une API consommée par une SPA (et demain, potentiellement une app mobile)</a:t>
            </a:r>
            <a:endParaRPr lang="en-US" sz="1250" dirty="0"/>
          </a:p>
        </p:txBody>
      </p:sp>
      <p:sp>
        <p:nvSpPr>
          <p:cNvPr id="7" name="Shape 5"/>
          <p:cNvSpPr/>
          <p:nvPr/>
        </p:nvSpPr>
        <p:spPr>
          <a:xfrm>
            <a:off x="6370168" y="2272284"/>
            <a:ext cx="5181448" cy="3319272"/>
          </a:xfrm>
          <a:prstGeom prst="roundRect">
            <a:avLst>
              <a:gd name="adj" fmla="val 2204"/>
            </a:avLst>
          </a:prstGeom>
          <a:solidFill>
            <a:srgbClr val="FFFFFF"/>
          </a:solidFill>
          <a:ln/>
          <a:effectLst>
            <a:outerShdw blurRad="63500" dist="25400" dir="5400000" algn="bl" rotWithShape="0">
              <a:srgbClr val="000000">
                <a:alpha val="10000"/>
              </a:srgbClr>
            </a:outerShdw>
          </a:effectLst>
        </p:spPr>
        <p:txBody>
          <a:bodyPr/>
          <a:lstStyle/>
          <a:p>
            <a:endParaRPr lang="fr-FR"/>
          </a:p>
        </p:txBody>
      </p:sp>
      <p:sp>
        <p:nvSpPr>
          <p:cNvPr id="8" name="Text 6"/>
          <p:cNvSpPr/>
          <p:nvPr/>
        </p:nvSpPr>
        <p:spPr>
          <a:xfrm>
            <a:off x="6662776" y="2528316"/>
            <a:ext cx="4596232" cy="411480"/>
          </a:xfrm>
          <a:prstGeom prst="rect">
            <a:avLst/>
          </a:prstGeom>
          <a:noFill/>
          <a:ln/>
        </p:spPr>
        <p:txBody>
          <a:bodyPr wrap="square" lIns="0" tIns="0" rIns="0" bIns="0" rtlCol="0" anchor="ctr"/>
          <a:lstStyle/>
          <a:p>
            <a:pPr marL="0" indent="0">
              <a:buNone/>
            </a:pPr>
            <a:r>
              <a:rPr lang="en-US" sz="1600" b="1" dirty="0">
                <a:solidFill>
                  <a:srgbClr val="C9A96E"/>
                </a:solidFill>
                <a:latin typeface="Cambria" pitchFamily="34" charset="0"/>
                <a:ea typeface="Cambria" pitchFamily="34" charset="-122"/>
                <a:cs typeface="Cambria" pitchFamily="34" charset="-120"/>
              </a:rPr>
              <a:t>Mise en oeuvre</a:t>
            </a:r>
            <a:endParaRPr lang="en-US" sz="1600" dirty="0"/>
          </a:p>
        </p:txBody>
      </p:sp>
      <p:sp>
        <p:nvSpPr>
          <p:cNvPr id="9" name="Text 7"/>
          <p:cNvSpPr/>
          <p:nvPr/>
        </p:nvSpPr>
        <p:spPr>
          <a:xfrm>
            <a:off x="6662776" y="3049524"/>
            <a:ext cx="4596232" cy="2359152"/>
          </a:xfrm>
          <a:prstGeom prst="rect">
            <a:avLst/>
          </a:prstGeom>
          <a:noFill/>
          <a:ln/>
        </p:spPr>
        <p:txBody>
          <a:bodyPr wrap="square" lIns="0" tIns="0" rIns="0" bIns="0" rtlCol="0" anchor="t"/>
          <a:lstStyle/>
          <a:p>
            <a:pPr marL="203200" indent="-203200">
              <a:spcAft>
                <a:spcPts val="1200"/>
              </a:spcAft>
              <a:buSzPct val="100000"/>
              <a:buChar char="●"/>
            </a:pPr>
            <a:r>
              <a:rPr lang="en-US" sz="1250" dirty="0">
                <a:solidFill>
                  <a:srgbClr val="0A0A0A"/>
                </a:solidFill>
                <a:latin typeface="Calibri" pitchFamily="34" charset="0"/>
                <a:ea typeface="Calibri" pitchFamily="34" charset="-122"/>
                <a:cs typeface="Calibri" pitchFamily="34" charset="-120"/>
              </a:rPr>
              <a:t>LexikJWTAuthenticationBundle</a:t>
            </a:r>
            <a:endParaRPr lang="en-US" sz="1250" dirty="0"/>
          </a:p>
          <a:p>
            <a:pPr marL="203200" indent="-203200">
              <a:spcAft>
                <a:spcPts val="1200"/>
              </a:spcAft>
              <a:buSzPct val="100000"/>
              <a:buChar char="●"/>
            </a:pPr>
            <a:r>
              <a:rPr lang="en-US" sz="1250" dirty="0">
                <a:solidFill>
                  <a:srgbClr val="0A0A0A"/>
                </a:solidFill>
                <a:latin typeface="Calibri" pitchFamily="34" charset="0"/>
                <a:ea typeface="Calibri" pitchFamily="34" charset="-122"/>
                <a:cs typeface="Calibri" pitchFamily="34" charset="-120"/>
              </a:rPr>
              <a:t>Mot de passe hache (algorithme auto de Symfony)</a:t>
            </a:r>
            <a:endParaRPr lang="en-US" sz="1250" dirty="0"/>
          </a:p>
          <a:p>
            <a:pPr marL="203200" indent="-203200">
              <a:spcAft>
                <a:spcPts val="1200"/>
              </a:spcAft>
              <a:buSzPct val="100000"/>
              <a:buChar char="●"/>
            </a:pPr>
            <a:r>
              <a:rPr lang="en-US" sz="1250" dirty="0">
                <a:solidFill>
                  <a:srgbClr val="0A0A0A"/>
                </a:solidFill>
                <a:latin typeface="Calibri" pitchFamily="34" charset="0"/>
                <a:ea typeface="Calibri" pitchFamily="34" charset="-122"/>
                <a:cs typeface="Calibri" pitchFamily="34" charset="-120"/>
              </a:rPr>
              <a:t>Politique de complexité imposée à l'inscription</a:t>
            </a:r>
            <a:endParaRPr lang="en-US" sz="1250" dirty="0"/>
          </a:p>
          <a:p>
            <a:pPr marL="203200" indent="-203200">
              <a:spcAft>
                <a:spcPts val="1200"/>
              </a:spcAft>
              <a:buSzPct val="100000"/>
              <a:buChar char="●"/>
            </a:pPr>
            <a:r>
              <a:rPr lang="en-US" sz="1250" dirty="0">
                <a:solidFill>
                  <a:srgbClr val="0A0A0A"/>
                </a:solidFill>
                <a:latin typeface="Calibri" pitchFamily="34" charset="0"/>
                <a:ea typeface="Calibri" pitchFamily="34" charset="-122"/>
                <a:cs typeface="Calibri" pitchFamily="34" charset="-120"/>
              </a:rPr>
              <a:t>access_control centralise par rôle dans security.yaml</a:t>
            </a:r>
            <a:endParaRPr lang="en-US" sz="1250" dirty="0"/>
          </a:p>
        </p:txBody>
      </p:sp>
      <p:sp>
        <p:nvSpPr>
          <p:cNvPr id="10" name="Text 8"/>
          <p:cNvSpPr/>
          <p:nvPr/>
        </p:nvSpPr>
        <p:spPr>
          <a:xfrm>
            <a:off x="640080" y="6473952"/>
            <a:ext cx="7315200" cy="274320"/>
          </a:xfrm>
          <a:prstGeom prst="rect">
            <a:avLst/>
          </a:prstGeom>
          <a:noFill/>
          <a:ln/>
        </p:spPr>
        <p:txBody>
          <a:bodyPr wrap="square" rtlCol="0" anchor="ctr"/>
          <a:lstStyle/>
          <a:p>
            <a:pPr marL="0" indent="0" algn="l">
              <a:buNone/>
            </a:pPr>
            <a:r>
              <a:rPr lang="en-US" sz="900" dirty="0">
                <a:solidFill>
                  <a:srgbClr val="5A5550"/>
                </a:solidFill>
                <a:latin typeface="Calibri" pitchFamily="34" charset="0"/>
                <a:ea typeface="Calibri" pitchFamily="34" charset="-122"/>
                <a:cs typeface="Calibri" pitchFamily="34" charset="-120"/>
              </a:rPr>
              <a:t>Amoura — Soutenance CDA 2026</a:t>
            </a:r>
            <a:endParaRPr lang="en-US" sz="900" dirty="0"/>
          </a:p>
        </p:txBody>
      </p:sp>
      <p:sp>
        <p:nvSpPr>
          <p:cNvPr id="11" name="Text 9"/>
          <p:cNvSpPr/>
          <p:nvPr/>
        </p:nvSpPr>
        <p:spPr>
          <a:xfrm>
            <a:off x="11002975" y="6473952"/>
            <a:ext cx="548640" cy="274320"/>
          </a:xfrm>
          <a:prstGeom prst="rect">
            <a:avLst/>
          </a:prstGeom>
          <a:noFill/>
          <a:ln/>
        </p:spPr>
        <p:txBody>
          <a:bodyPr wrap="square" rtlCol="0" anchor="ctr"/>
          <a:lstStyle/>
          <a:p>
            <a:pPr marL="0" indent="0" algn="r">
              <a:buNone/>
            </a:pPr>
            <a:r>
              <a:rPr lang="en-US" sz="900" dirty="0">
                <a:solidFill>
                  <a:srgbClr val="5A5550"/>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8F5"/>
        </a:solidFill>
        <a:effectLst/>
      </p:bgPr>
    </p:bg>
    <p:spTree>
      <p:nvGrpSpPr>
        <p:cNvPr id="1" name=""/>
        <p:cNvGrpSpPr/>
        <p:nvPr/>
      </p:nvGrpSpPr>
      <p:grpSpPr>
        <a:xfrm>
          <a:off x="0" y="0"/>
          <a:ext cx="0" cy="0"/>
          <a:chOff x="0" y="0"/>
          <a:chExt cx="0" cy="0"/>
        </a:xfrm>
      </p:grpSpPr>
      <p:sp>
        <p:nvSpPr>
          <p:cNvPr id="2" name="Text 0"/>
          <p:cNvSpPr/>
          <p:nvPr/>
        </p:nvSpPr>
        <p:spPr>
          <a:xfrm>
            <a:off x="640080" y="411480"/>
            <a:ext cx="10911535" cy="320040"/>
          </a:xfrm>
          <a:prstGeom prst="rect">
            <a:avLst/>
          </a:prstGeom>
          <a:noFill/>
          <a:ln/>
        </p:spPr>
        <p:txBody>
          <a:bodyPr wrap="square" rtlCol="0" anchor="ctr"/>
          <a:lstStyle/>
          <a:p>
            <a:pPr marL="0" indent="0">
              <a:buNone/>
            </a:pPr>
            <a:r>
              <a:rPr lang="en-US" sz="1200" b="1" kern="0" spc="250" dirty="0">
                <a:solidFill>
                  <a:srgbClr val="C9A96E"/>
                </a:solidFill>
                <a:latin typeface="Calibri" pitchFamily="34" charset="0"/>
                <a:ea typeface="Calibri" pitchFamily="34" charset="-122"/>
                <a:cs typeface="Calibri" pitchFamily="34" charset="-120"/>
              </a:rPr>
              <a:t>TOP 10 OWASP</a:t>
            </a:r>
            <a:endParaRPr lang="en-US" sz="1200" dirty="0"/>
          </a:p>
        </p:txBody>
      </p:sp>
      <p:sp>
        <p:nvSpPr>
          <p:cNvPr id="3" name="Text 1"/>
          <p:cNvSpPr/>
          <p:nvPr/>
        </p:nvSpPr>
        <p:spPr>
          <a:xfrm>
            <a:off x="640080" y="713232"/>
            <a:ext cx="10911535" cy="640080"/>
          </a:xfrm>
          <a:prstGeom prst="rect">
            <a:avLst/>
          </a:prstGeom>
          <a:noFill/>
          <a:ln/>
        </p:spPr>
        <p:txBody>
          <a:bodyPr wrap="square" rtlCol="0" anchor="ctr"/>
          <a:lstStyle/>
          <a:p>
            <a:pPr marL="0" indent="0">
              <a:buNone/>
            </a:pPr>
            <a:r>
              <a:rPr lang="en-US" sz="2800" b="1" dirty="0">
                <a:solidFill>
                  <a:srgbClr val="0A0A0A"/>
                </a:solidFill>
                <a:latin typeface="Cambria" pitchFamily="34" charset="0"/>
                <a:ea typeface="Cambria" pitchFamily="34" charset="-122"/>
                <a:cs typeface="Cambria" pitchFamily="34" charset="-120"/>
              </a:rPr>
              <a:t>Protections en place — et limites assumées</a:t>
            </a:r>
            <a:endParaRPr lang="en-US" sz="2800" dirty="0"/>
          </a:p>
        </p:txBody>
      </p:sp>
      <p:sp>
        <p:nvSpPr>
          <p:cNvPr id="4" name="Shape 2"/>
          <p:cNvSpPr/>
          <p:nvPr/>
        </p:nvSpPr>
        <p:spPr>
          <a:xfrm>
            <a:off x="640080" y="1965960"/>
            <a:ext cx="365760" cy="365760"/>
          </a:xfrm>
          <a:prstGeom prst="ellipse">
            <a:avLst/>
          </a:prstGeom>
          <a:solidFill>
            <a:srgbClr val="3F7A4F"/>
          </a:solidFill>
          <a:ln/>
        </p:spPr>
        <p:txBody>
          <a:bodyPr/>
          <a:lstStyle/>
          <a:p>
            <a:endParaRPr lang="fr-FR"/>
          </a:p>
        </p:txBody>
      </p:sp>
      <p:sp>
        <p:nvSpPr>
          <p:cNvPr id="5" name="Text 3"/>
          <p:cNvSpPr/>
          <p:nvPr/>
        </p:nvSpPr>
        <p:spPr>
          <a:xfrm>
            <a:off x="640080" y="1965960"/>
            <a:ext cx="36576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6" name="Text 4"/>
          <p:cNvSpPr/>
          <p:nvPr/>
        </p:nvSpPr>
        <p:spPr>
          <a:xfrm>
            <a:off x="1170432" y="1792224"/>
            <a:ext cx="6035040" cy="713232"/>
          </a:xfrm>
          <a:prstGeom prst="rect">
            <a:avLst/>
          </a:prstGeom>
          <a:noFill/>
          <a:ln/>
        </p:spPr>
        <p:txBody>
          <a:bodyPr wrap="square" lIns="0" tIns="0" rIns="0" bIns="0" rtlCol="0" anchor="ctr"/>
          <a:lstStyle/>
          <a:p>
            <a:pPr marL="0" indent="0">
              <a:buNone/>
            </a:pPr>
            <a:r>
              <a:rPr lang="en-US" sz="1300" b="1" dirty="0">
                <a:solidFill>
                  <a:srgbClr val="0A0A0A"/>
                </a:solidFill>
                <a:latin typeface="Calibri" pitchFamily="34" charset="0"/>
                <a:ea typeface="Calibri" pitchFamily="34" charset="-122"/>
                <a:cs typeface="Calibri" pitchFamily="34" charset="-120"/>
              </a:rPr>
              <a:t>Injection SQL</a:t>
            </a:r>
            <a:endParaRPr lang="en-US" sz="1300" dirty="0"/>
          </a:p>
        </p:txBody>
      </p:sp>
      <p:sp>
        <p:nvSpPr>
          <p:cNvPr id="7" name="Text 5"/>
          <p:cNvSpPr/>
          <p:nvPr/>
        </p:nvSpPr>
        <p:spPr>
          <a:xfrm>
            <a:off x="7132320" y="1792224"/>
            <a:ext cx="4419295" cy="713232"/>
          </a:xfrm>
          <a:prstGeom prst="rect">
            <a:avLst/>
          </a:prstGeom>
          <a:noFill/>
          <a:ln/>
        </p:spPr>
        <p:txBody>
          <a:bodyPr wrap="square" lIns="0" tIns="0" rIns="0" bIns="0" rtlCol="0" anchor="ctr"/>
          <a:lstStyle/>
          <a:p>
            <a:pPr marL="0" indent="0">
              <a:buNone/>
            </a:pPr>
            <a:r>
              <a:rPr lang="en-US" sz="1100" dirty="0">
                <a:solidFill>
                  <a:srgbClr val="5A5550"/>
                </a:solidFill>
                <a:latin typeface="Calibri" pitchFamily="34" charset="0"/>
                <a:ea typeface="Calibri" pitchFamily="34" charset="-122"/>
                <a:cs typeface="Calibri" pitchFamily="34" charset="-120"/>
              </a:rPr>
              <a:t>Doctrine ORM paramètre systématiquement — aucune requête concatenee</a:t>
            </a:r>
            <a:endParaRPr lang="en-US" sz="1100" dirty="0"/>
          </a:p>
        </p:txBody>
      </p:sp>
      <p:sp>
        <p:nvSpPr>
          <p:cNvPr id="8" name="Shape 6"/>
          <p:cNvSpPr/>
          <p:nvPr/>
        </p:nvSpPr>
        <p:spPr>
          <a:xfrm>
            <a:off x="548640" y="2450592"/>
            <a:ext cx="11094415" cy="713232"/>
          </a:xfrm>
          <a:prstGeom prst="rect">
            <a:avLst/>
          </a:prstGeom>
          <a:solidFill>
            <a:srgbClr val="E8E5E0"/>
          </a:solidFill>
          <a:ln/>
        </p:spPr>
        <p:txBody>
          <a:bodyPr/>
          <a:lstStyle/>
          <a:p>
            <a:endParaRPr lang="fr-FR"/>
          </a:p>
        </p:txBody>
      </p:sp>
      <p:sp>
        <p:nvSpPr>
          <p:cNvPr id="9" name="Shape 7"/>
          <p:cNvSpPr/>
          <p:nvPr/>
        </p:nvSpPr>
        <p:spPr>
          <a:xfrm>
            <a:off x="640080" y="2679192"/>
            <a:ext cx="365760" cy="365760"/>
          </a:xfrm>
          <a:prstGeom prst="ellipse">
            <a:avLst/>
          </a:prstGeom>
          <a:solidFill>
            <a:srgbClr val="3F7A4F"/>
          </a:solidFill>
          <a:ln/>
        </p:spPr>
        <p:txBody>
          <a:bodyPr/>
          <a:lstStyle/>
          <a:p>
            <a:endParaRPr lang="fr-FR"/>
          </a:p>
        </p:txBody>
      </p:sp>
      <p:sp>
        <p:nvSpPr>
          <p:cNvPr id="10" name="Text 8"/>
          <p:cNvSpPr/>
          <p:nvPr/>
        </p:nvSpPr>
        <p:spPr>
          <a:xfrm>
            <a:off x="640080" y="2679192"/>
            <a:ext cx="36576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11" name="Text 9"/>
          <p:cNvSpPr/>
          <p:nvPr/>
        </p:nvSpPr>
        <p:spPr>
          <a:xfrm>
            <a:off x="1170432" y="2505456"/>
            <a:ext cx="6035040" cy="713232"/>
          </a:xfrm>
          <a:prstGeom prst="rect">
            <a:avLst/>
          </a:prstGeom>
          <a:noFill/>
          <a:ln/>
        </p:spPr>
        <p:txBody>
          <a:bodyPr wrap="square" lIns="0" tIns="0" rIns="0" bIns="0" rtlCol="0" anchor="ctr"/>
          <a:lstStyle/>
          <a:p>
            <a:pPr marL="0" indent="0">
              <a:buNone/>
            </a:pPr>
            <a:r>
              <a:rPr lang="en-US" sz="1300" b="1" dirty="0">
                <a:solidFill>
                  <a:srgbClr val="0A0A0A"/>
                </a:solidFill>
                <a:latin typeface="Calibri" pitchFamily="34" charset="0"/>
                <a:ea typeface="Calibri" pitchFamily="34" charset="-122"/>
                <a:cs typeface="Calibri" pitchFamily="34" charset="-120"/>
              </a:rPr>
              <a:t>XSS (Cross-Site Scripting)</a:t>
            </a:r>
            <a:endParaRPr lang="en-US" sz="1300" dirty="0"/>
          </a:p>
        </p:txBody>
      </p:sp>
      <p:sp>
        <p:nvSpPr>
          <p:cNvPr id="12" name="Text 10"/>
          <p:cNvSpPr/>
          <p:nvPr/>
        </p:nvSpPr>
        <p:spPr>
          <a:xfrm>
            <a:off x="7132320" y="2505456"/>
            <a:ext cx="4419295" cy="713232"/>
          </a:xfrm>
          <a:prstGeom prst="rect">
            <a:avLst/>
          </a:prstGeom>
          <a:noFill/>
          <a:ln/>
        </p:spPr>
        <p:txBody>
          <a:bodyPr wrap="square" lIns="0" tIns="0" rIns="0" bIns="0" rtlCol="0" anchor="ctr"/>
          <a:lstStyle/>
          <a:p>
            <a:pPr marL="0" indent="0">
              <a:buNone/>
            </a:pPr>
            <a:r>
              <a:rPr lang="en-US" sz="1100" dirty="0">
                <a:solidFill>
                  <a:srgbClr val="5A5550"/>
                </a:solidFill>
                <a:latin typeface="Calibri" pitchFamily="34" charset="0"/>
                <a:ea typeface="Calibri" pitchFamily="34" charset="-122"/>
                <a:cs typeface="Calibri" pitchFamily="34" charset="-120"/>
              </a:rPr>
              <a:t>Échappement natif de React, API qui ne renvoie que du JSON</a:t>
            </a:r>
            <a:endParaRPr lang="en-US" sz="1100" dirty="0"/>
          </a:p>
        </p:txBody>
      </p:sp>
      <p:sp>
        <p:nvSpPr>
          <p:cNvPr id="13" name="Shape 11"/>
          <p:cNvSpPr/>
          <p:nvPr/>
        </p:nvSpPr>
        <p:spPr>
          <a:xfrm>
            <a:off x="640080" y="3392424"/>
            <a:ext cx="365760" cy="365760"/>
          </a:xfrm>
          <a:prstGeom prst="ellipse">
            <a:avLst/>
          </a:prstGeom>
          <a:solidFill>
            <a:srgbClr val="3F7A4F"/>
          </a:solidFill>
          <a:ln/>
        </p:spPr>
        <p:txBody>
          <a:bodyPr/>
          <a:lstStyle/>
          <a:p>
            <a:endParaRPr lang="fr-FR"/>
          </a:p>
        </p:txBody>
      </p:sp>
      <p:sp>
        <p:nvSpPr>
          <p:cNvPr id="14" name="Text 12"/>
          <p:cNvSpPr/>
          <p:nvPr/>
        </p:nvSpPr>
        <p:spPr>
          <a:xfrm>
            <a:off x="640080" y="3392424"/>
            <a:ext cx="36576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15" name="Text 13"/>
          <p:cNvSpPr/>
          <p:nvPr/>
        </p:nvSpPr>
        <p:spPr>
          <a:xfrm>
            <a:off x="1170432" y="3218688"/>
            <a:ext cx="6035040" cy="713232"/>
          </a:xfrm>
          <a:prstGeom prst="rect">
            <a:avLst/>
          </a:prstGeom>
          <a:noFill/>
          <a:ln/>
        </p:spPr>
        <p:txBody>
          <a:bodyPr wrap="square" lIns="0" tIns="0" rIns="0" bIns="0" rtlCol="0" anchor="ctr"/>
          <a:lstStyle/>
          <a:p>
            <a:pPr marL="0" indent="0">
              <a:buNone/>
            </a:pPr>
            <a:r>
              <a:rPr lang="en-US" sz="1300" b="1" dirty="0">
                <a:solidFill>
                  <a:srgbClr val="0A0A0A"/>
                </a:solidFill>
                <a:latin typeface="Calibri" pitchFamily="34" charset="0"/>
                <a:ea typeface="Calibri" pitchFamily="34" charset="-122"/>
                <a:cs typeface="Calibri" pitchFamily="34" charset="-120"/>
              </a:rPr>
              <a:t>CSRF</a:t>
            </a:r>
            <a:endParaRPr lang="en-US" sz="1300" dirty="0"/>
          </a:p>
        </p:txBody>
      </p:sp>
      <p:sp>
        <p:nvSpPr>
          <p:cNvPr id="16" name="Text 14"/>
          <p:cNvSpPr/>
          <p:nvPr/>
        </p:nvSpPr>
        <p:spPr>
          <a:xfrm>
            <a:off x="7132320" y="3218688"/>
            <a:ext cx="4419295" cy="713232"/>
          </a:xfrm>
          <a:prstGeom prst="rect">
            <a:avLst/>
          </a:prstGeom>
          <a:noFill/>
          <a:ln/>
        </p:spPr>
        <p:txBody>
          <a:bodyPr wrap="square" lIns="0" tIns="0" rIns="0" bIns="0" rtlCol="0" anchor="ctr"/>
          <a:lstStyle/>
          <a:p>
            <a:pPr marL="0" indent="0">
              <a:buNone/>
            </a:pPr>
            <a:r>
              <a:rPr lang="en-US" sz="1100" dirty="0">
                <a:solidFill>
                  <a:srgbClr val="5A5550"/>
                </a:solidFill>
                <a:latin typeface="Calibri" pitchFamily="34" charset="0"/>
                <a:ea typeface="Calibri" pitchFamily="34" charset="-122"/>
                <a:cs typeface="Calibri" pitchFamily="34" charset="-120"/>
              </a:rPr>
              <a:t>Non applicable — architecture stateless sans cookie de session</a:t>
            </a:r>
            <a:endParaRPr lang="en-US" sz="1100" dirty="0"/>
          </a:p>
        </p:txBody>
      </p:sp>
      <p:sp>
        <p:nvSpPr>
          <p:cNvPr id="17" name="Shape 15"/>
          <p:cNvSpPr/>
          <p:nvPr/>
        </p:nvSpPr>
        <p:spPr>
          <a:xfrm>
            <a:off x="548640" y="3877056"/>
            <a:ext cx="11094415" cy="713232"/>
          </a:xfrm>
          <a:prstGeom prst="rect">
            <a:avLst/>
          </a:prstGeom>
          <a:solidFill>
            <a:srgbClr val="E8E5E0"/>
          </a:solidFill>
          <a:ln/>
        </p:spPr>
        <p:txBody>
          <a:bodyPr/>
          <a:lstStyle/>
          <a:p>
            <a:endParaRPr lang="fr-FR"/>
          </a:p>
        </p:txBody>
      </p:sp>
      <p:sp>
        <p:nvSpPr>
          <p:cNvPr id="18" name="Shape 16"/>
          <p:cNvSpPr/>
          <p:nvPr/>
        </p:nvSpPr>
        <p:spPr>
          <a:xfrm>
            <a:off x="640080" y="4105656"/>
            <a:ext cx="365760" cy="365760"/>
          </a:xfrm>
          <a:prstGeom prst="ellipse">
            <a:avLst/>
          </a:prstGeom>
          <a:solidFill>
            <a:srgbClr val="3F7A4F"/>
          </a:solidFill>
          <a:ln/>
        </p:spPr>
        <p:txBody>
          <a:bodyPr/>
          <a:lstStyle/>
          <a:p>
            <a:endParaRPr lang="fr-FR"/>
          </a:p>
        </p:txBody>
      </p:sp>
      <p:sp>
        <p:nvSpPr>
          <p:cNvPr id="19" name="Text 17"/>
          <p:cNvSpPr/>
          <p:nvPr/>
        </p:nvSpPr>
        <p:spPr>
          <a:xfrm>
            <a:off x="640080" y="4105656"/>
            <a:ext cx="36576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20" name="Text 18"/>
          <p:cNvSpPr/>
          <p:nvPr/>
        </p:nvSpPr>
        <p:spPr>
          <a:xfrm>
            <a:off x="1170432" y="3931920"/>
            <a:ext cx="6035040" cy="713232"/>
          </a:xfrm>
          <a:prstGeom prst="rect">
            <a:avLst/>
          </a:prstGeom>
          <a:noFill/>
          <a:ln/>
        </p:spPr>
        <p:txBody>
          <a:bodyPr wrap="square" lIns="0" tIns="0" rIns="0" bIns="0" rtlCol="0" anchor="ctr"/>
          <a:lstStyle/>
          <a:p>
            <a:pPr marL="0" indent="0">
              <a:buNone/>
            </a:pPr>
            <a:r>
              <a:rPr lang="en-US" sz="1300" b="1" dirty="0">
                <a:solidFill>
                  <a:srgbClr val="0A0A0A"/>
                </a:solidFill>
                <a:latin typeface="Calibri" pitchFamily="34" charset="0"/>
                <a:ea typeface="Calibri" pitchFamily="34" charset="-122"/>
                <a:cs typeface="Calibri" pitchFamily="34" charset="-120"/>
              </a:rPr>
              <a:t>RGPD</a:t>
            </a:r>
            <a:endParaRPr lang="en-US" sz="1300" dirty="0"/>
          </a:p>
        </p:txBody>
      </p:sp>
      <p:sp>
        <p:nvSpPr>
          <p:cNvPr id="21" name="Text 19"/>
          <p:cNvSpPr/>
          <p:nvPr/>
        </p:nvSpPr>
        <p:spPr>
          <a:xfrm>
            <a:off x="7132320" y="3931920"/>
            <a:ext cx="4419295" cy="713232"/>
          </a:xfrm>
          <a:prstGeom prst="rect">
            <a:avLst/>
          </a:prstGeom>
          <a:noFill/>
          <a:ln/>
        </p:spPr>
        <p:txBody>
          <a:bodyPr wrap="square" lIns="0" tIns="0" rIns="0" bIns="0" rtlCol="0" anchor="ctr"/>
          <a:lstStyle/>
          <a:p>
            <a:pPr marL="0" indent="0">
              <a:buNone/>
            </a:pPr>
            <a:r>
              <a:rPr lang="en-US" sz="1100" dirty="0">
                <a:solidFill>
                  <a:srgbClr val="5A5550"/>
                </a:solidFill>
                <a:latin typeface="Calibri" pitchFamily="34" charset="0"/>
                <a:ea typeface="Calibri" pitchFamily="34" charset="-122"/>
                <a:cs typeface="Calibri" pitchFamily="34" charset="-120"/>
              </a:rPr>
              <a:t>Suppression en cascade réelle, au niveau base de données</a:t>
            </a:r>
            <a:endParaRPr lang="en-US" sz="1100" dirty="0"/>
          </a:p>
        </p:txBody>
      </p:sp>
      <p:sp>
        <p:nvSpPr>
          <p:cNvPr id="22" name="Shape 20"/>
          <p:cNvSpPr/>
          <p:nvPr/>
        </p:nvSpPr>
        <p:spPr>
          <a:xfrm>
            <a:off x="640080" y="4818888"/>
            <a:ext cx="365760" cy="365760"/>
          </a:xfrm>
          <a:prstGeom prst="ellipse">
            <a:avLst/>
          </a:prstGeom>
          <a:solidFill>
            <a:srgbClr val="B8842F"/>
          </a:solidFill>
          <a:ln/>
        </p:spPr>
        <p:txBody>
          <a:bodyPr/>
          <a:lstStyle/>
          <a:p>
            <a:endParaRPr lang="fr-FR"/>
          </a:p>
        </p:txBody>
      </p:sp>
      <p:sp>
        <p:nvSpPr>
          <p:cNvPr id="23" name="Text 21"/>
          <p:cNvSpPr/>
          <p:nvPr/>
        </p:nvSpPr>
        <p:spPr>
          <a:xfrm>
            <a:off x="640080" y="4818888"/>
            <a:ext cx="36576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24" name="Text 22"/>
          <p:cNvSpPr/>
          <p:nvPr/>
        </p:nvSpPr>
        <p:spPr>
          <a:xfrm>
            <a:off x="1170432" y="4645152"/>
            <a:ext cx="6035040" cy="713232"/>
          </a:xfrm>
          <a:prstGeom prst="rect">
            <a:avLst/>
          </a:prstGeom>
          <a:noFill/>
          <a:ln/>
        </p:spPr>
        <p:txBody>
          <a:bodyPr wrap="square" lIns="0" tIns="0" rIns="0" bIns="0" rtlCol="0" anchor="ctr"/>
          <a:lstStyle/>
          <a:p>
            <a:pPr marL="0" indent="0">
              <a:buNone/>
            </a:pPr>
            <a:r>
              <a:rPr lang="en-US" sz="1300" b="1" dirty="0">
                <a:solidFill>
                  <a:srgbClr val="0A0A0A"/>
                </a:solidFill>
                <a:latin typeface="Calibri" pitchFamily="34" charset="0"/>
                <a:ea typeface="Calibri" pitchFamily="34" charset="-122"/>
                <a:cs typeface="Calibri" pitchFamily="34" charset="-120"/>
              </a:rPr>
              <a:t>Rate limiting</a:t>
            </a:r>
            <a:endParaRPr lang="en-US" sz="1300" dirty="0"/>
          </a:p>
        </p:txBody>
      </p:sp>
      <p:sp>
        <p:nvSpPr>
          <p:cNvPr id="25" name="Text 23"/>
          <p:cNvSpPr/>
          <p:nvPr/>
        </p:nvSpPr>
        <p:spPr>
          <a:xfrm>
            <a:off x="7132320" y="4645152"/>
            <a:ext cx="4419295" cy="713232"/>
          </a:xfrm>
          <a:prstGeom prst="rect">
            <a:avLst/>
          </a:prstGeom>
          <a:noFill/>
          <a:ln/>
        </p:spPr>
        <p:txBody>
          <a:bodyPr wrap="square" lIns="0" tIns="0" rIns="0" bIns="0" rtlCol="0" anchor="ctr"/>
          <a:lstStyle/>
          <a:p>
            <a:pPr marL="0" indent="0">
              <a:buNone/>
            </a:pPr>
            <a:r>
              <a:rPr lang="en-US" sz="1100" dirty="0">
                <a:solidFill>
                  <a:srgbClr val="5A5550"/>
                </a:solidFill>
                <a:latin typeface="Calibri" pitchFamily="34" charset="0"/>
                <a:ea typeface="Calibri" pitchFamily="34" charset="-122"/>
                <a:cs typeface="Calibri" pitchFamily="34" charset="-120"/>
              </a:rPr>
              <a:t>Absent — pas de limitation des tentatives de connexion (axe d'amélioration prioritaire)</a:t>
            </a:r>
            <a:endParaRPr lang="en-US" sz="1100" dirty="0"/>
          </a:p>
        </p:txBody>
      </p:sp>
      <p:sp>
        <p:nvSpPr>
          <p:cNvPr id="26" name="Shape 24"/>
          <p:cNvSpPr/>
          <p:nvPr/>
        </p:nvSpPr>
        <p:spPr>
          <a:xfrm>
            <a:off x="548640" y="5303520"/>
            <a:ext cx="11094415" cy="713232"/>
          </a:xfrm>
          <a:prstGeom prst="rect">
            <a:avLst/>
          </a:prstGeom>
          <a:solidFill>
            <a:srgbClr val="E8E5E0"/>
          </a:solidFill>
          <a:ln/>
        </p:spPr>
        <p:txBody>
          <a:bodyPr/>
          <a:lstStyle/>
          <a:p>
            <a:endParaRPr lang="fr-FR"/>
          </a:p>
        </p:txBody>
      </p:sp>
      <p:sp>
        <p:nvSpPr>
          <p:cNvPr id="27" name="Shape 25"/>
          <p:cNvSpPr/>
          <p:nvPr/>
        </p:nvSpPr>
        <p:spPr>
          <a:xfrm>
            <a:off x="640080" y="5532120"/>
            <a:ext cx="365760" cy="365760"/>
          </a:xfrm>
          <a:prstGeom prst="ellipse">
            <a:avLst/>
          </a:prstGeom>
          <a:solidFill>
            <a:srgbClr val="B8842F"/>
          </a:solidFill>
          <a:ln/>
        </p:spPr>
        <p:txBody>
          <a:bodyPr/>
          <a:lstStyle/>
          <a:p>
            <a:endParaRPr lang="fr-FR"/>
          </a:p>
        </p:txBody>
      </p:sp>
      <p:sp>
        <p:nvSpPr>
          <p:cNvPr id="28" name="Text 26"/>
          <p:cNvSpPr/>
          <p:nvPr/>
        </p:nvSpPr>
        <p:spPr>
          <a:xfrm>
            <a:off x="640080" y="5532120"/>
            <a:ext cx="36576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29" name="Text 27"/>
          <p:cNvSpPr/>
          <p:nvPr/>
        </p:nvSpPr>
        <p:spPr>
          <a:xfrm>
            <a:off x="1170432" y="5358384"/>
            <a:ext cx="6035040" cy="713232"/>
          </a:xfrm>
          <a:prstGeom prst="rect">
            <a:avLst/>
          </a:prstGeom>
          <a:noFill/>
          <a:ln/>
        </p:spPr>
        <p:txBody>
          <a:bodyPr wrap="square" lIns="0" tIns="0" rIns="0" bIns="0" rtlCol="0" anchor="ctr"/>
          <a:lstStyle/>
          <a:p>
            <a:pPr marL="0" indent="0">
              <a:buNone/>
            </a:pPr>
            <a:r>
              <a:rPr lang="en-US" sz="1300" b="1" dirty="0">
                <a:solidFill>
                  <a:srgbClr val="0A0A0A"/>
                </a:solidFill>
                <a:latin typeface="Calibri" pitchFamily="34" charset="0"/>
                <a:ea typeface="Calibri" pitchFamily="34" charset="-122"/>
                <a:cs typeface="Calibri" pitchFamily="34" charset="-120"/>
              </a:rPr>
              <a:t>Validation des endpoints admin</a:t>
            </a:r>
            <a:endParaRPr lang="en-US" sz="1300" dirty="0"/>
          </a:p>
        </p:txBody>
      </p:sp>
      <p:sp>
        <p:nvSpPr>
          <p:cNvPr id="30" name="Text 28"/>
          <p:cNvSpPr/>
          <p:nvPr/>
        </p:nvSpPr>
        <p:spPr>
          <a:xfrm>
            <a:off x="7132320" y="5358384"/>
            <a:ext cx="4419295" cy="713232"/>
          </a:xfrm>
          <a:prstGeom prst="rect">
            <a:avLst/>
          </a:prstGeom>
          <a:noFill/>
          <a:ln/>
        </p:spPr>
        <p:txBody>
          <a:bodyPr wrap="square" lIns="0" tIns="0" rIns="0" bIns="0" rtlCol="0" anchor="ctr"/>
          <a:lstStyle/>
          <a:p>
            <a:pPr marL="0" indent="0">
              <a:buNone/>
            </a:pPr>
            <a:r>
              <a:rPr lang="en-US" sz="1100" dirty="0">
                <a:solidFill>
                  <a:srgbClr val="5A5550"/>
                </a:solidFill>
                <a:latin typeface="Calibri" pitchFamily="34" charset="0"/>
                <a:ea typeface="Calibri" pitchFamily="34" charset="-122"/>
                <a:cs typeface="Calibri" pitchFamily="34" charset="-120"/>
              </a:rPr>
              <a:t>DTO absents sur les CRUD d'administration (accès déjà restreint par rôle)</a:t>
            </a:r>
            <a:endParaRPr lang="en-US" sz="1100" dirty="0"/>
          </a:p>
        </p:txBody>
      </p:sp>
      <p:sp>
        <p:nvSpPr>
          <p:cNvPr id="31" name="Text 29"/>
          <p:cNvSpPr/>
          <p:nvPr/>
        </p:nvSpPr>
        <p:spPr>
          <a:xfrm>
            <a:off x="640080" y="6473952"/>
            <a:ext cx="7315200" cy="274320"/>
          </a:xfrm>
          <a:prstGeom prst="rect">
            <a:avLst/>
          </a:prstGeom>
          <a:noFill/>
          <a:ln/>
        </p:spPr>
        <p:txBody>
          <a:bodyPr wrap="square" rtlCol="0" anchor="ctr"/>
          <a:lstStyle/>
          <a:p>
            <a:pPr marL="0" indent="0" algn="l">
              <a:buNone/>
            </a:pPr>
            <a:r>
              <a:rPr lang="en-US" sz="900" dirty="0">
                <a:solidFill>
                  <a:srgbClr val="5A5550"/>
                </a:solidFill>
                <a:latin typeface="Calibri" pitchFamily="34" charset="0"/>
                <a:ea typeface="Calibri" pitchFamily="34" charset="-122"/>
                <a:cs typeface="Calibri" pitchFamily="34" charset="-120"/>
              </a:rPr>
              <a:t>Amoura — Soutenance CDA 2026</a:t>
            </a:r>
            <a:endParaRPr lang="en-US" sz="900" dirty="0"/>
          </a:p>
        </p:txBody>
      </p:sp>
      <p:sp>
        <p:nvSpPr>
          <p:cNvPr id="32" name="Text 30"/>
          <p:cNvSpPr/>
          <p:nvPr/>
        </p:nvSpPr>
        <p:spPr>
          <a:xfrm>
            <a:off x="11002975" y="6473952"/>
            <a:ext cx="548640" cy="274320"/>
          </a:xfrm>
          <a:prstGeom prst="rect">
            <a:avLst/>
          </a:prstGeom>
          <a:noFill/>
          <a:ln/>
        </p:spPr>
        <p:txBody>
          <a:bodyPr wrap="square" rtlCol="0" anchor="ctr"/>
          <a:lstStyle/>
          <a:p>
            <a:pPr marL="0" indent="0" algn="r">
              <a:buNone/>
            </a:pPr>
            <a:r>
              <a:rPr lang="en-US" sz="900" dirty="0">
                <a:solidFill>
                  <a:srgbClr val="5A5550"/>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A1410"/>
        </a:solidFill>
        <a:effectLst/>
      </p:bgPr>
    </p:bg>
    <p:spTree>
      <p:nvGrpSpPr>
        <p:cNvPr id="1" name=""/>
        <p:cNvGrpSpPr/>
        <p:nvPr/>
      </p:nvGrpSpPr>
      <p:grpSpPr>
        <a:xfrm>
          <a:off x="0" y="0"/>
          <a:ext cx="0" cy="0"/>
          <a:chOff x="0" y="0"/>
          <a:chExt cx="0" cy="0"/>
        </a:xfrm>
      </p:grpSpPr>
      <p:sp>
        <p:nvSpPr>
          <p:cNvPr id="2" name="Shape 0"/>
          <p:cNvSpPr/>
          <p:nvPr/>
        </p:nvSpPr>
        <p:spPr>
          <a:xfrm>
            <a:off x="5638648" y="1965960"/>
            <a:ext cx="914400" cy="914400"/>
          </a:xfrm>
          <a:prstGeom prst="ellipse">
            <a:avLst/>
          </a:prstGeom>
          <a:solidFill>
            <a:srgbClr val="C9A96E"/>
          </a:solidFill>
          <a:ln/>
        </p:spPr>
        <p:txBody>
          <a:bodyPr/>
          <a:lstStyle/>
          <a:p>
            <a:endParaRPr lang="fr-FR"/>
          </a:p>
        </p:txBody>
      </p:sp>
      <p:sp>
        <p:nvSpPr>
          <p:cNvPr id="3" name="Text 1"/>
          <p:cNvSpPr/>
          <p:nvPr/>
        </p:nvSpPr>
        <p:spPr>
          <a:xfrm>
            <a:off x="5638648" y="1965960"/>
            <a:ext cx="914400" cy="914400"/>
          </a:xfrm>
          <a:prstGeom prst="rect">
            <a:avLst/>
          </a:prstGeom>
          <a:noFill/>
          <a:ln/>
        </p:spPr>
        <p:txBody>
          <a:bodyPr wrap="square" lIns="0" tIns="0" rIns="0" bIns="0" rtlCol="0" anchor="ctr"/>
          <a:lstStyle/>
          <a:p>
            <a:pPr marL="0" indent="0" algn="ctr">
              <a:buNone/>
            </a:pPr>
            <a:r>
              <a:rPr lang="en-US" sz="3000" b="1" dirty="0">
                <a:solidFill>
                  <a:srgbClr val="1A1410"/>
                </a:solidFill>
                <a:latin typeface="Cambria" pitchFamily="34" charset="0"/>
                <a:ea typeface="Cambria" pitchFamily="34" charset="-122"/>
                <a:cs typeface="Cambria" pitchFamily="34" charset="-120"/>
              </a:rPr>
              <a:t>7</a:t>
            </a:r>
            <a:endParaRPr lang="en-US" sz="3000" dirty="0"/>
          </a:p>
        </p:txBody>
      </p:sp>
      <p:sp>
        <p:nvSpPr>
          <p:cNvPr id="4" name="Text 2"/>
          <p:cNvSpPr/>
          <p:nvPr/>
        </p:nvSpPr>
        <p:spPr>
          <a:xfrm>
            <a:off x="914400" y="3063240"/>
            <a:ext cx="10362895" cy="1005840"/>
          </a:xfrm>
          <a:prstGeom prst="rect">
            <a:avLst/>
          </a:prstGeom>
          <a:noFill/>
          <a:ln/>
        </p:spPr>
        <p:txBody>
          <a:bodyPr wrap="square" rtlCol="0" anchor="ctr"/>
          <a:lstStyle/>
          <a:p>
            <a:pPr marL="0" indent="0" algn="ctr">
              <a:buNone/>
            </a:pPr>
            <a:r>
              <a:rPr lang="en-US" sz="4000" b="1" dirty="0">
                <a:solidFill>
                  <a:srgbClr val="FAF8F5"/>
                </a:solidFill>
                <a:latin typeface="Cambria" pitchFamily="34" charset="0"/>
                <a:ea typeface="Cambria" pitchFamily="34" charset="-122"/>
                <a:cs typeface="Cambria" pitchFamily="34" charset="-120"/>
              </a:rPr>
              <a:t>Tests &amp; qualité</a:t>
            </a:r>
            <a:endParaRPr lang="en-US" sz="4000" dirty="0"/>
          </a:p>
        </p:txBody>
      </p:sp>
      <p:sp>
        <p:nvSpPr>
          <p:cNvPr id="5" name="Text 3"/>
          <p:cNvSpPr/>
          <p:nvPr/>
        </p:nvSpPr>
        <p:spPr>
          <a:xfrm>
            <a:off x="1371600" y="4069080"/>
            <a:ext cx="9448495" cy="548640"/>
          </a:xfrm>
          <a:prstGeom prst="rect">
            <a:avLst/>
          </a:prstGeom>
          <a:noFill/>
          <a:ln/>
        </p:spPr>
        <p:txBody>
          <a:bodyPr wrap="square" rtlCol="0" anchor="ctr"/>
          <a:lstStyle/>
          <a:p>
            <a:pPr marL="0" indent="0" algn="ctr">
              <a:buNone/>
            </a:pPr>
            <a:r>
              <a:rPr lang="en-US" sz="1500" i="1" dirty="0">
                <a:solidFill>
                  <a:srgbClr val="E8E5E0"/>
                </a:solidFill>
                <a:latin typeface="Calibri" pitchFamily="34" charset="0"/>
                <a:ea typeface="Calibri" pitchFamily="34" charset="-122"/>
                <a:cs typeface="Calibri" pitchFamily="34" charset="-120"/>
              </a:rPr>
              <a:t>Stratégie, résultats, campagne end-to-end</a:t>
            </a:r>
            <a:endParaRPr lang="en-US" sz="15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8F5"/>
        </a:solidFill>
        <a:effectLst/>
      </p:bgPr>
    </p:bg>
    <p:spTree>
      <p:nvGrpSpPr>
        <p:cNvPr id="1" name=""/>
        <p:cNvGrpSpPr/>
        <p:nvPr/>
      </p:nvGrpSpPr>
      <p:grpSpPr>
        <a:xfrm>
          <a:off x="0" y="0"/>
          <a:ext cx="0" cy="0"/>
          <a:chOff x="0" y="0"/>
          <a:chExt cx="0" cy="0"/>
        </a:xfrm>
      </p:grpSpPr>
      <p:sp>
        <p:nvSpPr>
          <p:cNvPr id="2" name="Text 0"/>
          <p:cNvSpPr/>
          <p:nvPr/>
        </p:nvSpPr>
        <p:spPr>
          <a:xfrm>
            <a:off x="640080" y="411480"/>
            <a:ext cx="10911535" cy="320040"/>
          </a:xfrm>
          <a:prstGeom prst="rect">
            <a:avLst/>
          </a:prstGeom>
          <a:noFill/>
          <a:ln/>
        </p:spPr>
        <p:txBody>
          <a:bodyPr wrap="square" rtlCol="0" anchor="ctr"/>
          <a:lstStyle/>
          <a:p>
            <a:pPr marL="0" indent="0">
              <a:buNone/>
            </a:pPr>
            <a:r>
              <a:rPr lang="en-US" sz="1200" b="1" kern="0" spc="250" dirty="0">
                <a:solidFill>
                  <a:srgbClr val="C9A96E"/>
                </a:solidFill>
                <a:latin typeface="Calibri" pitchFamily="34" charset="0"/>
                <a:ea typeface="Calibri" pitchFamily="34" charset="-122"/>
                <a:cs typeface="Calibri" pitchFamily="34" charset="-120"/>
              </a:rPr>
              <a:t>STRATÉGIE</a:t>
            </a:r>
            <a:endParaRPr lang="en-US" sz="1200" dirty="0"/>
          </a:p>
        </p:txBody>
      </p:sp>
      <p:sp>
        <p:nvSpPr>
          <p:cNvPr id="3" name="Text 1"/>
          <p:cNvSpPr/>
          <p:nvPr/>
        </p:nvSpPr>
        <p:spPr>
          <a:xfrm>
            <a:off x="640080" y="713232"/>
            <a:ext cx="10911535" cy="640080"/>
          </a:xfrm>
          <a:prstGeom prst="rect">
            <a:avLst/>
          </a:prstGeom>
          <a:noFill/>
          <a:ln/>
        </p:spPr>
        <p:txBody>
          <a:bodyPr wrap="square" rtlCol="0" anchor="ctr"/>
          <a:lstStyle/>
          <a:p>
            <a:pPr marL="0" indent="0">
              <a:buNone/>
            </a:pPr>
            <a:r>
              <a:rPr lang="en-US" sz="2800" b="1" dirty="0">
                <a:solidFill>
                  <a:srgbClr val="0A0A0A"/>
                </a:solidFill>
                <a:latin typeface="Cambria" pitchFamily="34" charset="0"/>
                <a:ea typeface="Cambria" pitchFamily="34" charset="-122"/>
                <a:cs typeface="Cambria" pitchFamily="34" charset="-120"/>
              </a:rPr>
              <a:t>Trois niveaux de tests</a:t>
            </a:r>
            <a:endParaRPr lang="en-US" sz="2800" dirty="0"/>
          </a:p>
        </p:txBody>
      </p:sp>
      <p:sp>
        <p:nvSpPr>
          <p:cNvPr id="4" name="Shape 2"/>
          <p:cNvSpPr/>
          <p:nvPr/>
        </p:nvSpPr>
        <p:spPr>
          <a:xfrm>
            <a:off x="640080" y="2948940"/>
            <a:ext cx="3423818" cy="1965960"/>
          </a:xfrm>
          <a:prstGeom prst="roundRect">
            <a:avLst>
              <a:gd name="adj" fmla="val 3721"/>
            </a:avLst>
          </a:prstGeom>
          <a:solidFill>
            <a:srgbClr val="FFFFFF"/>
          </a:solidFill>
          <a:ln/>
          <a:effectLst>
            <a:outerShdw blurRad="63500" dist="25400" dir="5400000" algn="bl" rotWithShape="0">
              <a:srgbClr val="000000">
                <a:alpha val="12000"/>
              </a:srgbClr>
            </a:outerShdw>
          </a:effectLst>
        </p:spPr>
        <p:txBody>
          <a:bodyPr/>
          <a:lstStyle/>
          <a:p>
            <a:endParaRPr lang="fr-FR"/>
          </a:p>
        </p:txBody>
      </p:sp>
      <p:sp>
        <p:nvSpPr>
          <p:cNvPr id="5" name="Shape 3"/>
          <p:cNvSpPr/>
          <p:nvPr/>
        </p:nvSpPr>
        <p:spPr>
          <a:xfrm>
            <a:off x="841248" y="3150108"/>
            <a:ext cx="384048" cy="384048"/>
          </a:xfrm>
          <a:prstGeom prst="ellipse">
            <a:avLst/>
          </a:prstGeom>
          <a:solidFill>
            <a:srgbClr val="C9A96E"/>
          </a:solidFill>
          <a:ln/>
        </p:spPr>
        <p:txBody>
          <a:bodyPr/>
          <a:lstStyle/>
          <a:p>
            <a:endParaRPr lang="fr-FR"/>
          </a:p>
        </p:txBody>
      </p:sp>
      <p:sp>
        <p:nvSpPr>
          <p:cNvPr id="6" name="Text 4"/>
          <p:cNvSpPr/>
          <p:nvPr/>
        </p:nvSpPr>
        <p:spPr>
          <a:xfrm>
            <a:off x="841248" y="3150108"/>
            <a:ext cx="384048" cy="384048"/>
          </a:xfrm>
          <a:prstGeom prst="rect">
            <a:avLst/>
          </a:prstGeom>
          <a:noFill/>
          <a:ln/>
        </p:spPr>
        <p:txBody>
          <a:bodyPr wrap="square" lIns="0" tIns="0" rIns="0" bIns="0" rtlCol="0" anchor="ctr"/>
          <a:lstStyle/>
          <a:p>
            <a:pPr marL="0" indent="0" algn="ctr">
              <a:buNone/>
            </a:pPr>
            <a:r>
              <a:rPr lang="en-US" sz="1400" b="1" dirty="0">
                <a:solidFill>
                  <a:srgbClr val="1A1410"/>
                </a:solidFill>
                <a:latin typeface="Cambria" pitchFamily="34" charset="0"/>
                <a:ea typeface="Cambria" pitchFamily="34" charset="-122"/>
                <a:cs typeface="Cambria" pitchFamily="34" charset="-120"/>
              </a:rPr>
              <a:t>1</a:t>
            </a:r>
            <a:endParaRPr lang="en-US" sz="1400" dirty="0"/>
          </a:p>
        </p:txBody>
      </p:sp>
      <p:sp>
        <p:nvSpPr>
          <p:cNvPr id="7" name="Text 5"/>
          <p:cNvSpPr/>
          <p:nvPr/>
        </p:nvSpPr>
        <p:spPr>
          <a:xfrm>
            <a:off x="841248" y="3625596"/>
            <a:ext cx="3021482" cy="411480"/>
          </a:xfrm>
          <a:prstGeom prst="rect">
            <a:avLst/>
          </a:prstGeom>
          <a:noFill/>
          <a:ln/>
        </p:spPr>
        <p:txBody>
          <a:bodyPr wrap="square" lIns="0" tIns="0" rIns="0" bIns="0" rtlCol="0" anchor="ctr"/>
          <a:lstStyle/>
          <a:p>
            <a:pPr marL="0" indent="0">
              <a:buNone/>
            </a:pPr>
            <a:r>
              <a:rPr lang="en-US" sz="1400" b="1" dirty="0">
                <a:solidFill>
                  <a:srgbClr val="0A0A0A"/>
                </a:solidFill>
                <a:latin typeface="Cambria" pitchFamily="34" charset="0"/>
                <a:ea typeface="Cambria" pitchFamily="34" charset="-122"/>
                <a:cs typeface="Cambria" pitchFamily="34" charset="-120"/>
              </a:rPr>
              <a:t>Tests unitaires</a:t>
            </a:r>
            <a:endParaRPr lang="en-US" sz="1400" dirty="0"/>
          </a:p>
        </p:txBody>
      </p:sp>
      <p:sp>
        <p:nvSpPr>
          <p:cNvPr id="8" name="Text 6"/>
          <p:cNvSpPr/>
          <p:nvPr/>
        </p:nvSpPr>
        <p:spPr>
          <a:xfrm>
            <a:off x="841248" y="4000500"/>
            <a:ext cx="3021482" cy="777240"/>
          </a:xfrm>
          <a:prstGeom prst="rect">
            <a:avLst/>
          </a:prstGeom>
          <a:noFill/>
          <a:ln/>
        </p:spPr>
        <p:txBody>
          <a:bodyPr wrap="square" lIns="0" tIns="0" rIns="0" bIns="0" rtlCol="0" anchor="t"/>
          <a:lstStyle/>
          <a:p>
            <a:pPr marL="0" indent="0">
              <a:buNone/>
            </a:pPr>
            <a:r>
              <a:rPr lang="en-US" sz="1050" dirty="0">
                <a:solidFill>
                  <a:srgbClr val="5A5550"/>
                </a:solidFill>
                <a:latin typeface="Calibri" pitchFamily="34" charset="0"/>
                <a:ea typeface="Calibri" pitchFamily="34" charset="-122"/>
                <a:cs typeface="Calibri" pitchFamily="34" charset="-120"/>
              </a:rPr>
              <a:t>3 tests, mocks Doctrine, ciblent le calcul des points de fidélité (FideliteService)</a:t>
            </a:r>
            <a:endParaRPr lang="en-US" sz="1050" dirty="0"/>
          </a:p>
        </p:txBody>
      </p:sp>
      <p:sp>
        <p:nvSpPr>
          <p:cNvPr id="9" name="Shape 7"/>
          <p:cNvSpPr/>
          <p:nvPr/>
        </p:nvSpPr>
        <p:spPr>
          <a:xfrm>
            <a:off x="4383938" y="2948940"/>
            <a:ext cx="3423818" cy="1965960"/>
          </a:xfrm>
          <a:prstGeom prst="roundRect">
            <a:avLst>
              <a:gd name="adj" fmla="val 3721"/>
            </a:avLst>
          </a:prstGeom>
          <a:solidFill>
            <a:srgbClr val="FFFFFF"/>
          </a:solidFill>
          <a:ln/>
          <a:effectLst>
            <a:outerShdw blurRad="63500" dist="25400" dir="5400000" algn="bl" rotWithShape="0">
              <a:srgbClr val="000000">
                <a:alpha val="12000"/>
              </a:srgbClr>
            </a:outerShdw>
          </a:effectLst>
        </p:spPr>
        <p:txBody>
          <a:bodyPr/>
          <a:lstStyle/>
          <a:p>
            <a:endParaRPr lang="fr-FR"/>
          </a:p>
        </p:txBody>
      </p:sp>
      <p:sp>
        <p:nvSpPr>
          <p:cNvPr id="10" name="Shape 8"/>
          <p:cNvSpPr/>
          <p:nvPr/>
        </p:nvSpPr>
        <p:spPr>
          <a:xfrm>
            <a:off x="4585106" y="3150108"/>
            <a:ext cx="384048" cy="384048"/>
          </a:xfrm>
          <a:prstGeom prst="ellipse">
            <a:avLst/>
          </a:prstGeom>
          <a:solidFill>
            <a:srgbClr val="C9A96E"/>
          </a:solidFill>
          <a:ln/>
        </p:spPr>
        <p:txBody>
          <a:bodyPr/>
          <a:lstStyle/>
          <a:p>
            <a:endParaRPr lang="fr-FR"/>
          </a:p>
        </p:txBody>
      </p:sp>
      <p:sp>
        <p:nvSpPr>
          <p:cNvPr id="11" name="Text 9"/>
          <p:cNvSpPr/>
          <p:nvPr/>
        </p:nvSpPr>
        <p:spPr>
          <a:xfrm>
            <a:off x="4585106" y="3150108"/>
            <a:ext cx="384048" cy="384048"/>
          </a:xfrm>
          <a:prstGeom prst="rect">
            <a:avLst/>
          </a:prstGeom>
          <a:noFill/>
          <a:ln/>
        </p:spPr>
        <p:txBody>
          <a:bodyPr wrap="square" lIns="0" tIns="0" rIns="0" bIns="0" rtlCol="0" anchor="ctr"/>
          <a:lstStyle/>
          <a:p>
            <a:pPr marL="0" indent="0" algn="ctr">
              <a:buNone/>
            </a:pPr>
            <a:r>
              <a:rPr lang="en-US" sz="1400" b="1" dirty="0">
                <a:solidFill>
                  <a:srgbClr val="1A1410"/>
                </a:solidFill>
                <a:latin typeface="Cambria" pitchFamily="34" charset="0"/>
                <a:ea typeface="Cambria" pitchFamily="34" charset="-122"/>
                <a:cs typeface="Cambria" pitchFamily="34" charset="-120"/>
              </a:rPr>
              <a:t>2</a:t>
            </a:r>
            <a:endParaRPr lang="en-US" sz="1400" dirty="0"/>
          </a:p>
        </p:txBody>
      </p:sp>
      <p:sp>
        <p:nvSpPr>
          <p:cNvPr id="12" name="Text 10"/>
          <p:cNvSpPr/>
          <p:nvPr/>
        </p:nvSpPr>
        <p:spPr>
          <a:xfrm>
            <a:off x="4585106" y="3625596"/>
            <a:ext cx="3021482" cy="411480"/>
          </a:xfrm>
          <a:prstGeom prst="rect">
            <a:avLst/>
          </a:prstGeom>
          <a:noFill/>
          <a:ln/>
        </p:spPr>
        <p:txBody>
          <a:bodyPr wrap="square" lIns="0" tIns="0" rIns="0" bIns="0" rtlCol="0" anchor="ctr"/>
          <a:lstStyle/>
          <a:p>
            <a:pPr marL="0" indent="0">
              <a:buNone/>
            </a:pPr>
            <a:r>
              <a:rPr lang="en-US" sz="1400" b="1" dirty="0">
                <a:solidFill>
                  <a:srgbClr val="0A0A0A"/>
                </a:solidFill>
                <a:latin typeface="Cambria" pitchFamily="34" charset="0"/>
                <a:ea typeface="Cambria" pitchFamily="34" charset="-122"/>
                <a:cs typeface="Cambria" pitchFamily="34" charset="-120"/>
              </a:rPr>
              <a:t>Tests fonctionnels</a:t>
            </a:r>
            <a:endParaRPr lang="en-US" sz="1400" dirty="0"/>
          </a:p>
        </p:txBody>
      </p:sp>
      <p:sp>
        <p:nvSpPr>
          <p:cNvPr id="13" name="Text 11"/>
          <p:cNvSpPr/>
          <p:nvPr/>
        </p:nvSpPr>
        <p:spPr>
          <a:xfrm>
            <a:off x="4585106" y="4000500"/>
            <a:ext cx="3021482" cy="777240"/>
          </a:xfrm>
          <a:prstGeom prst="rect">
            <a:avLst/>
          </a:prstGeom>
          <a:noFill/>
          <a:ln/>
        </p:spPr>
        <p:txBody>
          <a:bodyPr wrap="square" lIns="0" tIns="0" rIns="0" bIns="0" rtlCol="0" anchor="t"/>
          <a:lstStyle/>
          <a:p>
            <a:pPr marL="0" indent="0">
              <a:buNone/>
            </a:pPr>
            <a:r>
              <a:rPr lang="en-US" sz="1050" dirty="0">
                <a:solidFill>
                  <a:srgbClr val="5A5550"/>
                </a:solidFill>
                <a:latin typeface="Calibri" pitchFamily="34" charset="0"/>
                <a:ea typeface="Calibri" pitchFamily="34" charset="-122"/>
                <a:cs typeface="Calibri" pitchFamily="34" charset="-120"/>
              </a:rPr>
              <a:t>6 tests WebTestCase, vrai kernel Symfony + vraie base de test, endpoints Auth et Réservation</a:t>
            </a:r>
            <a:endParaRPr lang="en-US" sz="1050" dirty="0"/>
          </a:p>
        </p:txBody>
      </p:sp>
      <p:sp>
        <p:nvSpPr>
          <p:cNvPr id="14" name="Shape 12"/>
          <p:cNvSpPr/>
          <p:nvPr/>
        </p:nvSpPr>
        <p:spPr>
          <a:xfrm>
            <a:off x="8127797" y="2948940"/>
            <a:ext cx="3423818" cy="1965960"/>
          </a:xfrm>
          <a:prstGeom prst="roundRect">
            <a:avLst>
              <a:gd name="adj" fmla="val 3721"/>
            </a:avLst>
          </a:prstGeom>
          <a:solidFill>
            <a:srgbClr val="FFFFFF"/>
          </a:solidFill>
          <a:ln/>
          <a:effectLst>
            <a:outerShdw blurRad="63500" dist="25400" dir="5400000" algn="bl" rotWithShape="0">
              <a:srgbClr val="000000">
                <a:alpha val="12000"/>
              </a:srgbClr>
            </a:outerShdw>
          </a:effectLst>
        </p:spPr>
        <p:txBody>
          <a:bodyPr/>
          <a:lstStyle/>
          <a:p>
            <a:endParaRPr lang="fr-FR"/>
          </a:p>
        </p:txBody>
      </p:sp>
      <p:sp>
        <p:nvSpPr>
          <p:cNvPr id="15" name="Shape 13"/>
          <p:cNvSpPr/>
          <p:nvPr/>
        </p:nvSpPr>
        <p:spPr>
          <a:xfrm>
            <a:off x="8328965" y="3150108"/>
            <a:ext cx="384048" cy="384048"/>
          </a:xfrm>
          <a:prstGeom prst="ellipse">
            <a:avLst/>
          </a:prstGeom>
          <a:solidFill>
            <a:srgbClr val="C9A96E"/>
          </a:solidFill>
          <a:ln/>
        </p:spPr>
        <p:txBody>
          <a:bodyPr/>
          <a:lstStyle/>
          <a:p>
            <a:endParaRPr lang="fr-FR"/>
          </a:p>
        </p:txBody>
      </p:sp>
      <p:sp>
        <p:nvSpPr>
          <p:cNvPr id="16" name="Text 14"/>
          <p:cNvSpPr/>
          <p:nvPr/>
        </p:nvSpPr>
        <p:spPr>
          <a:xfrm>
            <a:off x="8328965" y="3150108"/>
            <a:ext cx="384048" cy="384048"/>
          </a:xfrm>
          <a:prstGeom prst="rect">
            <a:avLst/>
          </a:prstGeom>
          <a:noFill/>
          <a:ln/>
        </p:spPr>
        <p:txBody>
          <a:bodyPr wrap="square" lIns="0" tIns="0" rIns="0" bIns="0" rtlCol="0" anchor="ctr"/>
          <a:lstStyle/>
          <a:p>
            <a:pPr marL="0" indent="0" algn="ctr">
              <a:buNone/>
            </a:pPr>
            <a:r>
              <a:rPr lang="en-US" sz="1400" b="1" dirty="0">
                <a:solidFill>
                  <a:srgbClr val="1A1410"/>
                </a:solidFill>
                <a:latin typeface="Cambria" pitchFamily="34" charset="0"/>
                <a:ea typeface="Cambria" pitchFamily="34" charset="-122"/>
                <a:cs typeface="Cambria" pitchFamily="34" charset="-120"/>
              </a:rPr>
              <a:t>3</a:t>
            </a:r>
            <a:endParaRPr lang="en-US" sz="1400" dirty="0"/>
          </a:p>
        </p:txBody>
      </p:sp>
      <p:sp>
        <p:nvSpPr>
          <p:cNvPr id="17" name="Text 15"/>
          <p:cNvSpPr/>
          <p:nvPr/>
        </p:nvSpPr>
        <p:spPr>
          <a:xfrm>
            <a:off x="8328965" y="3625596"/>
            <a:ext cx="3021482" cy="411480"/>
          </a:xfrm>
          <a:prstGeom prst="rect">
            <a:avLst/>
          </a:prstGeom>
          <a:noFill/>
          <a:ln/>
        </p:spPr>
        <p:txBody>
          <a:bodyPr wrap="square" lIns="0" tIns="0" rIns="0" bIns="0" rtlCol="0" anchor="ctr"/>
          <a:lstStyle/>
          <a:p>
            <a:pPr marL="0" indent="0">
              <a:buNone/>
            </a:pPr>
            <a:r>
              <a:rPr lang="en-US" sz="1400" b="1" dirty="0">
                <a:solidFill>
                  <a:srgbClr val="0A0A0A"/>
                </a:solidFill>
                <a:latin typeface="Cambria" pitchFamily="34" charset="0"/>
                <a:ea typeface="Cambria" pitchFamily="34" charset="-122"/>
                <a:cs typeface="Cambria" pitchFamily="34" charset="-120"/>
              </a:rPr>
              <a:t>Analyse &amp; lint</a:t>
            </a:r>
            <a:endParaRPr lang="en-US" sz="1400" dirty="0"/>
          </a:p>
        </p:txBody>
      </p:sp>
      <p:sp>
        <p:nvSpPr>
          <p:cNvPr id="18" name="Text 16"/>
          <p:cNvSpPr/>
          <p:nvPr/>
        </p:nvSpPr>
        <p:spPr>
          <a:xfrm>
            <a:off x="8328965" y="4000500"/>
            <a:ext cx="3021482" cy="777240"/>
          </a:xfrm>
          <a:prstGeom prst="rect">
            <a:avLst/>
          </a:prstGeom>
          <a:noFill/>
          <a:ln/>
        </p:spPr>
        <p:txBody>
          <a:bodyPr wrap="square" lIns="0" tIns="0" rIns="0" bIns="0" rtlCol="0" anchor="t"/>
          <a:lstStyle/>
          <a:p>
            <a:pPr marL="0" indent="0">
              <a:buNone/>
            </a:pPr>
            <a:r>
              <a:rPr lang="en-US" sz="1050" dirty="0">
                <a:solidFill>
                  <a:srgbClr val="5A5550"/>
                </a:solidFill>
                <a:latin typeface="Calibri" pitchFamily="34" charset="0"/>
                <a:ea typeface="Calibri" pitchFamily="34" charset="-122"/>
                <a:cs typeface="Calibri" pitchFamily="34" charset="-120"/>
              </a:rPr>
              <a:t>PHPStan niveau 5, PHP CS Fixer (PSR-12), oxlint côté frontend — tous intégrés en CI</a:t>
            </a:r>
            <a:endParaRPr lang="en-US" sz="1050" dirty="0"/>
          </a:p>
        </p:txBody>
      </p:sp>
      <p:sp>
        <p:nvSpPr>
          <p:cNvPr id="19" name="Text 17"/>
          <p:cNvSpPr/>
          <p:nvPr/>
        </p:nvSpPr>
        <p:spPr>
          <a:xfrm>
            <a:off x="640080" y="6473952"/>
            <a:ext cx="7315200" cy="274320"/>
          </a:xfrm>
          <a:prstGeom prst="rect">
            <a:avLst/>
          </a:prstGeom>
          <a:noFill/>
          <a:ln/>
        </p:spPr>
        <p:txBody>
          <a:bodyPr wrap="square" rtlCol="0" anchor="ctr"/>
          <a:lstStyle/>
          <a:p>
            <a:pPr marL="0" indent="0" algn="l">
              <a:buNone/>
            </a:pPr>
            <a:r>
              <a:rPr lang="en-US" sz="900" dirty="0">
                <a:solidFill>
                  <a:srgbClr val="5A5550"/>
                </a:solidFill>
                <a:latin typeface="Calibri" pitchFamily="34" charset="0"/>
                <a:ea typeface="Calibri" pitchFamily="34" charset="-122"/>
                <a:cs typeface="Calibri" pitchFamily="34" charset="-120"/>
              </a:rPr>
              <a:t>Amoura — Soutenance CDA 2026</a:t>
            </a:r>
            <a:endParaRPr lang="en-US" sz="900" dirty="0"/>
          </a:p>
        </p:txBody>
      </p:sp>
      <p:sp>
        <p:nvSpPr>
          <p:cNvPr id="20" name="Text 18"/>
          <p:cNvSpPr/>
          <p:nvPr/>
        </p:nvSpPr>
        <p:spPr>
          <a:xfrm>
            <a:off x="11002975" y="6473952"/>
            <a:ext cx="548640" cy="274320"/>
          </a:xfrm>
          <a:prstGeom prst="rect">
            <a:avLst/>
          </a:prstGeom>
          <a:noFill/>
          <a:ln/>
        </p:spPr>
        <p:txBody>
          <a:bodyPr wrap="square" rtlCol="0" anchor="ctr"/>
          <a:lstStyle/>
          <a:p>
            <a:pPr marL="0" indent="0" algn="r">
              <a:buNone/>
            </a:pPr>
            <a:r>
              <a:rPr lang="en-US" sz="900" dirty="0">
                <a:solidFill>
                  <a:srgbClr val="5A5550"/>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AF8F5"/>
        </a:solidFill>
        <a:effectLst/>
      </p:bgPr>
    </p:bg>
    <p:spTree>
      <p:nvGrpSpPr>
        <p:cNvPr id="1" name=""/>
        <p:cNvGrpSpPr/>
        <p:nvPr/>
      </p:nvGrpSpPr>
      <p:grpSpPr>
        <a:xfrm>
          <a:off x="0" y="0"/>
          <a:ext cx="0" cy="0"/>
          <a:chOff x="0" y="0"/>
          <a:chExt cx="0" cy="0"/>
        </a:xfrm>
      </p:grpSpPr>
      <p:sp>
        <p:nvSpPr>
          <p:cNvPr id="2" name="Text 0"/>
          <p:cNvSpPr/>
          <p:nvPr/>
        </p:nvSpPr>
        <p:spPr>
          <a:xfrm>
            <a:off x="640080" y="411480"/>
            <a:ext cx="10911535" cy="320040"/>
          </a:xfrm>
          <a:prstGeom prst="rect">
            <a:avLst/>
          </a:prstGeom>
          <a:noFill/>
          <a:ln/>
        </p:spPr>
        <p:txBody>
          <a:bodyPr wrap="square" rtlCol="0" anchor="ctr"/>
          <a:lstStyle/>
          <a:p>
            <a:pPr marL="0" indent="0">
              <a:buNone/>
            </a:pPr>
            <a:r>
              <a:rPr lang="en-US" sz="1200" b="1" kern="0" spc="250" dirty="0">
                <a:solidFill>
                  <a:srgbClr val="C9A96E"/>
                </a:solidFill>
                <a:latin typeface="Calibri" pitchFamily="34" charset="0"/>
                <a:ea typeface="Calibri" pitchFamily="34" charset="-122"/>
                <a:cs typeface="Calibri" pitchFamily="34" charset="-120"/>
              </a:rPr>
              <a:t>Au-</a:t>
            </a:r>
            <a:r>
              <a:rPr lang="en-US" sz="1200" b="1" kern="0" spc="250" dirty="0" err="1">
                <a:solidFill>
                  <a:srgbClr val="C9A96E"/>
                </a:solidFill>
                <a:latin typeface="Calibri" pitchFamily="34" charset="0"/>
                <a:ea typeface="Calibri" pitchFamily="34" charset="-122"/>
                <a:cs typeface="Calibri" pitchFamily="34" charset="-120"/>
              </a:rPr>
              <a:t>delà</a:t>
            </a:r>
            <a:r>
              <a:rPr lang="en-US" sz="1200" b="1" kern="0" spc="250" dirty="0">
                <a:solidFill>
                  <a:srgbClr val="C9A96E"/>
                </a:solidFill>
                <a:latin typeface="Calibri" pitchFamily="34" charset="0"/>
                <a:ea typeface="Calibri" pitchFamily="34" charset="-122"/>
                <a:cs typeface="Calibri" pitchFamily="34" charset="-120"/>
              </a:rPr>
              <a:t> DES TESTS AUTOMATISES</a:t>
            </a:r>
            <a:endParaRPr lang="en-US" sz="1200" dirty="0"/>
          </a:p>
        </p:txBody>
      </p:sp>
      <p:sp>
        <p:nvSpPr>
          <p:cNvPr id="3" name="Text 1"/>
          <p:cNvSpPr/>
          <p:nvPr/>
        </p:nvSpPr>
        <p:spPr>
          <a:xfrm>
            <a:off x="640080" y="713232"/>
            <a:ext cx="10911535" cy="640080"/>
          </a:xfrm>
          <a:prstGeom prst="rect">
            <a:avLst/>
          </a:prstGeom>
          <a:noFill/>
          <a:ln/>
        </p:spPr>
        <p:txBody>
          <a:bodyPr wrap="square" rtlCol="0" anchor="ctr"/>
          <a:lstStyle/>
          <a:p>
            <a:pPr marL="0" indent="0">
              <a:buNone/>
            </a:pPr>
            <a:r>
              <a:rPr lang="en-US" sz="2800" b="1" dirty="0">
                <a:solidFill>
                  <a:srgbClr val="0A0A0A"/>
                </a:solidFill>
                <a:latin typeface="Cambria" pitchFamily="34" charset="0"/>
                <a:ea typeface="Cambria" pitchFamily="34" charset="-122"/>
                <a:cs typeface="Cambria" pitchFamily="34" charset="-120"/>
              </a:rPr>
              <a:t>5 anomalies révélées par la stack Docker complète</a:t>
            </a:r>
            <a:endParaRPr lang="en-US" sz="2800" dirty="0"/>
          </a:p>
        </p:txBody>
      </p:sp>
      <p:sp>
        <p:nvSpPr>
          <p:cNvPr id="4" name="Shape 2"/>
          <p:cNvSpPr/>
          <p:nvPr/>
        </p:nvSpPr>
        <p:spPr>
          <a:xfrm>
            <a:off x="640080" y="2322576"/>
            <a:ext cx="365760" cy="365760"/>
          </a:xfrm>
          <a:prstGeom prst="ellipse">
            <a:avLst/>
          </a:prstGeom>
          <a:solidFill>
            <a:srgbClr val="B13C3C"/>
          </a:solidFill>
          <a:ln/>
        </p:spPr>
        <p:txBody>
          <a:bodyPr/>
          <a:lstStyle/>
          <a:p>
            <a:endParaRPr lang="fr-FR"/>
          </a:p>
        </p:txBody>
      </p:sp>
      <p:sp>
        <p:nvSpPr>
          <p:cNvPr id="5" name="Text 3"/>
          <p:cNvSpPr/>
          <p:nvPr/>
        </p:nvSpPr>
        <p:spPr>
          <a:xfrm>
            <a:off x="640080" y="2322576"/>
            <a:ext cx="36576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6" name="Text 4"/>
          <p:cNvSpPr/>
          <p:nvPr/>
        </p:nvSpPr>
        <p:spPr>
          <a:xfrm>
            <a:off x="1170432" y="2148840"/>
            <a:ext cx="6035040" cy="713232"/>
          </a:xfrm>
          <a:prstGeom prst="rect">
            <a:avLst/>
          </a:prstGeom>
          <a:noFill/>
          <a:ln/>
        </p:spPr>
        <p:txBody>
          <a:bodyPr wrap="square" lIns="0" tIns="0" rIns="0" bIns="0" rtlCol="0" anchor="ctr"/>
          <a:lstStyle/>
          <a:p>
            <a:pPr marL="0" indent="0">
              <a:buNone/>
            </a:pPr>
            <a:r>
              <a:rPr lang="en-US" sz="1300" b="1" dirty="0">
                <a:solidFill>
                  <a:srgbClr val="0A0A0A"/>
                </a:solidFill>
                <a:latin typeface="Calibri" pitchFamily="34" charset="0"/>
                <a:ea typeface="Calibri" pitchFamily="34" charset="-122"/>
                <a:cs typeface="Calibri" pitchFamily="34" charset="-120"/>
              </a:rPr>
              <a:t>1. En-tête Authorization non transmis</a:t>
            </a:r>
            <a:endParaRPr lang="en-US" sz="1300" dirty="0"/>
          </a:p>
        </p:txBody>
      </p:sp>
      <p:sp>
        <p:nvSpPr>
          <p:cNvPr id="7" name="Text 5"/>
          <p:cNvSpPr/>
          <p:nvPr/>
        </p:nvSpPr>
        <p:spPr>
          <a:xfrm>
            <a:off x="7132320" y="2148840"/>
            <a:ext cx="4419295" cy="713232"/>
          </a:xfrm>
          <a:prstGeom prst="rect">
            <a:avLst/>
          </a:prstGeom>
          <a:noFill/>
          <a:ln/>
        </p:spPr>
        <p:txBody>
          <a:bodyPr wrap="square" lIns="0" tIns="0" rIns="0" bIns="0" rtlCol="0" anchor="ctr"/>
          <a:lstStyle/>
          <a:p>
            <a:pPr marL="0" indent="0">
              <a:buNone/>
            </a:pPr>
            <a:r>
              <a:rPr lang="en-US" sz="1100" dirty="0">
                <a:solidFill>
                  <a:srgbClr val="5A5550"/>
                </a:solidFill>
                <a:latin typeface="Calibri" pitchFamily="34" charset="0"/>
                <a:ea typeface="Calibri" pitchFamily="34" charset="-122"/>
                <a:cs typeface="Calibri" pitchFamily="34" charset="-120"/>
              </a:rPr>
              <a:t>Apache/mod_php ne le transmet pas par défaut -&gt; règle RewriteRule ajoutée</a:t>
            </a:r>
            <a:endParaRPr lang="en-US" sz="1100" dirty="0"/>
          </a:p>
        </p:txBody>
      </p:sp>
      <p:sp>
        <p:nvSpPr>
          <p:cNvPr id="8" name="Shape 6"/>
          <p:cNvSpPr/>
          <p:nvPr/>
        </p:nvSpPr>
        <p:spPr>
          <a:xfrm>
            <a:off x="548640" y="2807208"/>
            <a:ext cx="11094415" cy="713232"/>
          </a:xfrm>
          <a:prstGeom prst="rect">
            <a:avLst/>
          </a:prstGeom>
          <a:solidFill>
            <a:srgbClr val="E8E5E0"/>
          </a:solidFill>
          <a:ln/>
        </p:spPr>
        <p:txBody>
          <a:bodyPr/>
          <a:lstStyle/>
          <a:p>
            <a:endParaRPr lang="fr-FR"/>
          </a:p>
        </p:txBody>
      </p:sp>
      <p:sp>
        <p:nvSpPr>
          <p:cNvPr id="9" name="Shape 7"/>
          <p:cNvSpPr/>
          <p:nvPr/>
        </p:nvSpPr>
        <p:spPr>
          <a:xfrm>
            <a:off x="640080" y="3035808"/>
            <a:ext cx="365760" cy="365760"/>
          </a:xfrm>
          <a:prstGeom prst="ellipse">
            <a:avLst/>
          </a:prstGeom>
          <a:solidFill>
            <a:srgbClr val="B13C3C"/>
          </a:solidFill>
          <a:ln/>
        </p:spPr>
        <p:txBody>
          <a:bodyPr/>
          <a:lstStyle/>
          <a:p>
            <a:endParaRPr lang="fr-FR"/>
          </a:p>
        </p:txBody>
      </p:sp>
      <p:sp>
        <p:nvSpPr>
          <p:cNvPr id="10" name="Text 8"/>
          <p:cNvSpPr/>
          <p:nvPr/>
        </p:nvSpPr>
        <p:spPr>
          <a:xfrm>
            <a:off x="640080" y="3035808"/>
            <a:ext cx="36576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11" name="Text 9"/>
          <p:cNvSpPr/>
          <p:nvPr/>
        </p:nvSpPr>
        <p:spPr>
          <a:xfrm>
            <a:off x="1170432" y="2862072"/>
            <a:ext cx="6035040" cy="713232"/>
          </a:xfrm>
          <a:prstGeom prst="rect">
            <a:avLst/>
          </a:prstGeom>
          <a:noFill/>
          <a:ln/>
        </p:spPr>
        <p:txBody>
          <a:bodyPr wrap="square" lIns="0" tIns="0" rIns="0" bIns="0" rtlCol="0" anchor="ctr"/>
          <a:lstStyle/>
          <a:p>
            <a:pPr marL="0" indent="0">
              <a:buNone/>
            </a:pPr>
            <a:r>
              <a:rPr lang="en-US" sz="1300" b="1" dirty="0">
                <a:solidFill>
                  <a:srgbClr val="0A0A0A"/>
                </a:solidFill>
                <a:latin typeface="Calibri" pitchFamily="34" charset="0"/>
                <a:ea typeface="Calibri" pitchFamily="34" charset="-122"/>
                <a:cs typeface="Calibri" pitchFamily="34" charset="-120"/>
              </a:rPr>
              <a:t>2. POST /api/login renvoyait 404</a:t>
            </a:r>
            <a:endParaRPr lang="en-US" sz="1300" dirty="0"/>
          </a:p>
        </p:txBody>
      </p:sp>
      <p:sp>
        <p:nvSpPr>
          <p:cNvPr id="12" name="Text 10"/>
          <p:cNvSpPr/>
          <p:nvPr/>
        </p:nvSpPr>
        <p:spPr>
          <a:xfrm>
            <a:off x="7132320" y="2862072"/>
            <a:ext cx="4419295" cy="713232"/>
          </a:xfrm>
          <a:prstGeom prst="rect">
            <a:avLst/>
          </a:prstGeom>
          <a:noFill/>
          <a:ln/>
        </p:spPr>
        <p:txBody>
          <a:bodyPr wrap="square" lIns="0" tIns="0" rIns="0" bIns="0" rtlCol="0" anchor="ctr"/>
          <a:lstStyle/>
          <a:p>
            <a:pPr marL="0" indent="0">
              <a:buNone/>
            </a:pPr>
            <a:r>
              <a:rPr lang="en-US" sz="1100" dirty="0">
                <a:solidFill>
                  <a:srgbClr val="5A5550"/>
                </a:solidFill>
                <a:latin typeface="Calibri" pitchFamily="34" charset="0"/>
                <a:ea typeface="Calibri" pitchFamily="34" charset="-122"/>
                <a:cs typeface="Calibri" pitchFamily="34" charset="-120"/>
              </a:rPr>
              <a:t>Ordre des listeners Symfony -&gt; route "vide" déclarée dans routes.yaml</a:t>
            </a:r>
            <a:endParaRPr lang="en-US" sz="1100" dirty="0"/>
          </a:p>
        </p:txBody>
      </p:sp>
      <p:sp>
        <p:nvSpPr>
          <p:cNvPr id="13" name="Shape 11"/>
          <p:cNvSpPr/>
          <p:nvPr/>
        </p:nvSpPr>
        <p:spPr>
          <a:xfrm>
            <a:off x="640080" y="3749040"/>
            <a:ext cx="365760" cy="365760"/>
          </a:xfrm>
          <a:prstGeom prst="ellipse">
            <a:avLst/>
          </a:prstGeom>
          <a:solidFill>
            <a:srgbClr val="B13C3C"/>
          </a:solidFill>
          <a:ln/>
        </p:spPr>
        <p:txBody>
          <a:bodyPr/>
          <a:lstStyle/>
          <a:p>
            <a:endParaRPr lang="fr-FR"/>
          </a:p>
        </p:txBody>
      </p:sp>
      <p:sp>
        <p:nvSpPr>
          <p:cNvPr id="14" name="Text 12"/>
          <p:cNvSpPr/>
          <p:nvPr/>
        </p:nvSpPr>
        <p:spPr>
          <a:xfrm>
            <a:off x="640080" y="3749040"/>
            <a:ext cx="36576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15" name="Text 13"/>
          <p:cNvSpPr/>
          <p:nvPr/>
        </p:nvSpPr>
        <p:spPr>
          <a:xfrm>
            <a:off x="1170432" y="3575304"/>
            <a:ext cx="6035040" cy="713232"/>
          </a:xfrm>
          <a:prstGeom prst="rect">
            <a:avLst/>
          </a:prstGeom>
          <a:noFill/>
          <a:ln/>
        </p:spPr>
        <p:txBody>
          <a:bodyPr wrap="square" lIns="0" tIns="0" rIns="0" bIns="0" rtlCol="0" anchor="ctr"/>
          <a:lstStyle/>
          <a:p>
            <a:pPr marL="0" indent="0">
              <a:buNone/>
            </a:pPr>
            <a:r>
              <a:rPr lang="en-US" sz="1300" b="1" dirty="0">
                <a:solidFill>
                  <a:srgbClr val="0A0A0A"/>
                </a:solidFill>
                <a:latin typeface="Calibri" pitchFamily="34" charset="0"/>
                <a:ea typeface="Calibri" pitchFamily="34" charset="-122"/>
                <a:cs typeface="Calibri" pitchFamily="34" charset="-120"/>
              </a:rPr>
              <a:t>3. Fixtures des créneaux en échec</a:t>
            </a:r>
            <a:endParaRPr lang="en-US" sz="1300" dirty="0"/>
          </a:p>
        </p:txBody>
      </p:sp>
      <p:sp>
        <p:nvSpPr>
          <p:cNvPr id="16" name="Text 14"/>
          <p:cNvSpPr/>
          <p:nvPr/>
        </p:nvSpPr>
        <p:spPr>
          <a:xfrm>
            <a:off x="7132320" y="3575304"/>
            <a:ext cx="4419295" cy="713232"/>
          </a:xfrm>
          <a:prstGeom prst="rect">
            <a:avLst/>
          </a:prstGeom>
          <a:noFill/>
          <a:ln/>
        </p:spPr>
        <p:txBody>
          <a:bodyPr wrap="square" lIns="0" tIns="0" rIns="0" bIns="0" rtlCol="0" anchor="ctr"/>
          <a:lstStyle/>
          <a:p>
            <a:pPr marL="0" indent="0">
              <a:buNone/>
            </a:pPr>
            <a:r>
              <a:rPr lang="en-US" sz="1100" dirty="0">
                <a:solidFill>
                  <a:srgbClr val="5A5550"/>
                </a:solidFill>
                <a:latin typeface="Calibri" pitchFamily="34" charset="0"/>
                <a:ea typeface="Calibri" pitchFamily="34" charset="-122"/>
                <a:cs typeface="Calibri" pitchFamily="34" charset="-120"/>
              </a:rPr>
              <a:t>Type Doctrine time incompatible -&gt; passage a time_immutable</a:t>
            </a:r>
            <a:endParaRPr lang="en-US" sz="1100" dirty="0"/>
          </a:p>
        </p:txBody>
      </p:sp>
      <p:sp>
        <p:nvSpPr>
          <p:cNvPr id="17" name="Shape 15"/>
          <p:cNvSpPr/>
          <p:nvPr/>
        </p:nvSpPr>
        <p:spPr>
          <a:xfrm>
            <a:off x="548640" y="4233672"/>
            <a:ext cx="11094415" cy="713232"/>
          </a:xfrm>
          <a:prstGeom prst="rect">
            <a:avLst/>
          </a:prstGeom>
          <a:solidFill>
            <a:srgbClr val="E8E5E0"/>
          </a:solidFill>
          <a:ln/>
        </p:spPr>
        <p:txBody>
          <a:bodyPr/>
          <a:lstStyle/>
          <a:p>
            <a:endParaRPr lang="fr-FR"/>
          </a:p>
        </p:txBody>
      </p:sp>
      <p:sp>
        <p:nvSpPr>
          <p:cNvPr id="18" name="Shape 16"/>
          <p:cNvSpPr/>
          <p:nvPr/>
        </p:nvSpPr>
        <p:spPr>
          <a:xfrm>
            <a:off x="640080" y="4462272"/>
            <a:ext cx="365760" cy="365760"/>
          </a:xfrm>
          <a:prstGeom prst="ellipse">
            <a:avLst/>
          </a:prstGeom>
          <a:solidFill>
            <a:srgbClr val="B13C3C"/>
          </a:solidFill>
          <a:ln/>
        </p:spPr>
        <p:txBody>
          <a:bodyPr/>
          <a:lstStyle/>
          <a:p>
            <a:endParaRPr lang="fr-FR"/>
          </a:p>
        </p:txBody>
      </p:sp>
      <p:sp>
        <p:nvSpPr>
          <p:cNvPr id="19" name="Text 17"/>
          <p:cNvSpPr/>
          <p:nvPr/>
        </p:nvSpPr>
        <p:spPr>
          <a:xfrm>
            <a:off x="640080" y="4462272"/>
            <a:ext cx="36576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20" name="Text 18"/>
          <p:cNvSpPr/>
          <p:nvPr/>
        </p:nvSpPr>
        <p:spPr>
          <a:xfrm>
            <a:off x="1170432" y="4288536"/>
            <a:ext cx="6035040" cy="713232"/>
          </a:xfrm>
          <a:prstGeom prst="rect">
            <a:avLst/>
          </a:prstGeom>
          <a:noFill/>
          <a:ln/>
        </p:spPr>
        <p:txBody>
          <a:bodyPr wrap="square" lIns="0" tIns="0" rIns="0" bIns="0" rtlCol="0" anchor="ctr"/>
          <a:lstStyle/>
          <a:p>
            <a:pPr marL="0" indent="0">
              <a:buNone/>
            </a:pPr>
            <a:r>
              <a:rPr lang="en-US" sz="1300" b="1" dirty="0">
                <a:solidFill>
                  <a:srgbClr val="0A0A0A"/>
                </a:solidFill>
                <a:latin typeface="Calibri" pitchFamily="34" charset="0"/>
                <a:ea typeface="Calibri" pitchFamily="34" charset="-122"/>
                <a:cs typeface="Calibri" pitchFamily="34" charset="-120"/>
              </a:rPr>
              <a:t>4. Tests exécutés dans le mauvais environnement</a:t>
            </a:r>
            <a:endParaRPr lang="en-US" sz="1300" dirty="0"/>
          </a:p>
        </p:txBody>
      </p:sp>
      <p:sp>
        <p:nvSpPr>
          <p:cNvPr id="21" name="Text 19"/>
          <p:cNvSpPr/>
          <p:nvPr/>
        </p:nvSpPr>
        <p:spPr>
          <a:xfrm>
            <a:off x="7132320" y="4288536"/>
            <a:ext cx="4419295" cy="713232"/>
          </a:xfrm>
          <a:prstGeom prst="rect">
            <a:avLst/>
          </a:prstGeom>
          <a:noFill/>
          <a:ln/>
        </p:spPr>
        <p:txBody>
          <a:bodyPr wrap="square" lIns="0" tIns="0" rIns="0" bIns="0" rtlCol="0" anchor="ctr"/>
          <a:lstStyle/>
          <a:p>
            <a:pPr marL="0" indent="0">
              <a:buNone/>
            </a:pPr>
            <a:r>
              <a:rPr lang="en-US" sz="1100" dirty="0">
                <a:solidFill>
                  <a:srgbClr val="5A5550"/>
                </a:solidFill>
                <a:latin typeface="Calibri" pitchFamily="34" charset="0"/>
                <a:ea typeface="Calibri" pitchFamily="34" charset="-122"/>
                <a:cs typeface="Calibri" pitchFamily="34" charset="-120"/>
              </a:rPr>
              <a:t>$_ENV prioritaire sur $_SERVER en conteneur -&gt; phpunit.dist.xml corrigé</a:t>
            </a:r>
            <a:endParaRPr lang="en-US" sz="1100" dirty="0"/>
          </a:p>
        </p:txBody>
      </p:sp>
      <p:sp>
        <p:nvSpPr>
          <p:cNvPr id="22" name="Shape 20"/>
          <p:cNvSpPr/>
          <p:nvPr/>
        </p:nvSpPr>
        <p:spPr>
          <a:xfrm>
            <a:off x="640080" y="5175504"/>
            <a:ext cx="365760" cy="365760"/>
          </a:xfrm>
          <a:prstGeom prst="ellipse">
            <a:avLst/>
          </a:prstGeom>
          <a:solidFill>
            <a:srgbClr val="B13C3C"/>
          </a:solidFill>
          <a:ln/>
        </p:spPr>
        <p:txBody>
          <a:bodyPr/>
          <a:lstStyle/>
          <a:p>
            <a:endParaRPr lang="fr-FR"/>
          </a:p>
        </p:txBody>
      </p:sp>
      <p:sp>
        <p:nvSpPr>
          <p:cNvPr id="23" name="Text 21"/>
          <p:cNvSpPr/>
          <p:nvPr/>
        </p:nvSpPr>
        <p:spPr>
          <a:xfrm>
            <a:off x="640080" y="5175504"/>
            <a:ext cx="36576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24" name="Text 22"/>
          <p:cNvSpPr/>
          <p:nvPr/>
        </p:nvSpPr>
        <p:spPr>
          <a:xfrm>
            <a:off x="1170432" y="5001768"/>
            <a:ext cx="6035040" cy="713232"/>
          </a:xfrm>
          <a:prstGeom prst="rect">
            <a:avLst/>
          </a:prstGeom>
          <a:noFill/>
          <a:ln/>
        </p:spPr>
        <p:txBody>
          <a:bodyPr wrap="square" lIns="0" tIns="0" rIns="0" bIns="0" rtlCol="0" anchor="ctr"/>
          <a:lstStyle/>
          <a:p>
            <a:pPr marL="0" indent="0">
              <a:buNone/>
            </a:pPr>
            <a:r>
              <a:rPr lang="en-US" sz="1300" b="1" dirty="0">
                <a:solidFill>
                  <a:srgbClr val="0A0A0A"/>
                </a:solidFill>
                <a:latin typeface="Calibri" pitchFamily="34" charset="0"/>
                <a:ea typeface="Calibri" pitchFamily="34" charset="-122"/>
                <a:cs typeface="Calibri" pitchFamily="34" charset="-120"/>
              </a:rPr>
              <a:t>5. Test d'authentification instable</a:t>
            </a:r>
            <a:endParaRPr lang="en-US" sz="1300" dirty="0"/>
          </a:p>
        </p:txBody>
      </p:sp>
      <p:sp>
        <p:nvSpPr>
          <p:cNvPr id="25" name="Text 23"/>
          <p:cNvSpPr/>
          <p:nvPr/>
        </p:nvSpPr>
        <p:spPr>
          <a:xfrm>
            <a:off x="7132320" y="5001768"/>
            <a:ext cx="4419295" cy="713232"/>
          </a:xfrm>
          <a:prstGeom prst="rect">
            <a:avLst/>
          </a:prstGeom>
          <a:noFill/>
          <a:ln/>
        </p:spPr>
        <p:txBody>
          <a:bodyPr wrap="square" lIns="0" tIns="0" rIns="0" bIns="0" rtlCol="0" anchor="ctr"/>
          <a:lstStyle/>
          <a:p>
            <a:pPr marL="0" indent="0">
              <a:buNone/>
            </a:pPr>
            <a:r>
              <a:rPr lang="en-US" sz="1100" dirty="0">
                <a:solidFill>
                  <a:srgbClr val="5A5550"/>
                </a:solidFill>
                <a:latin typeface="Calibri" pitchFamily="34" charset="0"/>
                <a:ea typeface="Calibri" pitchFamily="34" charset="-122"/>
                <a:cs typeface="Calibri" pitchFamily="34" charset="-120"/>
              </a:rPr>
              <a:t>Double démarrage du kernel -&gt; corrigé</a:t>
            </a:r>
            <a:endParaRPr lang="en-US" sz="1100" dirty="0"/>
          </a:p>
        </p:txBody>
      </p:sp>
      <p:sp>
        <p:nvSpPr>
          <p:cNvPr id="26" name="Text 24"/>
          <p:cNvSpPr/>
          <p:nvPr/>
        </p:nvSpPr>
        <p:spPr>
          <a:xfrm>
            <a:off x="640080" y="6473952"/>
            <a:ext cx="7315200" cy="274320"/>
          </a:xfrm>
          <a:prstGeom prst="rect">
            <a:avLst/>
          </a:prstGeom>
          <a:noFill/>
          <a:ln/>
        </p:spPr>
        <p:txBody>
          <a:bodyPr wrap="square" rtlCol="0" anchor="ctr"/>
          <a:lstStyle/>
          <a:p>
            <a:pPr marL="0" indent="0" algn="l">
              <a:buNone/>
            </a:pPr>
            <a:r>
              <a:rPr lang="en-US" sz="900" dirty="0">
                <a:solidFill>
                  <a:srgbClr val="5A5550"/>
                </a:solidFill>
                <a:latin typeface="Calibri" pitchFamily="34" charset="0"/>
                <a:ea typeface="Calibri" pitchFamily="34" charset="-122"/>
                <a:cs typeface="Calibri" pitchFamily="34" charset="-120"/>
              </a:rPr>
              <a:t>Amoura — Soutenance CDA 2026</a:t>
            </a:r>
            <a:endParaRPr lang="en-US" sz="900" dirty="0"/>
          </a:p>
        </p:txBody>
      </p:sp>
      <p:sp>
        <p:nvSpPr>
          <p:cNvPr id="27" name="Text 25"/>
          <p:cNvSpPr/>
          <p:nvPr/>
        </p:nvSpPr>
        <p:spPr>
          <a:xfrm>
            <a:off x="11002975" y="6473952"/>
            <a:ext cx="548640" cy="274320"/>
          </a:xfrm>
          <a:prstGeom prst="rect">
            <a:avLst/>
          </a:prstGeom>
          <a:noFill/>
          <a:ln/>
        </p:spPr>
        <p:txBody>
          <a:bodyPr wrap="square" rtlCol="0" anchor="ctr"/>
          <a:lstStyle/>
          <a:p>
            <a:pPr marL="0" indent="0" algn="r">
              <a:buNone/>
            </a:pPr>
            <a:r>
              <a:rPr lang="en-US" sz="900" dirty="0">
                <a:solidFill>
                  <a:srgbClr val="5A5550"/>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A1410"/>
        </a:solidFill>
        <a:effectLst/>
      </p:bgPr>
    </p:bg>
    <p:spTree>
      <p:nvGrpSpPr>
        <p:cNvPr id="1" name=""/>
        <p:cNvGrpSpPr/>
        <p:nvPr/>
      </p:nvGrpSpPr>
      <p:grpSpPr>
        <a:xfrm>
          <a:off x="0" y="0"/>
          <a:ext cx="0" cy="0"/>
          <a:chOff x="0" y="0"/>
          <a:chExt cx="0" cy="0"/>
        </a:xfrm>
      </p:grpSpPr>
      <p:sp>
        <p:nvSpPr>
          <p:cNvPr id="2" name="Shape 0"/>
          <p:cNvSpPr/>
          <p:nvPr/>
        </p:nvSpPr>
        <p:spPr>
          <a:xfrm>
            <a:off x="5638648" y="1965960"/>
            <a:ext cx="914400" cy="914400"/>
          </a:xfrm>
          <a:prstGeom prst="ellipse">
            <a:avLst/>
          </a:prstGeom>
          <a:solidFill>
            <a:srgbClr val="C9A96E"/>
          </a:solidFill>
          <a:ln/>
        </p:spPr>
        <p:txBody>
          <a:bodyPr/>
          <a:lstStyle/>
          <a:p>
            <a:endParaRPr lang="fr-FR"/>
          </a:p>
        </p:txBody>
      </p:sp>
      <p:sp>
        <p:nvSpPr>
          <p:cNvPr id="3" name="Text 1"/>
          <p:cNvSpPr/>
          <p:nvPr/>
        </p:nvSpPr>
        <p:spPr>
          <a:xfrm>
            <a:off x="5638648" y="1965960"/>
            <a:ext cx="914400" cy="914400"/>
          </a:xfrm>
          <a:prstGeom prst="rect">
            <a:avLst/>
          </a:prstGeom>
          <a:noFill/>
          <a:ln/>
        </p:spPr>
        <p:txBody>
          <a:bodyPr wrap="square" lIns="0" tIns="0" rIns="0" bIns="0" rtlCol="0" anchor="ctr"/>
          <a:lstStyle/>
          <a:p>
            <a:pPr marL="0" indent="0" algn="ctr">
              <a:buNone/>
            </a:pPr>
            <a:r>
              <a:rPr lang="en-US" sz="3000" b="1" dirty="0">
                <a:solidFill>
                  <a:srgbClr val="1A1410"/>
                </a:solidFill>
                <a:latin typeface="Cambria" pitchFamily="34" charset="0"/>
                <a:ea typeface="Cambria" pitchFamily="34" charset="-122"/>
                <a:cs typeface="Cambria" pitchFamily="34" charset="-120"/>
              </a:rPr>
              <a:t>8</a:t>
            </a:r>
            <a:endParaRPr lang="en-US" sz="3000" dirty="0"/>
          </a:p>
        </p:txBody>
      </p:sp>
      <p:sp>
        <p:nvSpPr>
          <p:cNvPr id="4" name="Text 2"/>
          <p:cNvSpPr/>
          <p:nvPr/>
        </p:nvSpPr>
        <p:spPr>
          <a:xfrm>
            <a:off x="914400" y="3063240"/>
            <a:ext cx="10362895" cy="1005840"/>
          </a:xfrm>
          <a:prstGeom prst="rect">
            <a:avLst/>
          </a:prstGeom>
          <a:noFill/>
          <a:ln/>
        </p:spPr>
        <p:txBody>
          <a:bodyPr wrap="square" rtlCol="0" anchor="ctr"/>
          <a:lstStyle/>
          <a:p>
            <a:pPr marL="0" indent="0" algn="ctr">
              <a:buNone/>
            </a:pPr>
            <a:r>
              <a:rPr lang="en-US" sz="4000" b="1" dirty="0">
                <a:solidFill>
                  <a:srgbClr val="FAF8F5"/>
                </a:solidFill>
                <a:latin typeface="Cambria" pitchFamily="34" charset="0"/>
                <a:ea typeface="Cambria" pitchFamily="34" charset="-122"/>
                <a:cs typeface="Cambria" pitchFamily="34" charset="-120"/>
              </a:rPr>
              <a:t>Déploiement</a:t>
            </a:r>
            <a:endParaRPr lang="en-US" sz="4000" dirty="0"/>
          </a:p>
        </p:txBody>
      </p:sp>
      <p:sp>
        <p:nvSpPr>
          <p:cNvPr id="5" name="Text 3"/>
          <p:cNvSpPr/>
          <p:nvPr/>
        </p:nvSpPr>
        <p:spPr>
          <a:xfrm>
            <a:off x="1371600" y="4069080"/>
            <a:ext cx="9448495" cy="548640"/>
          </a:xfrm>
          <a:prstGeom prst="rect">
            <a:avLst/>
          </a:prstGeom>
          <a:noFill/>
          <a:ln/>
        </p:spPr>
        <p:txBody>
          <a:bodyPr wrap="square" rtlCol="0" anchor="ctr"/>
          <a:lstStyle/>
          <a:p>
            <a:pPr marL="0" indent="0" algn="ctr">
              <a:buNone/>
            </a:pPr>
            <a:r>
              <a:rPr lang="en-US" sz="1500" i="1" dirty="0">
                <a:solidFill>
                  <a:srgbClr val="E8E5E0"/>
                </a:solidFill>
                <a:latin typeface="Calibri" pitchFamily="34" charset="0"/>
                <a:ea typeface="Calibri" pitchFamily="34" charset="-122"/>
                <a:cs typeface="Calibri" pitchFamily="34" charset="-120"/>
              </a:rPr>
              <a:t>Docker de production, procédure, stratégie</a:t>
            </a:r>
            <a:endParaRPr lang="en-US" sz="15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AF8F5"/>
        </a:solidFill>
        <a:effectLst/>
      </p:bgPr>
    </p:bg>
    <p:spTree>
      <p:nvGrpSpPr>
        <p:cNvPr id="1" name=""/>
        <p:cNvGrpSpPr/>
        <p:nvPr/>
      </p:nvGrpSpPr>
      <p:grpSpPr>
        <a:xfrm>
          <a:off x="0" y="0"/>
          <a:ext cx="0" cy="0"/>
          <a:chOff x="0" y="0"/>
          <a:chExt cx="0" cy="0"/>
        </a:xfrm>
      </p:grpSpPr>
      <p:sp>
        <p:nvSpPr>
          <p:cNvPr id="2" name="Text 0"/>
          <p:cNvSpPr/>
          <p:nvPr/>
        </p:nvSpPr>
        <p:spPr>
          <a:xfrm>
            <a:off x="640080" y="411480"/>
            <a:ext cx="10911535" cy="320040"/>
          </a:xfrm>
          <a:prstGeom prst="rect">
            <a:avLst/>
          </a:prstGeom>
          <a:noFill/>
          <a:ln/>
        </p:spPr>
        <p:txBody>
          <a:bodyPr wrap="square" rtlCol="0" anchor="ctr"/>
          <a:lstStyle/>
          <a:p>
            <a:pPr marL="0" indent="0">
              <a:buNone/>
            </a:pPr>
            <a:r>
              <a:rPr lang="en-US" sz="1200" b="1" kern="0" spc="250" dirty="0">
                <a:solidFill>
                  <a:srgbClr val="C9A96E"/>
                </a:solidFill>
                <a:latin typeface="Calibri" pitchFamily="34" charset="0"/>
                <a:ea typeface="Calibri" pitchFamily="34" charset="-122"/>
                <a:cs typeface="Calibri" pitchFamily="34" charset="-120"/>
              </a:rPr>
              <a:t>MISE EN PRODUCTION</a:t>
            </a:r>
            <a:endParaRPr lang="en-US" sz="1200" dirty="0"/>
          </a:p>
        </p:txBody>
      </p:sp>
      <p:sp>
        <p:nvSpPr>
          <p:cNvPr id="3" name="Text 1"/>
          <p:cNvSpPr/>
          <p:nvPr/>
        </p:nvSpPr>
        <p:spPr>
          <a:xfrm>
            <a:off x="640080" y="713232"/>
            <a:ext cx="10911535" cy="640080"/>
          </a:xfrm>
          <a:prstGeom prst="rect">
            <a:avLst/>
          </a:prstGeom>
          <a:noFill/>
          <a:ln/>
        </p:spPr>
        <p:txBody>
          <a:bodyPr wrap="square" rtlCol="0" anchor="ctr"/>
          <a:lstStyle/>
          <a:p>
            <a:pPr marL="0" indent="0">
              <a:buNone/>
            </a:pPr>
            <a:r>
              <a:rPr lang="en-US" sz="2800" b="1" dirty="0">
                <a:solidFill>
                  <a:srgbClr val="0A0A0A"/>
                </a:solidFill>
                <a:latin typeface="Cambria" pitchFamily="34" charset="0"/>
                <a:ea typeface="Cambria" pitchFamily="34" charset="-122"/>
                <a:cs typeface="Cambria" pitchFamily="34" charset="-120"/>
              </a:rPr>
              <a:t>docker-compose.prod.yml</a:t>
            </a:r>
            <a:endParaRPr lang="en-US" sz="2800" dirty="0"/>
          </a:p>
        </p:txBody>
      </p:sp>
      <p:sp>
        <p:nvSpPr>
          <p:cNvPr id="4" name="Shape 2"/>
          <p:cNvSpPr/>
          <p:nvPr/>
        </p:nvSpPr>
        <p:spPr>
          <a:xfrm>
            <a:off x="2774194" y="1444752"/>
            <a:ext cx="6643308" cy="4041648"/>
          </a:xfrm>
          <a:prstGeom prst="roundRect">
            <a:avLst>
              <a:gd name="adj" fmla="val 1357"/>
            </a:avLst>
          </a:prstGeom>
          <a:solidFill>
            <a:srgbClr val="FFFFFF"/>
          </a:solidFill>
          <a:ln w="15875">
            <a:solidFill>
              <a:srgbClr val="C9A96E"/>
            </a:solidFill>
            <a:prstDash val="solid"/>
          </a:ln>
          <a:effectLst>
            <a:outerShdw blurRad="76200" dist="25400" dir="5400000" algn="bl" rotWithShape="0">
              <a:srgbClr val="000000">
                <a:alpha val="18000"/>
              </a:srgbClr>
            </a:outerShdw>
          </a:effectLst>
        </p:spPr>
        <p:txBody>
          <a:bodyPr/>
          <a:lstStyle/>
          <a:p>
            <a:endParaRPr lang="fr-FR"/>
          </a:p>
        </p:txBody>
      </p:sp>
      <p:pic>
        <p:nvPicPr>
          <p:cNvPr id="5" name="Image 0" descr="C:\Users\amahi\AppData\Local\Temp\claude\C--Users-amahi-Documents-Code-Amoura\ec1effed-a661-4c74-9a86-4c2c133a35a5\scratchpad\images\architecture_prod.png"/>
          <p:cNvPicPr>
            <a:picLocks noChangeAspect="1"/>
          </p:cNvPicPr>
          <p:nvPr/>
        </p:nvPicPr>
        <p:blipFill>
          <a:blip r:embed="rId3"/>
          <a:stretch>
            <a:fillRect/>
          </a:stretch>
        </p:blipFill>
        <p:spPr>
          <a:xfrm>
            <a:off x="2883922" y="1554480"/>
            <a:ext cx="6423852" cy="3822192"/>
          </a:xfrm>
          <a:prstGeom prst="rect">
            <a:avLst/>
          </a:prstGeom>
        </p:spPr>
      </p:pic>
      <p:sp>
        <p:nvSpPr>
          <p:cNvPr id="6" name="Text 3"/>
          <p:cNvSpPr/>
          <p:nvPr/>
        </p:nvSpPr>
        <p:spPr>
          <a:xfrm>
            <a:off x="640080" y="5797296"/>
            <a:ext cx="10911535" cy="566928"/>
          </a:xfrm>
          <a:prstGeom prst="rect">
            <a:avLst/>
          </a:prstGeom>
          <a:noFill/>
          <a:ln/>
        </p:spPr>
        <p:txBody>
          <a:bodyPr wrap="square" rtlCol="0" anchor="t"/>
          <a:lstStyle/>
          <a:p>
            <a:pPr marL="0" indent="0" algn="ctr">
              <a:buNone/>
            </a:pPr>
            <a:r>
              <a:rPr lang="en-US" sz="1100" i="1" dirty="0">
                <a:solidFill>
                  <a:srgbClr val="5A5550"/>
                </a:solidFill>
                <a:latin typeface="Calibri" pitchFamily="34" charset="0"/>
                <a:ea typeface="Calibri" pitchFamily="34" charset="-122"/>
                <a:cs typeface="Calibri" pitchFamily="34" charset="-120"/>
              </a:rPr>
              <a:t>Images figées et taguees, aucun bind-mount, clés JWT persistées dans un volume, aucun service de développement.</a:t>
            </a:r>
            <a:endParaRPr lang="en-US" sz="1100" dirty="0"/>
          </a:p>
        </p:txBody>
      </p:sp>
      <p:sp>
        <p:nvSpPr>
          <p:cNvPr id="7" name="Text 4"/>
          <p:cNvSpPr/>
          <p:nvPr/>
        </p:nvSpPr>
        <p:spPr>
          <a:xfrm>
            <a:off x="640080" y="6473952"/>
            <a:ext cx="7315200" cy="274320"/>
          </a:xfrm>
          <a:prstGeom prst="rect">
            <a:avLst/>
          </a:prstGeom>
          <a:noFill/>
          <a:ln/>
        </p:spPr>
        <p:txBody>
          <a:bodyPr wrap="square" rtlCol="0" anchor="ctr"/>
          <a:lstStyle/>
          <a:p>
            <a:pPr marL="0" indent="0" algn="l">
              <a:buNone/>
            </a:pPr>
            <a:r>
              <a:rPr lang="en-US" sz="900" dirty="0">
                <a:solidFill>
                  <a:srgbClr val="5A5550"/>
                </a:solidFill>
                <a:latin typeface="Calibri" pitchFamily="34" charset="0"/>
                <a:ea typeface="Calibri" pitchFamily="34" charset="-122"/>
                <a:cs typeface="Calibri" pitchFamily="34" charset="-120"/>
              </a:rPr>
              <a:t>Amoura — Soutenance CDA 2026</a:t>
            </a:r>
            <a:endParaRPr lang="en-US" sz="900" dirty="0"/>
          </a:p>
        </p:txBody>
      </p:sp>
      <p:sp>
        <p:nvSpPr>
          <p:cNvPr id="8" name="Text 5"/>
          <p:cNvSpPr/>
          <p:nvPr/>
        </p:nvSpPr>
        <p:spPr>
          <a:xfrm>
            <a:off x="11002975" y="6473952"/>
            <a:ext cx="548640" cy="274320"/>
          </a:xfrm>
          <a:prstGeom prst="rect">
            <a:avLst/>
          </a:prstGeom>
          <a:noFill/>
          <a:ln/>
        </p:spPr>
        <p:txBody>
          <a:bodyPr wrap="square" rtlCol="0" anchor="ctr"/>
          <a:lstStyle/>
          <a:p>
            <a:pPr marL="0" indent="0" algn="r">
              <a:buNone/>
            </a:pPr>
            <a:r>
              <a:rPr lang="en-US" sz="900" dirty="0">
                <a:solidFill>
                  <a:srgbClr val="5A5550"/>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AF8F5"/>
        </a:solidFill>
        <a:effectLst/>
      </p:bgPr>
    </p:bg>
    <p:spTree>
      <p:nvGrpSpPr>
        <p:cNvPr id="1" name=""/>
        <p:cNvGrpSpPr/>
        <p:nvPr/>
      </p:nvGrpSpPr>
      <p:grpSpPr>
        <a:xfrm>
          <a:off x="0" y="0"/>
          <a:ext cx="0" cy="0"/>
          <a:chOff x="0" y="0"/>
          <a:chExt cx="0" cy="0"/>
        </a:xfrm>
      </p:grpSpPr>
      <p:sp>
        <p:nvSpPr>
          <p:cNvPr id="2" name="Text 0"/>
          <p:cNvSpPr/>
          <p:nvPr/>
        </p:nvSpPr>
        <p:spPr>
          <a:xfrm>
            <a:off x="640080" y="411480"/>
            <a:ext cx="10911535" cy="320040"/>
          </a:xfrm>
          <a:prstGeom prst="rect">
            <a:avLst/>
          </a:prstGeom>
          <a:noFill/>
          <a:ln/>
        </p:spPr>
        <p:txBody>
          <a:bodyPr wrap="square" rtlCol="0" anchor="ctr"/>
          <a:lstStyle/>
          <a:p>
            <a:pPr marL="0" indent="0">
              <a:buNone/>
            </a:pPr>
            <a:r>
              <a:rPr lang="en-US" sz="1200" b="1" kern="0" spc="250" dirty="0">
                <a:solidFill>
                  <a:srgbClr val="C9A96E"/>
                </a:solidFill>
                <a:latin typeface="Calibri" pitchFamily="34" charset="0"/>
                <a:ea typeface="Calibri" pitchFamily="34" charset="-122"/>
                <a:cs typeface="Calibri" pitchFamily="34" charset="-120"/>
              </a:rPr>
              <a:t>PROCÉDURE</a:t>
            </a:r>
            <a:endParaRPr lang="en-US" sz="1200" dirty="0"/>
          </a:p>
        </p:txBody>
      </p:sp>
      <p:sp>
        <p:nvSpPr>
          <p:cNvPr id="3" name="Text 1"/>
          <p:cNvSpPr/>
          <p:nvPr/>
        </p:nvSpPr>
        <p:spPr>
          <a:xfrm>
            <a:off x="640080" y="713232"/>
            <a:ext cx="10911535" cy="640080"/>
          </a:xfrm>
          <a:prstGeom prst="rect">
            <a:avLst/>
          </a:prstGeom>
          <a:noFill/>
          <a:ln/>
        </p:spPr>
        <p:txBody>
          <a:bodyPr wrap="square" rtlCol="0" anchor="ctr"/>
          <a:lstStyle/>
          <a:p>
            <a:pPr marL="0" indent="0">
              <a:buNone/>
            </a:pPr>
            <a:r>
              <a:rPr lang="en-US" sz="2800" b="1" dirty="0">
                <a:solidFill>
                  <a:srgbClr val="0A0A0A"/>
                </a:solidFill>
                <a:latin typeface="Cambria" pitchFamily="34" charset="0"/>
                <a:ea typeface="Cambria" pitchFamily="34" charset="-122"/>
                <a:cs typeface="Cambria" pitchFamily="34" charset="-120"/>
              </a:rPr>
              <a:t>Mise en production, étape par étape</a:t>
            </a:r>
            <a:endParaRPr lang="en-US" sz="2800" dirty="0"/>
          </a:p>
        </p:txBody>
      </p:sp>
      <p:sp>
        <p:nvSpPr>
          <p:cNvPr id="4" name="Shape 2"/>
          <p:cNvSpPr/>
          <p:nvPr/>
        </p:nvSpPr>
        <p:spPr>
          <a:xfrm>
            <a:off x="640080" y="1988820"/>
            <a:ext cx="5181448" cy="3886200"/>
          </a:xfrm>
          <a:prstGeom prst="roundRect">
            <a:avLst>
              <a:gd name="adj" fmla="val 1882"/>
            </a:avLst>
          </a:prstGeom>
          <a:solidFill>
            <a:srgbClr val="FFFFFF"/>
          </a:solidFill>
          <a:ln/>
          <a:effectLst>
            <a:outerShdw blurRad="63500" dist="25400" dir="5400000" algn="bl" rotWithShape="0">
              <a:srgbClr val="000000">
                <a:alpha val="10000"/>
              </a:srgbClr>
            </a:outerShdw>
          </a:effectLst>
        </p:spPr>
        <p:txBody>
          <a:bodyPr/>
          <a:lstStyle/>
          <a:p>
            <a:endParaRPr lang="fr-FR"/>
          </a:p>
        </p:txBody>
      </p:sp>
      <p:sp>
        <p:nvSpPr>
          <p:cNvPr id="5" name="Text 3"/>
          <p:cNvSpPr/>
          <p:nvPr/>
        </p:nvSpPr>
        <p:spPr>
          <a:xfrm>
            <a:off x="932688" y="2244852"/>
            <a:ext cx="4596232" cy="411480"/>
          </a:xfrm>
          <a:prstGeom prst="rect">
            <a:avLst/>
          </a:prstGeom>
          <a:noFill/>
          <a:ln/>
        </p:spPr>
        <p:txBody>
          <a:bodyPr wrap="square" lIns="0" tIns="0" rIns="0" bIns="0" rtlCol="0" anchor="ctr"/>
          <a:lstStyle/>
          <a:p>
            <a:pPr marL="0" indent="0">
              <a:buNone/>
            </a:pPr>
            <a:r>
              <a:rPr lang="en-US" sz="1600" b="1" dirty="0">
                <a:solidFill>
                  <a:srgbClr val="C9A96E"/>
                </a:solidFill>
                <a:latin typeface="Cambria" pitchFamily="34" charset="0"/>
                <a:ea typeface="Cambria" pitchFamily="34" charset="-122"/>
                <a:cs typeface="Cambria" pitchFamily="34" charset="-120"/>
              </a:rPr>
              <a:t>Procédure</a:t>
            </a:r>
            <a:endParaRPr lang="en-US" sz="1600" dirty="0"/>
          </a:p>
        </p:txBody>
      </p:sp>
      <p:sp>
        <p:nvSpPr>
          <p:cNvPr id="6" name="Text 4"/>
          <p:cNvSpPr/>
          <p:nvPr/>
        </p:nvSpPr>
        <p:spPr>
          <a:xfrm>
            <a:off x="932688" y="2766060"/>
            <a:ext cx="4596232" cy="2926080"/>
          </a:xfrm>
          <a:prstGeom prst="rect">
            <a:avLst/>
          </a:prstGeom>
          <a:noFill/>
          <a:ln/>
        </p:spPr>
        <p:txBody>
          <a:bodyPr wrap="square" lIns="0" tIns="0" rIns="0" bIns="0" rtlCol="0" anchor="t"/>
          <a:lstStyle/>
          <a:p>
            <a:pPr marL="203200" indent="-203200">
              <a:spcAft>
                <a:spcPts val="1200"/>
              </a:spcAft>
              <a:buSzPct val="100000"/>
              <a:buChar char="●"/>
            </a:pPr>
            <a:r>
              <a:rPr lang="en-US" sz="1250" dirty="0">
                <a:solidFill>
                  <a:srgbClr val="0A0A0A"/>
                </a:solidFill>
                <a:latin typeface="Calibri" pitchFamily="34" charset="0"/>
                <a:ea typeface="Calibri" pitchFamily="34" charset="-122"/>
                <a:cs typeface="Calibri" pitchFamily="34" charset="-120"/>
              </a:rPr>
              <a:t>1. git checkout du tag de release (v1.0.0)</a:t>
            </a:r>
            <a:endParaRPr lang="en-US" sz="1250" dirty="0"/>
          </a:p>
          <a:p>
            <a:pPr marL="203200" indent="-203200">
              <a:spcAft>
                <a:spcPts val="1200"/>
              </a:spcAft>
              <a:buSzPct val="100000"/>
              <a:buChar char="●"/>
            </a:pPr>
            <a:r>
              <a:rPr lang="en-US" sz="1250" dirty="0">
                <a:solidFill>
                  <a:srgbClr val="0A0A0A"/>
                </a:solidFill>
                <a:latin typeface="Calibri" pitchFamily="34" charset="0"/>
                <a:ea typeface="Calibri" pitchFamily="34" charset="-122"/>
                <a:cs typeface="Calibri" pitchFamily="34" charset="-120"/>
              </a:rPr>
              <a:t>2. Configurer .env.prod (secrets, domaine, DSN mail)</a:t>
            </a:r>
            <a:endParaRPr lang="en-US" sz="1250" dirty="0"/>
          </a:p>
          <a:p>
            <a:pPr marL="203200" indent="-203200">
              <a:spcAft>
                <a:spcPts val="1200"/>
              </a:spcAft>
              <a:buSzPct val="100000"/>
              <a:buChar char="●"/>
            </a:pPr>
            <a:r>
              <a:rPr lang="en-US" sz="1250" dirty="0">
                <a:solidFill>
                  <a:srgbClr val="0A0A0A"/>
                </a:solidFill>
                <a:latin typeface="Calibri" pitchFamily="34" charset="0"/>
                <a:ea typeface="Calibri" pitchFamily="34" charset="-122"/>
                <a:cs typeface="Calibri" pitchFamily="34" charset="-120"/>
              </a:rPr>
              <a:t>3. docker compose -f docker-compose.prod.yml up -d --build</a:t>
            </a:r>
            <a:endParaRPr lang="en-US" sz="1250" dirty="0"/>
          </a:p>
          <a:p>
            <a:pPr marL="203200" indent="-203200">
              <a:spcAft>
                <a:spcPts val="1200"/>
              </a:spcAft>
              <a:buSzPct val="100000"/>
              <a:buChar char="●"/>
            </a:pPr>
            <a:r>
              <a:rPr lang="en-US" sz="1250" dirty="0">
                <a:solidFill>
                  <a:srgbClr val="0A0A0A"/>
                </a:solidFill>
                <a:latin typeface="Calibri" pitchFamily="34" charset="0"/>
                <a:ea typeface="Calibri" pitchFamily="34" charset="-122"/>
                <a:cs typeface="Calibri" pitchFamily="34" charset="-120"/>
              </a:rPr>
              <a:t>4. Générer les clés JWT (1re installation)</a:t>
            </a:r>
            <a:endParaRPr lang="en-US" sz="1250" dirty="0"/>
          </a:p>
          <a:p>
            <a:pPr marL="203200" indent="-203200">
              <a:spcAft>
                <a:spcPts val="1200"/>
              </a:spcAft>
              <a:buSzPct val="100000"/>
              <a:buChar char="●"/>
            </a:pPr>
            <a:r>
              <a:rPr lang="en-US" sz="1250" dirty="0">
                <a:solidFill>
                  <a:srgbClr val="0A0A0A"/>
                </a:solidFill>
                <a:latin typeface="Calibri" pitchFamily="34" charset="0"/>
                <a:ea typeface="Calibri" pitchFamily="34" charset="-122"/>
                <a:cs typeface="Calibri" pitchFamily="34" charset="-120"/>
              </a:rPr>
              <a:t>5. Appliquer les migrations Doctrine</a:t>
            </a:r>
            <a:endParaRPr lang="en-US" sz="1250" dirty="0"/>
          </a:p>
        </p:txBody>
      </p:sp>
      <p:sp>
        <p:nvSpPr>
          <p:cNvPr id="7" name="Shape 5"/>
          <p:cNvSpPr/>
          <p:nvPr/>
        </p:nvSpPr>
        <p:spPr>
          <a:xfrm>
            <a:off x="6370168" y="1988820"/>
            <a:ext cx="5181448" cy="3886200"/>
          </a:xfrm>
          <a:prstGeom prst="roundRect">
            <a:avLst>
              <a:gd name="adj" fmla="val 1882"/>
            </a:avLst>
          </a:prstGeom>
          <a:solidFill>
            <a:srgbClr val="FFFFFF"/>
          </a:solidFill>
          <a:ln/>
          <a:effectLst>
            <a:outerShdw blurRad="63500" dist="25400" dir="5400000" algn="bl" rotWithShape="0">
              <a:srgbClr val="000000">
                <a:alpha val="10000"/>
              </a:srgbClr>
            </a:outerShdw>
          </a:effectLst>
        </p:spPr>
        <p:txBody>
          <a:bodyPr/>
          <a:lstStyle/>
          <a:p>
            <a:endParaRPr lang="fr-FR"/>
          </a:p>
        </p:txBody>
      </p:sp>
      <p:sp>
        <p:nvSpPr>
          <p:cNvPr id="8" name="Text 6"/>
          <p:cNvSpPr/>
          <p:nvPr/>
        </p:nvSpPr>
        <p:spPr>
          <a:xfrm>
            <a:off x="6662776" y="2244852"/>
            <a:ext cx="4596232" cy="411480"/>
          </a:xfrm>
          <a:prstGeom prst="rect">
            <a:avLst/>
          </a:prstGeom>
          <a:noFill/>
          <a:ln/>
        </p:spPr>
        <p:txBody>
          <a:bodyPr wrap="square" lIns="0" tIns="0" rIns="0" bIns="0" rtlCol="0" anchor="ctr"/>
          <a:lstStyle/>
          <a:p>
            <a:pPr marL="0" indent="0">
              <a:buNone/>
            </a:pPr>
            <a:r>
              <a:rPr lang="en-US" sz="1600" b="1" dirty="0">
                <a:solidFill>
                  <a:srgbClr val="C9A96E"/>
                </a:solidFill>
                <a:latin typeface="Cambria" pitchFamily="34" charset="0"/>
                <a:ea typeface="Cambria" pitchFamily="34" charset="-122"/>
                <a:cs typeface="Cambria" pitchFamily="34" charset="-120"/>
              </a:rPr>
              <a:t>Stratégie retenue</a:t>
            </a:r>
            <a:endParaRPr lang="en-US" sz="1600" dirty="0"/>
          </a:p>
        </p:txBody>
      </p:sp>
      <p:sp>
        <p:nvSpPr>
          <p:cNvPr id="9" name="Text 7"/>
          <p:cNvSpPr/>
          <p:nvPr/>
        </p:nvSpPr>
        <p:spPr>
          <a:xfrm>
            <a:off x="6662776" y="2766060"/>
            <a:ext cx="4596232" cy="2926080"/>
          </a:xfrm>
          <a:prstGeom prst="rect">
            <a:avLst/>
          </a:prstGeom>
          <a:noFill/>
          <a:ln/>
        </p:spPr>
        <p:txBody>
          <a:bodyPr wrap="square" lIns="0" tIns="0" rIns="0" bIns="0" rtlCol="0" anchor="t"/>
          <a:lstStyle/>
          <a:p>
            <a:pPr marL="203200" indent="-203200">
              <a:spcAft>
                <a:spcPts val="1200"/>
              </a:spcAft>
              <a:buSzPct val="100000"/>
              <a:buChar char="●"/>
            </a:pPr>
            <a:r>
              <a:rPr lang="en-US" sz="1250" dirty="0">
                <a:solidFill>
                  <a:srgbClr val="0A0A0A"/>
                </a:solidFill>
                <a:latin typeface="Calibri" pitchFamily="34" charset="0"/>
                <a:ea typeface="Calibri" pitchFamily="34" charset="-122"/>
                <a:cs typeface="Calibri" pitchFamily="34" charset="-120"/>
              </a:rPr>
              <a:t>Fenêtre de maintenance courte, plutôt que bleu/vert ou rolling update</a:t>
            </a:r>
            <a:endParaRPr lang="en-US" sz="1250" dirty="0"/>
          </a:p>
          <a:p>
            <a:pPr marL="203200" indent="-203200">
              <a:spcAft>
                <a:spcPts val="1200"/>
              </a:spcAft>
              <a:buSzPct val="100000"/>
              <a:buChar char="●"/>
            </a:pPr>
            <a:r>
              <a:rPr lang="en-US" sz="1250" dirty="0">
                <a:solidFill>
                  <a:srgbClr val="0A0A0A"/>
                </a:solidFill>
                <a:latin typeface="Calibri" pitchFamily="34" charset="0"/>
                <a:ea typeface="Calibri" pitchFamily="34" charset="-122"/>
                <a:cs typeface="Calibri" pitchFamily="34" charset="-120"/>
              </a:rPr>
              <a:t>Un seul conteneur par service : la complexité d'un double environnement ne serait pas justifiée</a:t>
            </a:r>
            <a:endParaRPr lang="en-US" sz="1250" dirty="0"/>
          </a:p>
          <a:p>
            <a:pPr marL="203200" indent="-203200">
              <a:spcAft>
                <a:spcPts val="1200"/>
              </a:spcAft>
              <a:buSzPct val="100000"/>
              <a:buChar char="●"/>
            </a:pPr>
            <a:r>
              <a:rPr lang="en-US" sz="1250" dirty="0">
                <a:solidFill>
                  <a:srgbClr val="0A0A0A"/>
                </a:solidFill>
                <a:latin typeface="Calibri" pitchFamily="34" charset="0"/>
                <a:ea typeface="Calibri" pitchFamily="34" charset="-122"/>
                <a:cs typeface="Calibri" pitchFamily="34" charset="-120"/>
              </a:rPr>
              <a:t>Choix assumé : procédure vérifiée et documentée, sans hébergement réel engagé à ce stade</a:t>
            </a:r>
            <a:endParaRPr lang="en-US" sz="1250" dirty="0"/>
          </a:p>
        </p:txBody>
      </p:sp>
      <p:sp>
        <p:nvSpPr>
          <p:cNvPr id="10" name="Text 8"/>
          <p:cNvSpPr/>
          <p:nvPr/>
        </p:nvSpPr>
        <p:spPr>
          <a:xfrm>
            <a:off x="640080" y="6473952"/>
            <a:ext cx="7315200" cy="274320"/>
          </a:xfrm>
          <a:prstGeom prst="rect">
            <a:avLst/>
          </a:prstGeom>
          <a:noFill/>
          <a:ln/>
        </p:spPr>
        <p:txBody>
          <a:bodyPr wrap="square" rtlCol="0" anchor="ctr"/>
          <a:lstStyle/>
          <a:p>
            <a:pPr marL="0" indent="0" algn="l">
              <a:buNone/>
            </a:pPr>
            <a:r>
              <a:rPr lang="en-US" sz="900" dirty="0">
                <a:solidFill>
                  <a:srgbClr val="5A5550"/>
                </a:solidFill>
                <a:latin typeface="Calibri" pitchFamily="34" charset="0"/>
                <a:ea typeface="Calibri" pitchFamily="34" charset="-122"/>
                <a:cs typeface="Calibri" pitchFamily="34" charset="-120"/>
              </a:rPr>
              <a:t>Amoura — Soutenance CDA 2026</a:t>
            </a:r>
            <a:endParaRPr lang="en-US" sz="900" dirty="0"/>
          </a:p>
        </p:txBody>
      </p:sp>
      <p:sp>
        <p:nvSpPr>
          <p:cNvPr id="11" name="Text 9"/>
          <p:cNvSpPr/>
          <p:nvPr/>
        </p:nvSpPr>
        <p:spPr>
          <a:xfrm>
            <a:off x="11002975" y="6473952"/>
            <a:ext cx="548640" cy="274320"/>
          </a:xfrm>
          <a:prstGeom prst="rect">
            <a:avLst/>
          </a:prstGeom>
          <a:noFill/>
          <a:ln/>
        </p:spPr>
        <p:txBody>
          <a:bodyPr wrap="square" rtlCol="0" anchor="ctr"/>
          <a:lstStyle/>
          <a:p>
            <a:pPr marL="0" indent="0" algn="r">
              <a:buNone/>
            </a:pPr>
            <a:r>
              <a:rPr lang="en-US" sz="900" dirty="0">
                <a:solidFill>
                  <a:srgbClr val="5A5550"/>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A1410"/>
        </a:solidFill>
        <a:effectLst/>
      </p:bgPr>
    </p:bg>
    <p:spTree>
      <p:nvGrpSpPr>
        <p:cNvPr id="1" name=""/>
        <p:cNvGrpSpPr/>
        <p:nvPr/>
      </p:nvGrpSpPr>
      <p:grpSpPr>
        <a:xfrm>
          <a:off x="0" y="0"/>
          <a:ext cx="0" cy="0"/>
          <a:chOff x="0" y="0"/>
          <a:chExt cx="0" cy="0"/>
        </a:xfrm>
      </p:grpSpPr>
      <p:sp>
        <p:nvSpPr>
          <p:cNvPr id="2" name="Shape 0"/>
          <p:cNvSpPr/>
          <p:nvPr/>
        </p:nvSpPr>
        <p:spPr>
          <a:xfrm>
            <a:off x="5638648" y="1965960"/>
            <a:ext cx="914400" cy="914400"/>
          </a:xfrm>
          <a:prstGeom prst="ellipse">
            <a:avLst/>
          </a:prstGeom>
          <a:solidFill>
            <a:srgbClr val="C9A96E"/>
          </a:solidFill>
          <a:ln/>
        </p:spPr>
        <p:txBody>
          <a:bodyPr/>
          <a:lstStyle/>
          <a:p>
            <a:endParaRPr lang="fr-FR"/>
          </a:p>
        </p:txBody>
      </p:sp>
      <p:sp>
        <p:nvSpPr>
          <p:cNvPr id="3" name="Text 1"/>
          <p:cNvSpPr/>
          <p:nvPr/>
        </p:nvSpPr>
        <p:spPr>
          <a:xfrm>
            <a:off x="5638648" y="1965960"/>
            <a:ext cx="914400" cy="914400"/>
          </a:xfrm>
          <a:prstGeom prst="rect">
            <a:avLst/>
          </a:prstGeom>
          <a:noFill/>
          <a:ln/>
        </p:spPr>
        <p:txBody>
          <a:bodyPr wrap="square" lIns="0" tIns="0" rIns="0" bIns="0" rtlCol="0" anchor="ctr"/>
          <a:lstStyle/>
          <a:p>
            <a:pPr marL="0" indent="0" algn="ctr">
              <a:buNone/>
            </a:pPr>
            <a:r>
              <a:rPr lang="en-US" sz="3000" b="1" dirty="0">
                <a:solidFill>
                  <a:srgbClr val="1A1410"/>
                </a:solidFill>
                <a:latin typeface="Cambria" pitchFamily="34" charset="0"/>
                <a:ea typeface="Cambria" pitchFamily="34" charset="-122"/>
                <a:cs typeface="Cambria" pitchFamily="34" charset="-120"/>
              </a:rPr>
              <a:t>9</a:t>
            </a:r>
            <a:endParaRPr lang="en-US" sz="3000" dirty="0"/>
          </a:p>
        </p:txBody>
      </p:sp>
      <p:sp>
        <p:nvSpPr>
          <p:cNvPr id="4" name="Text 2"/>
          <p:cNvSpPr/>
          <p:nvPr/>
        </p:nvSpPr>
        <p:spPr>
          <a:xfrm>
            <a:off x="914400" y="3063240"/>
            <a:ext cx="10362895" cy="1005840"/>
          </a:xfrm>
          <a:prstGeom prst="rect">
            <a:avLst/>
          </a:prstGeom>
          <a:noFill/>
          <a:ln/>
        </p:spPr>
        <p:txBody>
          <a:bodyPr wrap="square" rtlCol="0" anchor="ctr"/>
          <a:lstStyle/>
          <a:p>
            <a:pPr marL="0" indent="0" algn="ctr">
              <a:buNone/>
            </a:pPr>
            <a:r>
              <a:rPr lang="en-US" sz="4000" b="1" dirty="0">
                <a:solidFill>
                  <a:srgbClr val="FAF8F5"/>
                </a:solidFill>
                <a:latin typeface="Cambria" pitchFamily="34" charset="0"/>
                <a:ea typeface="Cambria" pitchFamily="34" charset="-122"/>
                <a:cs typeface="Cambria" pitchFamily="34" charset="-120"/>
              </a:rPr>
              <a:t>Démonstration</a:t>
            </a:r>
            <a:endParaRPr lang="en-US" sz="4000" dirty="0"/>
          </a:p>
        </p:txBody>
      </p:sp>
      <p:sp>
        <p:nvSpPr>
          <p:cNvPr id="5" name="Text 3"/>
          <p:cNvSpPr/>
          <p:nvPr/>
        </p:nvSpPr>
        <p:spPr>
          <a:xfrm>
            <a:off x="1371600" y="4069080"/>
            <a:ext cx="9448495" cy="548640"/>
          </a:xfrm>
          <a:prstGeom prst="rect">
            <a:avLst/>
          </a:prstGeom>
          <a:noFill/>
          <a:ln/>
        </p:spPr>
        <p:txBody>
          <a:bodyPr wrap="square" rtlCol="0" anchor="ctr"/>
          <a:lstStyle/>
          <a:p>
            <a:pPr marL="0" indent="0" algn="ctr">
              <a:buNone/>
            </a:pPr>
            <a:r>
              <a:rPr lang="en-US" sz="1500" i="1" dirty="0">
                <a:solidFill>
                  <a:srgbClr val="E8E5E0"/>
                </a:solidFill>
                <a:latin typeface="Calibri" pitchFamily="34" charset="0"/>
                <a:ea typeface="Calibri" pitchFamily="34" charset="-122"/>
                <a:cs typeface="Calibri" pitchFamily="34" charset="-120"/>
              </a:rPr>
              <a:t>Parcours client puis parcours administrateur en direct</a:t>
            </a:r>
            <a:endParaRPr lang="en-US" sz="15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AF8F5"/>
        </a:solidFill>
        <a:effectLst/>
      </p:bgPr>
    </p:bg>
    <p:spTree>
      <p:nvGrpSpPr>
        <p:cNvPr id="1" name=""/>
        <p:cNvGrpSpPr/>
        <p:nvPr/>
      </p:nvGrpSpPr>
      <p:grpSpPr>
        <a:xfrm>
          <a:off x="0" y="0"/>
          <a:ext cx="0" cy="0"/>
          <a:chOff x="0" y="0"/>
          <a:chExt cx="0" cy="0"/>
        </a:xfrm>
      </p:grpSpPr>
      <p:sp>
        <p:nvSpPr>
          <p:cNvPr id="2" name="Text 0"/>
          <p:cNvSpPr/>
          <p:nvPr/>
        </p:nvSpPr>
        <p:spPr>
          <a:xfrm>
            <a:off x="640080" y="411480"/>
            <a:ext cx="10911535" cy="320040"/>
          </a:xfrm>
          <a:prstGeom prst="rect">
            <a:avLst/>
          </a:prstGeom>
          <a:noFill/>
          <a:ln/>
        </p:spPr>
        <p:txBody>
          <a:bodyPr wrap="square" rtlCol="0" anchor="ctr"/>
          <a:lstStyle/>
          <a:p>
            <a:pPr marL="0" indent="0">
              <a:buNone/>
            </a:pPr>
            <a:r>
              <a:rPr lang="en-US" sz="1200" b="1" kern="0" spc="250" dirty="0">
                <a:solidFill>
                  <a:srgbClr val="C9A96E"/>
                </a:solidFill>
                <a:latin typeface="Calibri" pitchFamily="34" charset="0"/>
                <a:ea typeface="Calibri" pitchFamily="34" charset="-122"/>
                <a:cs typeface="Calibri" pitchFamily="34" charset="-120"/>
              </a:rPr>
              <a:t>BILAN</a:t>
            </a:r>
            <a:endParaRPr lang="en-US" sz="1200" dirty="0"/>
          </a:p>
        </p:txBody>
      </p:sp>
      <p:sp>
        <p:nvSpPr>
          <p:cNvPr id="3" name="Text 1"/>
          <p:cNvSpPr/>
          <p:nvPr/>
        </p:nvSpPr>
        <p:spPr>
          <a:xfrm>
            <a:off x="640080" y="713232"/>
            <a:ext cx="10911535" cy="640080"/>
          </a:xfrm>
          <a:prstGeom prst="rect">
            <a:avLst/>
          </a:prstGeom>
          <a:noFill/>
          <a:ln/>
        </p:spPr>
        <p:txBody>
          <a:bodyPr wrap="square" rtlCol="0" anchor="ctr"/>
          <a:lstStyle/>
          <a:p>
            <a:pPr marL="0" indent="0">
              <a:buNone/>
            </a:pPr>
            <a:r>
              <a:rPr lang="en-US" sz="2800" b="1" dirty="0">
                <a:solidFill>
                  <a:srgbClr val="0A0A0A"/>
                </a:solidFill>
                <a:latin typeface="Cambria" pitchFamily="34" charset="0"/>
                <a:ea typeface="Cambria" pitchFamily="34" charset="-122"/>
                <a:cs typeface="Cambria" pitchFamily="34" charset="-120"/>
              </a:rPr>
              <a:t>Difficultés surmontées &amp; perspectives</a:t>
            </a:r>
            <a:endParaRPr lang="en-US" sz="2800" dirty="0"/>
          </a:p>
        </p:txBody>
      </p:sp>
      <p:sp>
        <p:nvSpPr>
          <p:cNvPr id="4" name="Shape 2"/>
          <p:cNvSpPr/>
          <p:nvPr/>
        </p:nvSpPr>
        <p:spPr>
          <a:xfrm>
            <a:off x="640080" y="2272284"/>
            <a:ext cx="5181448" cy="3319272"/>
          </a:xfrm>
          <a:prstGeom prst="roundRect">
            <a:avLst>
              <a:gd name="adj" fmla="val 2204"/>
            </a:avLst>
          </a:prstGeom>
          <a:solidFill>
            <a:srgbClr val="FFFFFF"/>
          </a:solidFill>
          <a:ln/>
          <a:effectLst>
            <a:outerShdw blurRad="63500" dist="25400" dir="5400000" algn="bl" rotWithShape="0">
              <a:srgbClr val="000000">
                <a:alpha val="10000"/>
              </a:srgbClr>
            </a:outerShdw>
          </a:effectLst>
        </p:spPr>
        <p:txBody>
          <a:bodyPr/>
          <a:lstStyle/>
          <a:p>
            <a:endParaRPr lang="fr-FR"/>
          </a:p>
        </p:txBody>
      </p:sp>
      <p:sp>
        <p:nvSpPr>
          <p:cNvPr id="5" name="Text 3"/>
          <p:cNvSpPr/>
          <p:nvPr/>
        </p:nvSpPr>
        <p:spPr>
          <a:xfrm>
            <a:off x="932688" y="2528316"/>
            <a:ext cx="4596232" cy="411480"/>
          </a:xfrm>
          <a:prstGeom prst="rect">
            <a:avLst/>
          </a:prstGeom>
          <a:noFill/>
          <a:ln/>
        </p:spPr>
        <p:txBody>
          <a:bodyPr wrap="square" lIns="0" tIns="0" rIns="0" bIns="0" rtlCol="0" anchor="ctr"/>
          <a:lstStyle/>
          <a:p>
            <a:pPr marL="0" indent="0">
              <a:buNone/>
            </a:pPr>
            <a:r>
              <a:rPr lang="en-US" sz="1600" b="1" dirty="0">
                <a:solidFill>
                  <a:srgbClr val="C9A96E"/>
                </a:solidFill>
                <a:latin typeface="Cambria" pitchFamily="34" charset="0"/>
                <a:ea typeface="Cambria" pitchFamily="34" charset="-122"/>
                <a:cs typeface="Cambria" pitchFamily="34" charset="-120"/>
              </a:rPr>
              <a:t>Difficultés surmontées</a:t>
            </a:r>
            <a:endParaRPr lang="en-US" sz="1600" dirty="0"/>
          </a:p>
        </p:txBody>
      </p:sp>
      <p:sp>
        <p:nvSpPr>
          <p:cNvPr id="6" name="Text 4"/>
          <p:cNvSpPr/>
          <p:nvPr/>
        </p:nvSpPr>
        <p:spPr>
          <a:xfrm>
            <a:off x="932688" y="3049524"/>
            <a:ext cx="4596232" cy="2359152"/>
          </a:xfrm>
          <a:prstGeom prst="rect">
            <a:avLst/>
          </a:prstGeom>
          <a:noFill/>
          <a:ln/>
        </p:spPr>
        <p:txBody>
          <a:bodyPr wrap="square" lIns="0" tIns="0" rIns="0" bIns="0" rtlCol="0" anchor="t"/>
          <a:lstStyle/>
          <a:p>
            <a:pPr marL="203200" indent="-203200">
              <a:spcAft>
                <a:spcPts val="1200"/>
              </a:spcAft>
              <a:buSzPct val="100000"/>
              <a:buChar char="●"/>
            </a:pPr>
            <a:r>
              <a:rPr lang="en-US" sz="1250" dirty="0">
                <a:solidFill>
                  <a:srgbClr val="0A0A0A"/>
                </a:solidFill>
                <a:latin typeface="Calibri" pitchFamily="34" charset="0"/>
                <a:ea typeface="Calibri" pitchFamily="34" charset="-122"/>
                <a:cs typeface="Calibri" pitchFamily="34" charset="-120"/>
              </a:rPr>
              <a:t>En-tête Authorization non transmis par Apache</a:t>
            </a:r>
            <a:endParaRPr lang="en-US" sz="1250" dirty="0"/>
          </a:p>
          <a:p>
            <a:pPr marL="203200" indent="-203200">
              <a:spcAft>
                <a:spcPts val="1200"/>
              </a:spcAft>
              <a:buSzPct val="100000"/>
              <a:buChar char="●"/>
            </a:pPr>
            <a:r>
              <a:rPr lang="en-US" sz="1250" dirty="0">
                <a:solidFill>
                  <a:srgbClr val="0A0A0A"/>
                </a:solidFill>
                <a:latin typeface="Calibri" pitchFamily="34" charset="0"/>
                <a:ea typeface="Calibri" pitchFamily="34" charset="-122"/>
                <a:cs typeface="Calibri" pitchFamily="34" charset="-120"/>
              </a:rPr>
              <a:t>Ordre des listeners Symfony pour /api/login</a:t>
            </a:r>
            <a:endParaRPr lang="en-US" sz="1250" dirty="0"/>
          </a:p>
          <a:p>
            <a:pPr marL="203200" indent="-203200">
              <a:spcAft>
                <a:spcPts val="1200"/>
              </a:spcAft>
              <a:buSzPct val="100000"/>
              <a:buChar char="●"/>
            </a:pPr>
            <a:r>
              <a:rPr lang="en-US" sz="1250" dirty="0">
                <a:solidFill>
                  <a:srgbClr val="0A0A0A"/>
                </a:solidFill>
                <a:latin typeface="Calibri" pitchFamily="34" charset="0"/>
                <a:ea typeface="Calibri" pitchFamily="34" charset="-122"/>
                <a:cs typeface="Calibri" pitchFamily="34" charset="-120"/>
              </a:rPr>
              <a:t>Variables Vite : build-time vs runtime</a:t>
            </a:r>
            <a:endParaRPr lang="en-US" sz="1250" dirty="0"/>
          </a:p>
          <a:p>
            <a:pPr marL="203200" indent="-203200">
              <a:spcAft>
                <a:spcPts val="1200"/>
              </a:spcAft>
              <a:buSzPct val="100000"/>
              <a:buChar char="●"/>
            </a:pPr>
            <a:r>
              <a:rPr lang="en-US" sz="1250" dirty="0">
                <a:solidFill>
                  <a:srgbClr val="0A0A0A"/>
                </a:solidFill>
                <a:latin typeface="Calibri" pitchFamily="34" charset="0"/>
                <a:ea typeface="Calibri" pitchFamily="34" charset="-122"/>
                <a:cs typeface="Calibri" pitchFamily="34" charset="-120"/>
              </a:rPr>
              <a:t>-&gt; Même méthode à chaque fois : reproduire sur l'environnement cible réel</a:t>
            </a:r>
            <a:endParaRPr lang="en-US" sz="1250" dirty="0"/>
          </a:p>
        </p:txBody>
      </p:sp>
      <p:sp>
        <p:nvSpPr>
          <p:cNvPr id="7" name="Shape 5"/>
          <p:cNvSpPr/>
          <p:nvPr/>
        </p:nvSpPr>
        <p:spPr>
          <a:xfrm>
            <a:off x="6370168" y="2272284"/>
            <a:ext cx="5181448" cy="3319272"/>
          </a:xfrm>
          <a:prstGeom prst="roundRect">
            <a:avLst>
              <a:gd name="adj" fmla="val 2204"/>
            </a:avLst>
          </a:prstGeom>
          <a:solidFill>
            <a:srgbClr val="FFFFFF"/>
          </a:solidFill>
          <a:ln/>
          <a:effectLst>
            <a:outerShdw blurRad="63500" dist="25400" dir="5400000" algn="bl" rotWithShape="0">
              <a:srgbClr val="000000">
                <a:alpha val="10000"/>
              </a:srgbClr>
            </a:outerShdw>
          </a:effectLst>
        </p:spPr>
        <p:txBody>
          <a:bodyPr/>
          <a:lstStyle/>
          <a:p>
            <a:endParaRPr lang="fr-FR"/>
          </a:p>
        </p:txBody>
      </p:sp>
      <p:sp>
        <p:nvSpPr>
          <p:cNvPr id="8" name="Text 6"/>
          <p:cNvSpPr/>
          <p:nvPr/>
        </p:nvSpPr>
        <p:spPr>
          <a:xfrm>
            <a:off x="6662776" y="2528316"/>
            <a:ext cx="4596232" cy="411480"/>
          </a:xfrm>
          <a:prstGeom prst="rect">
            <a:avLst/>
          </a:prstGeom>
          <a:noFill/>
          <a:ln/>
        </p:spPr>
        <p:txBody>
          <a:bodyPr wrap="square" lIns="0" tIns="0" rIns="0" bIns="0" rtlCol="0" anchor="ctr"/>
          <a:lstStyle/>
          <a:p>
            <a:pPr marL="0" indent="0">
              <a:buNone/>
            </a:pPr>
            <a:r>
              <a:rPr lang="en-US" sz="1600" b="1" dirty="0">
                <a:solidFill>
                  <a:srgbClr val="C9A96E"/>
                </a:solidFill>
                <a:latin typeface="Cambria" pitchFamily="34" charset="0"/>
                <a:ea typeface="Cambria" pitchFamily="34" charset="-122"/>
                <a:cs typeface="Cambria" pitchFamily="34" charset="-120"/>
              </a:rPr>
              <a:t>Améliorations envisagées</a:t>
            </a:r>
            <a:endParaRPr lang="en-US" sz="1600" dirty="0"/>
          </a:p>
        </p:txBody>
      </p:sp>
      <p:sp>
        <p:nvSpPr>
          <p:cNvPr id="9" name="Text 7"/>
          <p:cNvSpPr/>
          <p:nvPr/>
        </p:nvSpPr>
        <p:spPr>
          <a:xfrm>
            <a:off x="6662776" y="3049524"/>
            <a:ext cx="4596232" cy="2359152"/>
          </a:xfrm>
          <a:prstGeom prst="rect">
            <a:avLst/>
          </a:prstGeom>
          <a:noFill/>
          <a:ln/>
        </p:spPr>
        <p:txBody>
          <a:bodyPr wrap="square" lIns="0" tIns="0" rIns="0" bIns="0" rtlCol="0" anchor="t"/>
          <a:lstStyle/>
          <a:p>
            <a:pPr marL="203200" indent="-203200">
              <a:spcAft>
                <a:spcPts val="1200"/>
              </a:spcAft>
              <a:buSzPct val="100000"/>
              <a:buChar char="●"/>
            </a:pPr>
            <a:r>
              <a:rPr lang="en-US" sz="1250" dirty="0">
                <a:solidFill>
                  <a:srgbClr val="0A0A0A"/>
                </a:solidFill>
                <a:latin typeface="Calibri" pitchFamily="34" charset="0"/>
                <a:ea typeface="Calibri" pitchFamily="34" charset="-122"/>
                <a:cs typeface="Calibri" pitchFamily="34" charset="-120"/>
              </a:rPr>
              <a:t>Rate limiting sur l'authentification</a:t>
            </a:r>
            <a:endParaRPr lang="en-US" sz="1250" dirty="0"/>
          </a:p>
          <a:p>
            <a:pPr marL="203200" indent="-203200">
              <a:spcAft>
                <a:spcPts val="1200"/>
              </a:spcAft>
              <a:buSzPct val="100000"/>
              <a:buChar char="●"/>
            </a:pPr>
            <a:r>
              <a:rPr lang="en-US" sz="1250" dirty="0">
                <a:solidFill>
                  <a:srgbClr val="0A0A0A"/>
                </a:solidFill>
                <a:latin typeface="Calibri" pitchFamily="34" charset="0"/>
                <a:ea typeface="Calibri" pitchFamily="34" charset="-122"/>
                <a:cs typeface="Calibri" pitchFamily="34" charset="-120"/>
              </a:rPr>
              <a:t>Tests automatises côté frontend</a:t>
            </a:r>
            <a:endParaRPr lang="en-US" sz="1250" dirty="0"/>
          </a:p>
          <a:p>
            <a:pPr marL="203200" indent="-203200">
              <a:spcAft>
                <a:spcPts val="1200"/>
              </a:spcAft>
              <a:buSzPct val="100000"/>
              <a:buChar char="●"/>
            </a:pPr>
            <a:r>
              <a:rPr lang="en-US" sz="1250" dirty="0">
                <a:solidFill>
                  <a:srgbClr val="0A0A0A"/>
                </a:solidFill>
                <a:latin typeface="Calibri" pitchFamily="34" charset="0"/>
                <a:ea typeface="Calibri" pitchFamily="34" charset="-122"/>
                <a:cs typeface="Calibri" pitchFamily="34" charset="-120"/>
              </a:rPr>
              <a:t>Validation DTO sur les endpoints admin</a:t>
            </a:r>
            <a:endParaRPr lang="en-US" sz="1250" dirty="0"/>
          </a:p>
          <a:p>
            <a:pPr marL="203200" indent="-203200">
              <a:spcAft>
                <a:spcPts val="1200"/>
              </a:spcAft>
              <a:buSzPct val="100000"/>
              <a:buChar char="●"/>
            </a:pPr>
            <a:r>
              <a:rPr lang="en-US" sz="1250" dirty="0">
                <a:solidFill>
                  <a:srgbClr val="0A0A0A"/>
                </a:solidFill>
                <a:latin typeface="Calibri" pitchFamily="34" charset="0"/>
                <a:ea typeface="Calibri" pitchFamily="34" charset="-122"/>
                <a:cs typeface="Calibri" pitchFamily="34" charset="-120"/>
              </a:rPr>
              <a:t>Authentification Google OAuth (déjà esquissée)</a:t>
            </a:r>
            <a:endParaRPr lang="en-US" sz="1250" dirty="0"/>
          </a:p>
        </p:txBody>
      </p:sp>
      <p:sp>
        <p:nvSpPr>
          <p:cNvPr id="10" name="Text 8"/>
          <p:cNvSpPr/>
          <p:nvPr/>
        </p:nvSpPr>
        <p:spPr>
          <a:xfrm>
            <a:off x="640080" y="6473952"/>
            <a:ext cx="7315200" cy="274320"/>
          </a:xfrm>
          <a:prstGeom prst="rect">
            <a:avLst/>
          </a:prstGeom>
          <a:noFill/>
          <a:ln/>
        </p:spPr>
        <p:txBody>
          <a:bodyPr wrap="square" rtlCol="0" anchor="ctr"/>
          <a:lstStyle/>
          <a:p>
            <a:pPr marL="0" indent="0" algn="l">
              <a:buNone/>
            </a:pPr>
            <a:r>
              <a:rPr lang="en-US" sz="900" dirty="0">
                <a:solidFill>
                  <a:srgbClr val="5A5550"/>
                </a:solidFill>
                <a:latin typeface="Calibri" pitchFamily="34" charset="0"/>
                <a:ea typeface="Calibri" pitchFamily="34" charset="-122"/>
                <a:cs typeface="Calibri" pitchFamily="34" charset="-120"/>
              </a:rPr>
              <a:t>Amoura — Soutenance CDA 2026</a:t>
            </a:r>
            <a:endParaRPr lang="en-US" sz="900" dirty="0"/>
          </a:p>
        </p:txBody>
      </p:sp>
      <p:sp>
        <p:nvSpPr>
          <p:cNvPr id="11" name="Text 9"/>
          <p:cNvSpPr/>
          <p:nvPr/>
        </p:nvSpPr>
        <p:spPr>
          <a:xfrm>
            <a:off x="11002975" y="6473952"/>
            <a:ext cx="548640" cy="274320"/>
          </a:xfrm>
          <a:prstGeom prst="rect">
            <a:avLst/>
          </a:prstGeom>
          <a:noFill/>
          <a:ln/>
        </p:spPr>
        <p:txBody>
          <a:bodyPr wrap="square" rtlCol="0" anchor="ctr"/>
          <a:lstStyle/>
          <a:p>
            <a:pPr marL="0" indent="0" algn="r">
              <a:buNone/>
            </a:pPr>
            <a:r>
              <a:rPr lang="en-US" sz="900" dirty="0">
                <a:solidFill>
                  <a:srgbClr val="5A5550"/>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A1410"/>
        </a:solidFill>
        <a:effectLst/>
      </p:bgPr>
    </p:bg>
    <p:spTree>
      <p:nvGrpSpPr>
        <p:cNvPr id="1" name=""/>
        <p:cNvGrpSpPr/>
        <p:nvPr/>
      </p:nvGrpSpPr>
      <p:grpSpPr>
        <a:xfrm>
          <a:off x="0" y="0"/>
          <a:ext cx="0" cy="0"/>
          <a:chOff x="0" y="0"/>
          <a:chExt cx="0" cy="0"/>
        </a:xfrm>
      </p:grpSpPr>
      <p:sp>
        <p:nvSpPr>
          <p:cNvPr id="2" name="Text 0"/>
          <p:cNvSpPr/>
          <p:nvPr/>
        </p:nvSpPr>
        <p:spPr>
          <a:xfrm>
            <a:off x="0" y="2468880"/>
            <a:ext cx="12191695" cy="1097280"/>
          </a:xfrm>
          <a:prstGeom prst="rect">
            <a:avLst/>
          </a:prstGeom>
          <a:noFill/>
          <a:ln/>
        </p:spPr>
        <p:txBody>
          <a:bodyPr wrap="square" rtlCol="0" anchor="ctr"/>
          <a:lstStyle/>
          <a:p>
            <a:pPr marL="0" indent="0" algn="ctr">
              <a:buNone/>
            </a:pPr>
            <a:r>
              <a:rPr lang="en-US" sz="5400" b="1" dirty="0">
                <a:solidFill>
                  <a:srgbClr val="FAF8F5"/>
                </a:solidFill>
                <a:latin typeface="Cambria" pitchFamily="34" charset="0"/>
                <a:ea typeface="Cambria" pitchFamily="34" charset="-122"/>
                <a:cs typeface="Cambria" pitchFamily="34" charset="-120"/>
              </a:rPr>
              <a:t>Merci de votre attention</a:t>
            </a:r>
            <a:endParaRPr lang="en-US" sz="5400" dirty="0"/>
          </a:p>
        </p:txBody>
      </p:sp>
      <p:sp>
        <p:nvSpPr>
          <p:cNvPr id="3" name="Text 1"/>
          <p:cNvSpPr/>
          <p:nvPr/>
        </p:nvSpPr>
        <p:spPr>
          <a:xfrm>
            <a:off x="1371600" y="3566160"/>
            <a:ext cx="9448495" cy="548640"/>
          </a:xfrm>
          <a:prstGeom prst="rect">
            <a:avLst/>
          </a:prstGeom>
          <a:noFill/>
          <a:ln/>
        </p:spPr>
        <p:txBody>
          <a:bodyPr wrap="square" rtlCol="0" anchor="ctr"/>
          <a:lstStyle/>
          <a:p>
            <a:pPr marL="0" indent="0" algn="ctr">
              <a:buNone/>
            </a:pPr>
            <a:r>
              <a:rPr lang="en-US" sz="2000" i="1" dirty="0">
                <a:solidFill>
                  <a:srgbClr val="C9A96E"/>
                </a:solidFill>
                <a:latin typeface="Cambria" pitchFamily="34" charset="0"/>
                <a:ea typeface="Cambria" pitchFamily="34" charset="-122"/>
                <a:cs typeface="Cambria" pitchFamily="34" charset="-120"/>
              </a:rPr>
              <a:t>Des questions ?</a:t>
            </a:r>
            <a:endParaRPr lang="en-US" sz="2000" dirty="0"/>
          </a:p>
        </p:txBody>
      </p:sp>
      <p:sp>
        <p:nvSpPr>
          <p:cNvPr id="4" name="Text 2"/>
          <p:cNvSpPr/>
          <p:nvPr/>
        </p:nvSpPr>
        <p:spPr>
          <a:xfrm>
            <a:off x="0" y="5394960"/>
            <a:ext cx="12191695" cy="548640"/>
          </a:xfrm>
          <a:prstGeom prst="rect">
            <a:avLst/>
          </a:prstGeom>
          <a:noFill/>
          <a:ln/>
        </p:spPr>
        <p:txBody>
          <a:bodyPr wrap="square" rtlCol="0" anchor="ctr"/>
          <a:lstStyle/>
          <a:p>
            <a:pPr marL="0" indent="0" algn="ctr">
              <a:buNone/>
            </a:pPr>
            <a:r>
              <a:rPr lang="en-US" sz="1200" dirty="0">
                <a:solidFill>
                  <a:srgbClr val="E8E5E0"/>
                </a:solidFill>
                <a:latin typeface="Calibri" pitchFamily="34" charset="0"/>
                <a:ea typeface="Calibri" pitchFamily="34" charset="-122"/>
                <a:cs typeface="Calibri" pitchFamily="34" charset="-120"/>
              </a:rPr>
              <a:t>Amoura — Projet fil rouge CDA 2026 — github.com/mino-25/Amoura</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128</TotalTime>
  <Words>2920</Words>
  <Application>Microsoft Office PowerPoint</Application>
  <PresentationFormat>Grand écran</PresentationFormat>
  <Paragraphs>392</Paragraphs>
  <Slides>33</Slides>
  <Notes>33</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33</vt:i4>
      </vt:variant>
    </vt:vector>
  </HeadingPairs>
  <TitlesOfParts>
    <vt:vector size="38" baseType="lpstr">
      <vt:lpstr>Arial</vt:lpstr>
      <vt:lpstr>Calibri</vt:lpstr>
      <vt:lpstr>Cambria</vt:lpstr>
      <vt:lpstr>Courier New</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Formation CDA 2026</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Amoura — Soutenance de fin de formation</dc:title>
  <dc:subject>PptxGenJS Presentation</dc:subject>
  <dc:creator>Amoura — Projet fil rouge CDA</dc:creator>
  <cp:lastModifiedBy>MAHI Amine</cp:lastModifiedBy>
  <cp:revision>3</cp:revision>
  <dcterms:created xsi:type="dcterms:W3CDTF">2026-08-23T20:14:41Z</dcterms:created>
  <dcterms:modified xsi:type="dcterms:W3CDTF">2026-08-25T14:53:06Z</dcterms:modified>
</cp:coreProperties>
</file>